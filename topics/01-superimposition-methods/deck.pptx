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notesMasterIdLst>
    <p:notesMasterId r:id="rId23"/>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ck" id="{6a85468e-96aa-2a26-447f-8d988adb2793}">
          <p14:sldIdLst>
            <p14:sldId id="256"/>
            <p14:sldId id="257"/>
            <p14:sldId id="258"/>
            <p14:sldId id="259"/>
            <p14:sldId id="260"/>
            <p14:sldId id="261"/>
            <p14:sldId id="262"/>
            <p14:sldId id="263"/>
            <p14:sldId id="264"/>
            <p14:sldId id="265"/>
            <p14:sldId id="266"/>
            <p14:sldId id="267"/>
            <p14:sldId id="268"/>
            <p14:sldId id="269"/>
            <p14:sldId id="270"/>
            <p14:sldId id="271"/>
            <p14:sldId id="272"/>
            <p14:sldId id="273"/>
            <p14:sldId id="274"/>
            <p14:sldId id="275"/>
            <p14:sldId id="276"/>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notesMaster" Target="notesMasters/notesMaster1.xml"/><Relationship Id="rId24" Type="http://schemas.openxmlformats.org/officeDocument/2006/relationships/presProps" Target="presProps.xml"/><Relationship Id="rId25" Type="http://schemas.openxmlformats.org/officeDocument/2006/relationships/viewProps" Target="viewProps.xml"/><Relationship Id="rId26" Type="http://schemas.openxmlformats.org/officeDocument/2006/relationships/theme" Target="theme/theme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This is the first literature-review topic of the year, superimposition methods. Three papers, two jaws, two eras. Nielsen in 1989 and Doppel in 1994 tested the maxillary methods we still use against tantalum implants. Nguyen in 2018 did the same job for the mandible in three dimensions, with bone plates standing in for implants. I will take each paper in turn, then put them side by side: where they agree, where they disagree, and what it changes when we read a cephalogram or a CBCT in this department. Please stop me if a number needs explaining. (30 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number we quote for treatment change comes from a superimposition, so the whole question is: registered on what? If the reference structure remodels during the interval, its movement is subtracted from everything we measure. Nielsen put a figure on that. A palatal best fit hid between 1.3 and 1.8 millimetres of four-year eruption, about a third of molar eruption and half of incisor eruption. And before any biology there is a technical floor: Doppel's duplicate tracings disagreed by a quarter of a millimetre, so a total tracing error of about half a millimetre, and he quotes Julius that head rotation alone can move a zygomatic implant three millimetres. Keep that half millimetre in mind for the whole talk. (90 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Björk's implant method is the reference for all three papers. Tantalum pins in the jaw do not move relative to the bone around them, so a tracing registered on the pins shows true growth and true tooth movement. The implants revealed that the maxilla remodels far more than the old anatomic methods assumed: the nasal floor resorbs, the orbital floor and the alveolar process appose, and in Björk and Skieller's nine subjects, boys in Nielsen's Figure 2, the orbital floor rose about three units for every two the nasal floor dropped. The anterior surface of the zygomatic process stayed put sagittally in all nine. We cannot place implants today; Nguyen gives ALARA and ethics-board limits as the reason, which is why his bone plates matter. (90 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Nielsen asked a plain question: if we superimpose the same films by the palatal best fit, by Björk's structural method and by the implants, how different are the answers? Eighteen children from the UCSF implant series, ten years old at the first film, four years apart. Films were selected for quality and for three or four stable zygomatic implants visible on both; the structural method needs both zygomatic processes clear without double contours, which is why seventeen of thirty-five were lost. One detail matters later: he held orbital-floor apposition equal to nasal-floor resorption, one to one, although his own Figure 2 quotes Björk's three to two. Every landmark was plotted in a Downs occlusal-plane grid, double determinations were made, and a second observer repeated the structural method only. (90 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paper in one table. On implants, ANS came down 1.6 millimetres in four years, about twice PNS at 0.7, and A point 2.3. On the palatal best fit those same points appear to move slightly upward. The difference, one to two millimetres, is the growth the method hides. For the teeth the loss is 1.3 to 1.8 millimetres: twenty-eight percent at the molar cusp, fifty-nine at the incisal edge, around forty at both apices, so "thirty to fifty" is the rounded version. The structural method showed no significant vertical difference from the implants, only a horizontal offset of about half a millimetre, which Nielsen himself blames on holding apposition equal to resorption on a surface that slopes down and back. Note the footnote mismatch between Tables III and IV before quoting a P value. (120 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Doppel's group at Washington went the other way round: superimpose on the implants, then ask how far each anatomical structure drifted. Fifty cases out of roughly seven hundred implant records met the entry criteria: all three implants perfectly oriented, at least three years between films, the same cephalostat, the same head tilt. Most were treated, with edgewise, headgear and Class II or III elastics, so unlike Björk and Skieller's twenty-one untreated subjects this is largely a treated sample. The metric is the maximum deviation of each structure, averaged along curved contours, measured by one tracer whose duplicate tracings of ten films agreed to a quarter of a millimetre; it includes tracing error and head-position error. Figures 1 to 6 show one patient traced by six historical methods with the implants drawn in; that is the most useful teaching image in the paper. (90 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ranking is the result. By number the internal palate is best at 0.85 millimetres, but Doppel says plainly that it did not superimpose well, so he calls it of limited value. The two zygomatic contours come next, both under one millimetre, and the posterior one could be traced on every film. Everything we were taught to register on, ANS, PNS, PTM and A point, sits between 1.3 and 2.4 millimetres. The palatal plane rotated nearly a degree on average against the implant line, with a thirteen-degree range. The cranial-base rows at two and a half millimetres are mostly the maxilla rotating relative to the base, with some lever-arm error from closely spaced implants, which Doppel admits. Recommendation: both zygomatic contours, orbital floor rising one and a half times the palatal lowering, a ratio stated in the conclusions but never tabulated. (120 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Nguyen moves to the mandible and to CBCT. The trick is the reference: Class III patients already carrying bone plates near the lower incisor apices, so the plates act as implants without placing any. In twenty of those patients he registered the one-year scan to baseline on the plates, then measured how far three candidate regions had moved: the chin from pogonion to B point, the inner cortex of the symphysis, and the third-molar crypt. The mandibular canal was excluded before testing because it changes with growth, citing Björk and Krarup. Then, in a separate sample of twenty-five growing patients, ten Herbst, ten Class II elastics and five Class III bone anchors, two observers registered the scans on the chosen region to test reproducibility. Twenty-five is the number the ICC power calculation asked for, with rho-nought 0.75 against 0.95. (90 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Against the bone plates, the chin and the inner symphysis each moved about four tenths of a millimetre in a year, roughly one 0.3-millimetre voxel. The third-molar crypt moved almost two millimetres, and the authors say it was worst in vertical growers, though they give no data for that, so it fails as a reference at this age. Combining chin and symphysis, two observers agreed to 0.12 millimetres with an ICC of 0.998; the whole-mandible figures of a quarter of a millimetre and seventy-five percent within 0.12 come from one patient in Figures 7 and 8. That is the reproducibility claim; the stability numbers are the validity claim. The authors also point to the remodelling we expect from Björk: nothing at pogonion, about two millimetres of deposition near menton in one subject, resorption at the anterior ramus and deposition behind. They argue the menton band shows the plates did not simply flatter nearby bone; note that the Figure 4 caption says that map comes from a symphysis registration, so take the argument as theirs, not proven. (120 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Put side by side, the three papers agree on more than they disagree. All treat implants as truth and all admit the truth has error. Both maxillary papers condemn the same landmarks: ANS, PNS, PTM and A point drift between one and two and a half millimetres in four years. Both end up on the anterior surface of the zygomatic process. The vertical ratio, orbital floor to nasal floor, is the same number whether you call it three to two or one and a half to one. Nielsen says the scatter in his tables comes from finding landmarks, not from the registration, and Nguyen's result fits that: a surface-based method with no landmarks gets down to a tenth of a millimetre between observers. And Björk's mandibular core, the chin and the inner symphysis, survives in three dimensions. (75 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the tensions. Nielsen found no sign of resorption on the anterior zygomatic surface. Doppel, with fifty mostly treated cases and an exact three-implant fit, found it moved forward in about a quarter, backward in about a third, and not at all in the rest. Nielsen ran the structural method with apposition equal to resorption and says himself that this explains his slight vertical over-read and the half-millimetre horizontal shift. Doppel used one and a half to one and, oddly, cites Nielsen as agreeing with that ratio. They disagree on the posterior contour: Nielsen rejects it because it is appositional, Doppel calls it most reliable while reporting that it drifted backward in every case. Nielsen's best fit was the palatal plane at ANS; Doppel's internal palate is a different method with the best number and the worst fit. Nguyen quietly drops two of Björk's four mandibular structures, the crypt and the canal. One internal wrinkle: Nielsen's text and tables disagree on which way his offset runs. (90 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slide to photograph. Teal is where a structure stayed within about one millimetre of the implants over four years in the maxilla, or within half a millimetre in a year in the mandible. Amber is where it did not. In the maxilla the teal is thin: the two zygomatic contours and a vertical rule, orbital floor up three for every two the nasal floor drops. The palatal plane and everything on it is amber, including the plane as a line, which rotated through a thirteen-degree range in Doppel's sample. In the mandible the teal is the chin and the inner symphysis; the lower border, the ramus and the crypt are amber. The cranial base is a separate registration on Björk's anterior structures; that part is textbook, not these papers. (75 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changes at the viewbox? First, always ask what the superimposition was registered on before trusting a number. A palatal registration has a fixed direction of bias: it makes maxillary teeth look less descended than they are, so molar extrusion is under-read and incisor intrusion over-read. The size depends on how much the nasal floor remodelled in the interval: a few tenths of a millimetre per year at puberty in Nielsen's sample. Extrapolating to our last article, six to thirteen weeks at sixteen or seventeen, it would be a tenth of a millimetre or less, but that is my extrapolation, nobody has measured it. Second, the half-millimetre tracing floor: if two treatment groups differ by less than that, a tracing cannot separate them, and Khaleel's between-arm differences were two to three and a half tenths. Third, for the mandible, use the chin and the inner symphysis, not the lower border and not a corpus axis, which Springate and Jones found off by four millimetres or more in about one patient in ten. For CBCT, voxel registration on chin plus symphysis, and name the reference region in every report. (90 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the textbook, the weaknesses they share. Every sample was filtered for image quality or implant stability, so the errors reported are the best case, not what a routine film gives. Two of the three samples were treated, and Doppel says his rotational variability may be a result of treatment. All three cover puberty only, so none tells us how stable these regions are in an adult or over five years of CBCT. The gold standards are imperfect: Doppel's implants were close together, so error grows with distance; Nguyen's plates were loaded by elastics and checked clinically only. The metrics cannot be compared across papers either: Doppel measures maximum deviation of a contour, Nielsen landmark displacement under each method, Nguyen a surface distance, so Doppel's 0.85 millimetres for the internal palate and Nielsen's one-to-two-millimetre best-fit under-read are not the same quantity. Observers: one tracer in Doppel, a second observer after brief instructions in Nielsen, two in Nguyen. And each paper has a printed slip that an examiner can use. (60 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Proffit presents the same three-level logic: overall superimposition on the cranial base, regional on the maxilla and on the symphysis. The growth chapter is where the implant biology lives: internal rotation of both jaws hidden by surface remodelling, which is the mechanism behind every bias in these papers. The ABO's required structural method reads like Doppel's conclusion written as instructions, with the three-fifths to two-fifths rule. Where the textbook and the board diverge from the 3D paper is the mandible: the canal and the third-molar bud are still on the ABO list, and Nguyen removed both. I have not been able to check the exact wording of the textbook or the board document against the originals for this talk, so please correct me if it differs. (60 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Where does this leave us? The mandible has a 3D reference validated against something hard; the maxilla does not yet. The 3D maxillary papers test whether two observers agree, which is necessary but not the same as being right. A 2022 systematic review concluded that no cephalometric superimposition method has been proved accurate, which is a fair reading of the risk of bias in the whole field, these three included. Automation is arriving: AI registration is reported to match a good observer in 2D and is being tested in 3D, where regional registrations are said to vary more between workflows than cranial-base ones. I have not verified those recent papers against the originals. The constraint that does not go away is dose; nobody should take serial CBCTs to measure growth. (45 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lines to take away. One: a palatal best fit hides about a third of molar eruption and half of incisor eruption over four years of growth. Two: the maxillary reference is the zygomatic process, with the orbital floor rising one and a half times what the palate lowers. Three: ANS, PNS, PTM, A point and the palatal plane itself are not stable, so never register on them. Four: in the mandible, in three dimensions, the chin and the inner symphysis moved less than half a millimetre in a year and two observers agree to a tenth. Five: a tracing resolves half a millimetre, and the first question about any number is what it was registered on. (60 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you. I will stop there and take questions. If it helps to start, I have three I would like your view on: whether anyone applies the one-and-a-half-to-one rule at the viewbox or fits the orbital floor by eye; which maxillary registration we use in the department for before-and-after tracings; and whether, given Nguyen's result, the canal and the third-molar bud should stay on our two-dimensional mandibular list. The backup slide has the full tables if a specific number is needed. (15 s, then discussion)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 only. If a consultant asks for a number, go to the row, say the number with its unit, say the direction, say the caveat. The sign conventions differ: Nielsen's Tables I–II use anterior positive and downward negative, and his difference tables flip that; Doppel's Table II is an unsigned maximum distance; Nguyen's is an unsigned surface distance. Do not convert between them, and say derived when you compute a percentage from two cells. (0 s (shown on request only))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 only. If a consultant asks for a number, go to the row, say the number with its unit, say the direction, say the caveat. The sign conventions differ: Nielsen's Tables I–II use anterior positive and downward negative, and his difference tables flip that; Doppel's Table II is an unsigned maximum distance; Nguyen's is an unsigned surface distance. Do not convert between them, and say derived when you compute a percentage from two cells. (0 s (shown on request only))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 only. If a consultant asks for a number, go to the row, say the number with its unit, say the direction, say the caveat. The sign conventions differ: Nielsen's Tables I–II use anterior positive and downward negative, and his difference tables flip that; Doppel's Table II is an unsigned maximum distance; Nguyen's is an unsigned surface distance. Do not convert between them, and say derived when you compute a percentage from two cells. (0 s (shown on request only))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640080" y="1371600"/>
            <a:ext cx="7863840" cy="1463040"/>
          </a:xfrm>
          <a:prstGeom prst="rect">
            <a:avLst/>
          </a:prstGeom>
          <a:noFill/>
          <a:ln/>
        </p:spPr>
        <p:txBody>
          <a:bodyPr wrap="square" rtlCol="0"/>
          <a:lstStyle>
            <a:lvl1pPr indent="0" marL="0">
              <a:buNone/>
              <a:defRPr lang="en-US" sz="3600" b="1" dirty="0">
                <a:solidFill>
                  <a:schemeClr val="bg1"/>
                </a:solidFill>
              </a:defRPr>
            </a:lvl1pPr>
          </a:lstStyle>
          <a:p>
            <a:pPr indent="0" marL="0">
              <a:buNone/>
            </a:pPr>
            <a:r>
              <a:rPr lang="en-US" sz="3600" b="1" dirty="0">
                <a:solidFill>
                  <a:schemeClr val="bg1"/>
                </a:solidFill>
              </a:rPr>
              <a:t>Title</a:t>
            </a:r>
            <a:endParaRPr lang="en-US" sz="3600" dirty="0"/>
          </a:p>
        </p:txBody>
      </p:sp>
      <p:sp>
        <p:nvSpPr>
          <p:cNvPr id="3" name="Text 0"/>
          <p:cNvSpPr/>
          <p:nvPr>
            <p:ph idx="101" type="body" hasCustomPrompt="1"/>
          </p:nvPr>
        </p:nvSpPr>
        <p:spPr>
          <a:xfrm>
            <a:off x="640080" y="2971800"/>
            <a:ext cx="7863840" cy="1097280"/>
          </a:xfrm>
          <a:prstGeom prst="rect">
            <a:avLst/>
          </a:prstGeom>
          <a:noFill/>
          <a:ln/>
        </p:spPr>
        <p:txBody>
          <a:bodyPr wrap="square" rtlCol="0"/>
          <a:lstStyle>
            <a:lvl1pPr indent="0" marL="0">
              <a:buNone/>
              <a:defRPr lang="en-US" sz="1600" dirty="0">
                <a:solidFill>
                  <a:schemeClr val="bg2"/>
                </a:solidFill>
              </a:defRPr>
            </a:lvl1pPr>
          </a:lstStyle>
          <a:p>
            <a:pPr indent="0" marL="0">
              <a:buNone/>
            </a:pPr>
            <a:r>
              <a:rPr lang="en-US" sz="1600" dirty="0">
                <a:solidFill>
                  <a:schemeClr val="bg2"/>
                </a:solidFill>
              </a:rPr>
              <a:t>Subtitle</a:t>
            </a:r>
            <a:endParaRPr lang="en-US" sz="1600" dirty="0"/>
          </a:p>
        </p:txBody>
      </p:sp>
      <p:sp>
        <p:nvSpPr>
          <p:cNvPr id="4" name="Text 0"/>
          <p:cNvSpPr/>
          <p:nvPr/>
        </p:nvSpPr>
        <p:spPr>
          <a:xfrm>
            <a:off x="457200" y="4754880"/>
            <a:ext cx="6858000" cy="274320"/>
          </a:xfrm>
          <a:prstGeom prst="rect">
            <a:avLst/>
          </a:prstGeom>
          <a:noFill/>
          <a:ln/>
        </p:spPr>
        <p:txBody>
          <a:bodyPr wrap="square" lIns="0" tIns="0" rIns="0" bIns="0" rtlCol="0" anchor="ctr"/>
          <a:lstStyle/>
          <a:p>
            <a:pPr indent="0" marL="0">
              <a:buNone/>
            </a:pPr>
            <a:r>
              <a:rPr lang="en-US" sz="900" dirty="0">
                <a:solidFill>
                  <a:schemeClr val="bg2"/>
                </a:solidFill>
              </a:rPr>
              <a:t>Topic 1 · Superimposition methods</a:t>
            </a:r>
            <a:endParaRPr lang="en-US" sz="9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ECTION">
    <p:bg>
      <p:bgPr>
        <a:solidFill>
          <a:schemeClr val="accent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640080" y="1828800"/>
            <a:ext cx="7863840" cy="1280160"/>
          </a:xfrm>
          <a:prstGeom prst="rect">
            <a:avLst/>
          </a:prstGeom>
          <a:noFill/>
          <a:ln/>
        </p:spPr>
        <p:txBody>
          <a:bodyPr wrap="square" rtlCol="0"/>
          <a:lstStyle>
            <a:lvl1pPr indent="0" marL="0">
              <a:buNone/>
              <a:defRPr lang="en-US" sz="3400" b="1" dirty="0">
                <a:solidFill>
                  <a:schemeClr val="bg1"/>
                </a:solidFill>
              </a:defRPr>
            </a:lvl1pPr>
          </a:lstStyle>
          <a:p>
            <a:pPr indent="0" marL="0">
              <a:buNone/>
            </a:pPr>
            <a:r>
              <a:rPr lang="en-US" sz="3400" b="1" dirty="0">
                <a:solidFill>
                  <a:schemeClr val="bg1"/>
                </a:solidFill>
              </a:rPr>
              <a:t>Section</a:t>
            </a:r>
            <a:endParaRPr lang="en-US" sz="3400" dirty="0"/>
          </a:p>
        </p:txBody>
      </p:sp>
      <p:sp>
        <p:nvSpPr>
          <p:cNvPr id="3" name="Text 0"/>
          <p:cNvSpPr/>
          <p:nvPr>
            <p:ph idx="101" type="body" hasCustomPrompt="1"/>
          </p:nvPr>
        </p:nvSpPr>
        <p:spPr>
          <a:xfrm>
            <a:off x="640080" y="3154680"/>
            <a:ext cx="7863840" cy="731520"/>
          </a:xfrm>
          <a:prstGeom prst="rect">
            <a:avLst/>
          </a:prstGeom>
          <a:noFill/>
          <a:ln/>
        </p:spPr>
        <p:txBody>
          <a:bodyPr wrap="square" rtlCol="0"/>
          <a:lstStyle>
            <a:lvl1pPr indent="0" marL="0">
              <a:buNone/>
              <a:defRPr lang="en-US" sz="1500" dirty="0">
                <a:solidFill>
                  <a:schemeClr val="bg2"/>
                </a:solidFill>
              </a:defRPr>
            </a:lvl1pPr>
          </a:lstStyle>
          <a:p>
            <a:pPr indent="0" marL="0">
              <a:buNone/>
            </a:pPr>
            <a:r>
              <a:rPr lang="en-US" sz="1500" dirty="0">
                <a:solidFill>
                  <a:schemeClr val="bg2"/>
                </a:solidFill>
              </a:rPr>
              <a:t>Subtitle</a:t>
            </a:r>
            <a:endParaRPr lang="en-US" sz="1500" dirty="0"/>
          </a:p>
        </p:txBody>
      </p:sp>
      <p:sp>
        <p:nvSpPr>
          <p:cNvPr id="4" name="Text 0"/>
          <p:cNvSpPr/>
          <p:nvPr/>
        </p:nvSpPr>
        <p:spPr>
          <a:xfrm>
            <a:off x="457200" y="4754880"/>
            <a:ext cx="6858000" cy="274320"/>
          </a:xfrm>
          <a:prstGeom prst="rect">
            <a:avLst/>
          </a:prstGeom>
          <a:noFill/>
          <a:ln/>
        </p:spPr>
        <p:txBody>
          <a:bodyPr wrap="square" lIns="0" tIns="0" rIns="0" bIns="0" rtlCol="0" anchor="ctr"/>
          <a:lstStyle/>
          <a:p>
            <a:pPr indent="0" marL="0">
              <a:buNone/>
            </a:pPr>
            <a:r>
              <a:rPr lang="en-US" sz="900" dirty="0">
                <a:solidFill>
                  <a:schemeClr val="bg2"/>
                </a:solidFill>
              </a:rPr>
              <a:t>Topic 1 · Superimposition methods</a:t>
            </a:r>
            <a:endParaRPr lang="en-US" sz="9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731520"/>
          </a:xfrm>
          <a:prstGeom prst="rect">
            <a:avLst/>
          </a:prstGeom>
          <a:noFill/>
          <a:ln/>
        </p:spPr>
        <p:txBody>
          <a:bodyPr wrap="square" rtlCol="0"/>
          <a:lstStyle>
            <a:lvl1pPr algn="l" indent="0" marL="0">
              <a:buNone/>
              <a:defRPr lang="en-US" sz="2800" b="1" dirty="0">
                <a:solidFill>
                  <a:schemeClr val="tx2"/>
                </a:solidFill>
              </a:defRPr>
            </a:lvl1pPr>
          </a:lstStyle>
          <a:p>
            <a:pPr algn="l" indent="0" marL="0">
              <a:buNone/>
            </a:pPr>
            <a:r>
              <a:rPr lang="en-US" sz="2800" b="1" dirty="0">
                <a:solidFill>
                  <a:schemeClr val="tx2"/>
                </a:solidFill>
              </a:rPr>
              <a:t>Title</a:t>
            </a:r>
            <a:endParaRPr lang="en-US" sz="2800" dirty="0"/>
          </a:p>
        </p:txBody>
      </p:sp>
      <p:sp>
        <p:nvSpPr>
          <p:cNvPr id="3" name="Text 0"/>
          <p:cNvSpPr/>
          <p:nvPr>
            <p:ph idx="101" type="body" hasCustomPrompt="1"/>
          </p:nvPr>
        </p:nvSpPr>
        <p:spPr>
          <a:xfrm>
            <a:off x="457200" y="1188720"/>
            <a:ext cx="8229600" cy="3429000"/>
          </a:xfrm>
          <a:prstGeom prst="rect">
            <a:avLst/>
          </a:prstGeom>
          <a:noFill/>
          <a:ln/>
        </p:spPr>
        <p:txBody>
          <a:bodyPr wrap="square" rtlCol="0"/>
          <a:lstStyle>
            <a:lvl1pPr indent="0" marL="0">
              <a:buNone/>
              <a:defRPr lang="en-US" sz="1600" dirty="0">
                <a:solidFill>
                  <a:schemeClr val="tx1"/>
                </a:solidFill>
              </a:defRPr>
            </a:lvl1pPr>
          </a:lstStyle>
          <a:p>
            <a:pPr indent="0" marL="0">
              <a:buNone/>
            </a:pPr>
            <a:r>
              <a:rPr lang="en-US" sz="1600" dirty="0">
                <a:solidFill>
                  <a:schemeClr val="tx1"/>
                </a:solidFill>
              </a:rPr>
              <a:t>Body</a:t>
            </a:r>
            <a:endParaRPr lang="en-US" sz="1600" dirty="0"/>
          </a:p>
        </p:txBody>
      </p:sp>
      <p:sp>
        <p:nvSpPr>
          <p:cNvPr id="4" name="Text 0"/>
          <p:cNvSpPr/>
          <p:nvPr/>
        </p:nvSpPr>
        <p:spPr>
          <a:xfrm>
            <a:off x="457200" y="4754880"/>
            <a:ext cx="6858000" cy="274320"/>
          </a:xfrm>
          <a:prstGeom prst="rect">
            <a:avLst/>
          </a:prstGeom>
          <a:noFill/>
          <a:ln/>
        </p:spPr>
        <p:txBody>
          <a:bodyPr wrap="square" lIns="0" tIns="0" rIns="0" bIns="0" rtlCol="0" anchor="ctr"/>
          <a:lstStyle/>
          <a:p>
            <a:pPr indent="0" marL="0">
              <a:buNone/>
            </a:pPr>
            <a:r>
              <a:rPr lang="en-US" sz="900" dirty="0">
                <a:solidFill>
                  <a:schemeClr val="accent6"/>
                </a:solidFill>
              </a:rPr>
              <a:t>Topic 1 · Superimposition methods</a:t>
            </a:r>
            <a:endParaRPr lang="en-US" sz="900" dirty="0"/>
          </a:p>
        </p:txBody>
      </p:sp>
      <p:sp>
        <p:nvSpPr>
          <p:cNvPr id="5" name="Text 1"/>
          <p:cNvSpPr/>
          <p:nvPr/>
        </p:nvSpPr>
        <p:spPr>
          <a:xfrm>
            <a:off x="8229600" y="4754880"/>
            <a:ext cx="457200" cy="274320"/>
          </a:xfrm>
          <a:prstGeom prst="rect">
            <a:avLst/>
          </a:prstGeom>
          <a:noFill/>
          <a:ln/>
        </p:spPr>
        <p:txBody>
          <a:bodyPr wrap="square" lIns="0" tIns="0" rIns="0" bIns="0" rtlCol="0" anchor="ctr"/>
          <a:lstStyle/>
          <a:p>
            <a:pPr algn="r" indent="0" marL="0">
              <a:buNone/>
            </a:pPr>
            <a:endParaRPr lang="en-US" sz="900" dirty="0"/>
          </a:p>
        </p:txBody>
      </p:sp>
      <p:sp>
        <p:nvSpPr>
          <p:cNvPr id="25" name="Slide Number Placeholder 0"/>
          <p:cNvSpPr>
            <a:spLocks noGrp="1"/>
          </p:cNvSpPr>
          <p:nvPr>
            <p:ph type="sldNum" sz="quarter" idx="4294967295"/>
          </p:nvPr>
        </p:nvSpPr>
        <p:spPr>
          <a:xfrm>
            <a:off x="8321040" y="4754880"/>
            <a:ext cx="36576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l"/>
            <a:fld id="{F7021451-1387-4CA6-816F-3879F97B5CBC}" type="slidenum">
              <a:rPr b="0" lang="en-US"/>
              <a:t>1004</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TITLE_ONLY">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731520"/>
          </a:xfrm>
          <a:prstGeom prst="rect">
            <a:avLst/>
          </a:prstGeom>
          <a:noFill/>
          <a:ln/>
        </p:spPr>
        <p:txBody>
          <a:bodyPr wrap="square" rtlCol="0"/>
          <a:lstStyle>
            <a:lvl1pPr algn="l" indent="0" marL="0">
              <a:buNone/>
              <a:defRPr lang="en-US" sz="2800" b="1" dirty="0">
                <a:solidFill>
                  <a:schemeClr val="tx2"/>
                </a:solidFill>
              </a:defRPr>
            </a:lvl1pPr>
          </a:lstStyle>
          <a:p>
            <a:pPr algn="l" indent="0" marL="0">
              <a:buNone/>
            </a:pPr>
            <a:r>
              <a:rPr lang="en-US" sz="2800" b="1" dirty="0">
                <a:solidFill>
                  <a:schemeClr val="tx2"/>
                </a:solidFill>
              </a:rPr>
              <a:t>Title</a:t>
            </a:r>
            <a:endParaRPr lang="en-US" sz="2800" dirty="0"/>
          </a:p>
        </p:txBody>
      </p:sp>
      <p:sp>
        <p:nvSpPr>
          <p:cNvPr id="3" name="Text 0"/>
          <p:cNvSpPr/>
          <p:nvPr/>
        </p:nvSpPr>
        <p:spPr>
          <a:xfrm>
            <a:off x="457200" y="4754880"/>
            <a:ext cx="6858000" cy="274320"/>
          </a:xfrm>
          <a:prstGeom prst="rect">
            <a:avLst/>
          </a:prstGeom>
          <a:noFill/>
          <a:ln/>
        </p:spPr>
        <p:txBody>
          <a:bodyPr wrap="square" lIns="0" tIns="0" rIns="0" bIns="0" rtlCol="0" anchor="ctr"/>
          <a:lstStyle/>
          <a:p>
            <a:pPr indent="0" marL="0">
              <a:buNone/>
            </a:pPr>
            <a:r>
              <a:rPr lang="en-US" sz="900" dirty="0">
                <a:solidFill>
                  <a:schemeClr val="accent6"/>
                </a:solidFill>
              </a:rPr>
              <a:t>Topic 1 · Superimposition methods</a:t>
            </a:r>
            <a:endParaRPr lang="en-US" sz="900" dirty="0"/>
          </a:p>
        </p:txBody>
      </p:sp>
      <p:sp>
        <p:nvSpPr>
          <p:cNvPr id="25" name="Slide Number Placeholder 0"/>
          <p:cNvSpPr>
            <a:spLocks noGrp="1"/>
          </p:cNvSpPr>
          <p:nvPr>
            <p:ph type="sldNum" sz="quarter" idx="4294967295"/>
          </p:nvPr>
        </p:nvSpPr>
        <p:spPr>
          <a:xfrm>
            <a:off x="8321040" y="4754880"/>
            <a:ext cx="36576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l"/>
            <a:fld id="{F7021451-1387-4CA6-816F-3879F97B5CBC}" type="slidenum">
              <a:rPr b="0" lang="en-US"/>
              <a:t>1005</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321040" y="4754880"/>
            <a:ext cx="36576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5.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5.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640080" y="1371600"/>
            <a:ext cx="7863840" cy="1463040"/>
          </a:xfrm>
          <a:prstGeom prst="rect">
            <a:avLst/>
          </a:prstGeom>
          <a:noFill/>
          <a:ln/>
        </p:spPr>
        <p:txBody>
          <a:bodyPr wrap="square" lIns="0" tIns="0" rIns="0" bIns="0" rtlCol="0" anchor="b"/>
          <a:lstStyle/>
          <a:p>
            <a:pPr indent="0" marL="0">
              <a:buNone/>
            </a:pPr>
            <a:r>
              <a:rPr lang="en-US" sz="3600" b="1" dirty="0">
                <a:solidFill>
                  <a:schemeClr val="bg1"/>
                </a:solidFill>
              </a:rPr>
              <a:t>Superimposition methods: what the implants taught us</a:t>
            </a:r>
            <a:endParaRPr lang="en-US" sz="3600" dirty="0"/>
          </a:p>
        </p:txBody>
      </p:sp>
      <p:sp>
        <p:nvSpPr>
          <p:cNvPr id="3" name="Text 0"/>
          <p:cNvSpPr/>
          <p:nvPr>
            <p:ph idx="101" type="body" hasCustomPrompt="1"/>
          </p:nvPr>
        </p:nvSpPr>
        <p:spPr>
          <a:xfrm>
            <a:off x="640080" y="2971800"/>
            <a:ext cx="7863840" cy="1097280"/>
          </a:xfrm>
          <a:prstGeom prst="rect">
            <a:avLst/>
          </a:prstGeom>
          <a:noFill/>
          <a:ln/>
        </p:spPr>
        <p:txBody>
          <a:bodyPr wrap="square" lIns="0" tIns="0" rIns="0" bIns="0" rtlCol="0"/>
          <a:lstStyle/>
          <a:p>
            <a:pPr indent="0" marL="0">
              <a:buNone/>
            </a:pPr>
            <a:r>
              <a:rPr lang="en-US" sz="1600" dirty="0">
                <a:solidFill>
                  <a:schemeClr val="bg2"/>
                </a:solidFill>
              </a:rPr>
              <a:t>Literature review topic 1 of 19: Superimposition Methods  ·  Nielsen 1989, AJODO 95:422–431: maxilla, 2D, n = 18  ·  Doppel, Damon, Joondeph, Little 1994, AJODO 105:161–168: maxilla, 2D, n = 50  ·  Nguyen et al. 2018, AJODO 153:747–754: mandible, 3D, n = 20 + 25  ·  Presenter, date, department</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731520"/>
          </a:xfrm>
          <a:prstGeom prst="rect">
            <a:avLst/>
          </a:prstGeom>
          <a:noFill/>
          <a:ln/>
        </p:spPr>
        <p:txBody>
          <a:bodyPr wrap="square" lIns="0" tIns="0" rIns="0" bIns="0" rtlCol="0" anchor="ctr"/>
          <a:lstStyle/>
          <a:p>
            <a:pPr algn="l" indent="0" marL="0">
              <a:buNone/>
            </a:pPr>
            <a:r>
              <a:rPr lang="en-US" sz="2800" b="1" dirty="0">
                <a:solidFill>
                  <a:schemeClr val="tx2"/>
                </a:solidFill>
              </a:rPr>
              <a:t>Why superimposition matters</a:t>
            </a:r>
            <a:endParaRPr lang="en-US" sz="2800" dirty="0"/>
          </a:p>
        </p:txBody>
      </p:sp>
      <p:sp>
        <p:nvSpPr>
          <p:cNvPr id="3" name="Text 0"/>
          <p:cNvSpPr/>
          <p:nvPr>
            <p:ph idx="101" type="body" hasCustomPrompt="1"/>
          </p:nvPr>
        </p:nvSpPr>
        <p:spPr>
          <a:xfrm>
            <a:off x="457200" y="1188720"/>
            <a:ext cx="8229600" cy="3429000"/>
          </a:xfrm>
          <a:prstGeom prst="rect">
            <a:avLst/>
          </a:prstGeom>
          <a:noFill/>
          <a:ln/>
        </p:spPr>
        <p:txBody>
          <a:bodyPr wrap="square" lIns="0" tIns="0" rIns="0" bIns="0" rtlCol="0" anchor="t"/>
          <a:lstStyle/>
          <a:p>
            <a:pPr marL="177800" indent="-177800">
              <a:spcAft>
                <a:spcPts val="600"/>
              </a:spcAft>
              <a:buSzPct val="100000"/>
              <a:buChar char="•"/>
            </a:pPr>
            <a:r>
              <a:rPr lang="en-US" sz="1600" dirty="0">
                <a:solidFill>
                  <a:schemeClr val="tx1"/>
                </a:solidFill>
              </a:rPr>
              <a:t>The question: did the molar erupt, or did the maxilla descend around it?</a:t>
            </a:r>
            <a:endParaRPr lang="en-US" sz="1600" dirty="0"/>
          </a:p>
          <a:p>
            <a:pPr marL="177800" indent="-177800">
              <a:spcAft>
                <a:spcPts val="600"/>
              </a:spcAft>
              <a:buSzPct val="100000"/>
              <a:buChar char="•"/>
            </a:pPr>
            <a:r>
              <a:rPr lang="en-US" sz="1600" dirty="0">
                <a:solidFill>
                  <a:schemeClr val="tx1"/>
                </a:solidFill>
              </a:rPr>
              <a:t>Overall superimposition = total change; regional = movement within the jaw; difference = growth.</a:t>
            </a:r>
            <a:endParaRPr lang="en-US" sz="1600" dirty="0"/>
          </a:p>
          <a:p>
            <a:pPr marL="177800" indent="-177800">
              <a:spcAft>
                <a:spcPts val="600"/>
              </a:spcAft>
              <a:buSzPct val="100000"/>
              <a:buChar char="•"/>
            </a:pPr>
            <a:r>
              <a:rPr lang="en-US" sz="1600" dirty="0">
                <a:solidFill>
                  <a:schemeClr val="tx1"/>
                </a:solidFill>
              </a:rPr>
              <a:t>Register on a structure that moved and its movement is subtracted from everything.</a:t>
            </a:r>
            <a:endParaRPr lang="en-US" sz="1600" dirty="0"/>
          </a:p>
          <a:p>
            <a:pPr marL="177800" indent="-177800">
              <a:spcAft>
                <a:spcPts val="600"/>
              </a:spcAft>
              <a:buSzPct val="100000"/>
              <a:buChar char="•"/>
            </a:pPr>
            <a:r>
              <a:rPr lang="en-US" sz="1600" dirty="0">
                <a:solidFill>
                  <a:schemeClr val="tx1"/>
                </a:solidFill>
              </a:rPr>
              <a:t>Palatal best fit hid 1.33–1.84 mm of 4-year eruption (Nielsen, Table IV).</a:t>
            </a:r>
            <a:endParaRPr lang="en-US" sz="1600" dirty="0"/>
          </a:p>
          <a:p>
            <a:pPr marL="177800" indent="-177800">
              <a:spcAft>
                <a:spcPts val="600"/>
              </a:spcAft>
              <a:buSzPct val="100000"/>
              <a:buChar char="•"/>
            </a:pPr>
            <a:r>
              <a:rPr lang="en-US" sz="1600" dirty="0">
                <a:solidFill>
                  <a:schemeClr val="tx1"/>
                </a:solidFill>
              </a:rPr>
              <a:t>Tracing error 0.5 mm; head rotation shifts a zygomatic implant 3 mm (Doppel, Methods).</a:t>
            </a:r>
            <a:endParaRPr lang="en-US" sz="1600" dirty="0"/>
          </a:p>
        </p:txBody>
      </p:sp>
      <p:sp>
        <p:nvSpPr>
          <p:cNvPr id="25" name="Slide Number Placeholder 0"/>
          <p:cNvSpPr>
            <a:spLocks noGrp="1"/>
          </p:cNvSpPr>
          <p:nvPr>
            <p:ph type="sldNum" sz="quarter" idx="4294967295"/>
          </p:nvPr>
        </p:nvSpPr>
        <p:spPr>
          <a:xfrm>
            <a:off x="8321040" y="4754880"/>
            <a:ext cx="36576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l"/>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731520"/>
          </a:xfrm>
          <a:prstGeom prst="rect">
            <a:avLst/>
          </a:prstGeom>
          <a:noFill/>
          <a:ln/>
        </p:spPr>
        <p:txBody>
          <a:bodyPr wrap="square" lIns="0" tIns="0" rIns="0" bIns="0" rtlCol="0" anchor="ctr"/>
          <a:lstStyle/>
          <a:p>
            <a:pPr algn="l" indent="0" marL="0">
              <a:buNone/>
            </a:pPr>
            <a:r>
              <a:rPr lang="en-US" sz="2800" b="1" dirty="0">
                <a:solidFill>
                  <a:schemeClr val="tx2"/>
                </a:solidFill>
              </a:rPr>
              <a:t>The gold standard: Björk's implants</a:t>
            </a:r>
            <a:endParaRPr lang="en-US" sz="2800" dirty="0"/>
          </a:p>
        </p:txBody>
      </p:sp>
      <p:sp>
        <p:nvSpPr>
          <p:cNvPr id="3" name="Text 0"/>
          <p:cNvSpPr/>
          <p:nvPr>
            <p:ph idx="101" type="body" hasCustomPrompt="1"/>
          </p:nvPr>
        </p:nvSpPr>
        <p:spPr>
          <a:xfrm>
            <a:off x="457200" y="1188720"/>
            <a:ext cx="8229600" cy="3429000"/>
          </a:xfrm>
          <a:prstGeom prst="rect">
            <a:avLst/>
          </a:prstGeom>
          <a:noFill/>
          <a:ln/>
        </p:spPr>
        <p:txBody>
          <a:bodyPr wrap="square" lIns="0" tIns="0" rIns="0" bIns="0" rtlCol="0" anchor="t"/>
          <a:lstStyle/>
          <a:p>
            <a:pPr marL="177800" indent="-177800">
              <a:spcAft>
                <a:spcPts val="600"/>
              </a:spcAft>
              <a:buSzPct val="100000"/>
              <a:buChar char="•"/>
            </a:pPr>
            <a:r>
              <a:rPr lang="en-US" sz="1600" dirty="0">
                <a:solidFill>
                  <a:schemeClr val="tx1"/>
                </a:solidFill>
              </a:rPr>
              <a:t>Tantalum pins in bone, serial films: Björk 1955 (reference 1 in Doppel and Nguyen).</a:t>
            </a:r>
            <a:endParaRPr lang="en-US" sz="1600" dirty="0"/>
          </a:p>
          <a:p>
            <a:pPr marL="177800" indent="-177800">
              <a:spcAft>
                <a:spcPts val="600"/>
              </a:spcAft>
              <a:buSzPct val="100000"/>
              <a:buChar char="•"/>
            </a:pPr>
            <a:r>
              <a:rPr lang="en-US" sz="1600" dirty="0">
                <a:solidFill>
                  <a:schemeClr val="tx1"/>
                </a:solidFill>
              </a:rPr>
              <a:t>Maxillary sites: below ANS, zygomatic process, palate–alveolar border medial to U6 (Doppel, Methods).</a:t>
            </a:r>
            <a:endParaRPr lang="en-US" sz="1600" dirty="0"/>
          </a:p>
          <a:p>
            <a:pPr marL="177800" indent="-177800">
              <a:spcAft>
                <a:spcPts val="600"/>
              </a:spcAft>
              <a:buSzPct val="100000"/>
              <a:buChar char="•"/>
            </a:pPr>
            <a:r>
              <a:rPr lang="en-US" sz="1600" dirty="0">
                <a:solidFill>
                  <a:schemeClr val="tx1"/>
                </a:solidFill>
              </a:rPr>
              <a:t>Nasal floor resorbs, orbital floor apposes, ratio 3 : 2 (Björk &amp; Skieller, via Nielsen p. 423).</a:t>
            </a:r>
            <a:endParaRPr lang="en-US" sz="1600" dirty="0"/>
          </a:p>
          <a:p>
            <a:pPr marL="177800" indent="-177800">
              <a:spcAft>
                <a:spcPts val="600"/>
              </a:spcAft>
              <a:buSzPct val="100000"/>
              <a:buChar char="•"/>
            </a:pPr>
            <a:r>
              <a:rPr lang="en-US" sz="1600" dirty="0">
                <a:solidFill>
                  <a:schemeClr val="tx1"/>
                </a:solidFill>
              </a:rPr>
              <a:t>Anterior zygomatic surface stable in all 9 cases (Björk &amp; Skieller 1977, via Doppel p. 162).</a:t>
            </a:r>
            <a:endParaRPr lang="en-US" sz="1600" dirty="0"/>
          </a:p>
          <a:p>
            <a:pPr marL="177800" indent="-177800">
              <a:spcAft>
                <a:spcPts val="600"/>
              </a:spcAft>
              <a:buSzPct val="100000"/>
              <a:buChar char="•"/>
            </a:pPr>
            <a:r>
              <a:rPr lang="en-US" sz="1600" dirty="0">
                <a:solidFill>
                  <a:schemeClr val="tx1"/>
                </a:solidFill>
              </a:rPr>
              <a:t>Implants no longer placed (ALARA, IRB; Nguyen): bone plates used as regional implants.</a:t>
            </a:r>
            <a:endParaRPr lang="en-US" sz="1600" dirty="0"/>
          </a:p>
        </p:txBody>
      </p:sp>
      <p:sp>
        <p:nvSpPr>
          <p:cNvPr id="25" name="Slide Number Placeholder 0"/>
          <p:cNvSpPr>
            <a:spLocks noGrp="1"/>
          </p:cNvSpPr>
          <p:nvPr>
            <p:ph type="sldNum" sz="quarter" idx="4294967295"/>
          </p:nvPr>
        </p:nvSpPr>
        <p:spPr>
          <a:xfrm>
            <a:off x="8321040" y="4754880"/>
            <a:ext cx="36576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l"/>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731520"/>
          </a:xfrm>
          <a:prstGeom prst="rect">
            <a:avLst/>
          </a:prstGeom>
          <a:noFill/>
          <a:ln/>
        </p:spPr>
        <p:txBody>
          <a:bodyPr wrap="square" lIns="0" tIns="0" rIns="0" bIns="0" rtlCol="0" anchor="ctr"/>
          <a:lstStyle/>
          <a:p>
            <a:pPr algn="l" indent="0" marL="0">
              <a:buNone/>
            </a:pPr>
            <a:r>
              <a:rPr lang="en-US" sz="2800" b="1" dirty="0">
                <a:solidFill>
                  <a:schemeClr val="tx2"/>
                </a:solidFill>
              </a:rPr>
              <a:t>Nielsen 1989: aim and method</a:t>
            </a:r>
            <a:endParaRPr lang="en-US" sz="2800" dirty="0"/>
          </a:p>
        </p:txBody>
      </p:sp>
      <p:sp>
        <p:nvSpPr>
          <p:cNvPr id="3" name="Text 0"/>
          <p:cNvSpPr/>
          <p:nvPr>
            <p:ph idx="101" type="body" hasCustomPrompt="1"/>
          </p:nvPr>
        </p:nvSpPr>
        <p:spPr>
          <a:xfrm>
            <a:off x="457200" y="1188720"/>
            <a:ext cx="8229600" cy="3429000"/>
          </a:xfrm>
          <a:prstGeom prst="rect">
            <a:avLst/>
          </a:prstGeom>
          <a:noFill/>
          <a:ln/>
        </p:spPr>
        <p:txBody>
          <a:bodyPr wrap="square" lIns="0" tIns="0" rIns="0" bIns="0" rtlCol="0" anchor="t"/>
          <a:lstStyle/>
          <a:p>
            <a:pPr marL="177800" indent="-177800">
              <a:spcAft>
                <a:spcPts val="600"/>
              </a:spcAft>
              <a:buSzPct val="100000"/>
              <a:buChar char="•"/>
            </a:pPr>
            <a:r>
              <a:rPr lang="en-US" sz="1600" dirty="0">
                <a:solidFill>
                  <a:schemeClr val="tx1"/>
                </a:solidFill>
              </a:rPr>
              <a:t>Aim: how far do two anatomic methods mis-read 4 years of growth versus implants?</a:t>
            </a:r>
            <a:endParaRPr lang="en-US" sz="1600" dirty="0"/>
          </a:p>
          <a:p>
            <a:pPr marL="177800" indent="-177800">
              <a:spcAft>
                <a:spcPts val="600"/>
              </a:spcAft>
              <a:buSzPct val="100000"/>
              <a:buChar char="•"/>
            </a:pPr>
            <a:r>
              <a:rPr lang="en-US" sz="1600" dirty="0">
                <a:solidFill>
                  <a:schemeClr val="tx1"/>
                </a:solidFill>
              </a:rPr>
              <a:t>18 of 35 UCSF implant subjects (6 boys, 12 girls), selected on film and implant visibility.</a:t>
            </a:r>
            <a:endParaRPr lang="en-US" sz="1600" dirty="0"/>
          </a:p>
          <a:p>
            <a:pPr marL="177800" indent="-177800">
              <a:spcAft>
                <a:spcPts val="600"/>
              </a:spcAft>
              <a:buSzPct val="100000"/>
              <a:buChar char="•"/>
            </a:pPr>
            <a:r>
              <a:rPr lang="en-US" sz="1600" dirty="0">
                <a:solidFill>
                  <a:schemeClr val="tx1"/>
                </a:solidFill>
              </a:rPr>
              <a:t>T1 10 ± 0.37 y; interval 4 ± 0.56 y; treated and untreated mixed, mostly Class II.</a:t>
            </a:r>
            <a:endParaRPr lang="en-US" sz="1600" dirty="0"/>
          </a:p>
          <a:p>
            <a:pPr marL="177800" indent="-177800">
              <a:spcAft>
                <a:spcPts val="600"/>
              </a:spcAft>
              <a:buSzPct val="100000"/>
              <a:buChar char="•"/>
            </a:pPr>
            <a:r>
              <a:rPr lang="en-US" sz="1600" dirty="0">
                <a:solidFill>
                  <a:schemeClr val="tx1"/>
                </a:solidFill>
              </a:rPr>
              <a:t>Three methods: best fit (palatal plane at ANS), implant, structural (anterior zygomatic surface).</a:t>
            </a:r>
            <a:endParaRPr lang="en-US" sz="1600" dirty="0"/>
          </a:p>
          <a:p>
            <a:pPr marL="177800" indent="-177800">
              <a:spcAft>
                <a:spcPts val="600"/>
              </a:spcAft>
              <a:buSzPct val="100000"/>
              <a:buChar char="•"/>
            </a:pPr>
            <a:r>
              <a:rPr lang="en-US" sz="1600" dirty="0">
                <a:solidFill>
                  <a:schemeClr val="tx1"/>
                </a:solidFill>
              </a:rPr>
              <a:t>Structural method held apposition equal to resorption, 1 : 1 (Methods); Downs grid; second observer.</a:t>
            </a:r>
            <a:endParaRPr lang="en-US" sz="1600" dirty="0"/>
          </a:p>
        </p:txBody>
      </p:sp>
      <p:sp>
        <p:nvSpPr>
          <p:cNvPr id="25" name="Slide Number Placeholder 0"/>
          <p:cNvSpPr>
            <a:spLocks noGrp="1"/>
          </p:cNvSpPr>
          <p:nvPr>
            <p:ph type="sldNum" sz="quarter" idx="4294967295"/>
          </p:nvPr>
        </p:nvSpPr>
        <p:spPr>
          <a:xfrm>
            <a:off x="8321040" y="4754880"/>
            <a:ext cx="36576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l"/>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731520"/>
          </a:xfrm>
          <a:prstGeom prst="rect">
            <a:avLst/>
          </a:prstGeom>
          <a:noFill/>
          <a:ln/>
        </p:spPr>
        <p:txBody>
          <a:bodyPr wrap="square" lIns="0" tIns="0" rIns="0" bIns="0" rtlCol="0" anchor="ctr"/>
          <a:lstStyle/>
          <a:p>
            <a:pPr algn="l" indent="0" marL="0">
              <a:buNone/>
            </a:pPr>
            <a:r>
              <a:rPr lang="en-US" sz="2800" b="1" dirty="0">
                <a:solidFill>
                  <a:schemeClr val="tx2"/>
                </a:solidFill>
              </a:rPr>
              <a:t>Nielsen 1989: results and take-home</a:t>
            </a:r>
            <a:endParaRPr lang="en-US" sz="2800" dirty="0"/>
          </a:p>
        </p:txBody>
      </p:sp>
      <p:graphicFrame>
        <p:nvGraphicFramePr>
          <p:cNvPr id="6" name="table"/>
          <p:cNvGraphicFramePr>
            <a:graphicFrameLocks noGrp="1"/>
          </p:cNvGraphicFramePr>
          <p:nvPr>
            <p:extLst>
              <p:ext uri="{D42A27DB-BD31-4B8C-83A1-F6EECF244321}">
                <p14:modId xmlns:p14="http://schemas.microsoft.com/office/powerpoint/2010/main" val="1579011935"/>
              </p:ext>
            </p:extLst>
          </p:nvPr>
        </p:nvGraphicFramePr>
        <p:xfrm>
          <a:off x="457200" y="1188720"/>
          <a:ext cx="8229600" cy="914400"/>
        </p:xfrm>
        <a:graphic>
          <a:graphicData uri="http://schemas.openxmlformats.org/drawingml/2006/table">
            <a:tbl>
              <a:tblPr/>
              <a:tblGrid>
                <a:gridCol w="2139696"/>
                <a:gridCol w="1522476"/>
                <a:gridCol w="1522476"/>
                <a:gridCol w="1522476"/>
                <a:gridCol w="1522476"/>
              </a:tblGrid>
              <a:tr h="0">
                <a:tc>
                  <a:txBody>
                    <a:bodyPr/>
                    <a:lstStyle/>
                    <a:p>
                      <a:pPr indent="0" marL="0">
                        <a:buNone/>
                      </a:pPr>
                      <a:r>
                        <a:rPr lang="en-US" sz="1100" b="1" dirty="0">
                          <a:solidFill>
                            <a:schemeClr val="bg1"/>
                          </a:solidFill>
                          <a:latin typeface="+mn-lt" pitchFamily="34" charset="0"/>
                          <a:ea typeface="+mn-lt" pitchFamily="34" charset="-122"/>
                          <a:cs typeface="+mn-lt" pitchFamily="34" charset="-120"/>
                        </a:rPr>
                        <a:t>Landmark</a:t>
                      </a:r>
                      <a:endParaRPr lang="en-US" sz="1100" dirty="0">
                        <a:latin typeface="+mn-lt" charset="0"/>
                        <a:ea typeface="+mn-lt" charset="0"/>
                        <a:cs typeface="+mn-lt" charset="0"/>
                      </a:endParaRPr>
                    </a:p>
                  </a:txBody>
                  <a:tcPr marL="45720" marR="45720" marT="45720" marB="45720" anchor="t">
                    <a:lnL w="6350" cap="flat" cmpd="sng" algn="ctr">
                      <a:solidFill>
                        <a:srgbClr val="D9E0E8"/>
                      </a:solidFill>
                      <a:prstDash val="solid"/>
                      <a:round/>
                      <a:headEnd type="none" w="med" len="med"/>
                      <a:tailEnd type="none" w="med" len="med"/>
                    </a:lnL>
                    <a:lnR w="6350" cap="flat" cmpd="sng" algn="ctr">
                      <a:solidFill>
                        <a:srgbClr val="D9E0E8"/>
                      </a:solidFill>
                      <a:prstDash val="solid"/>
                      <a:round/>
                      <a:headEnd type="none" w="med" len="med"/>
                      <a:tailEnd type="none" w="med" len="med"/>
                    </a:lnR>
                    <a:lnT w="6350" cap="flat" cmpd="sng" algn="ctr">
                      <a:solidFill>
                        <a:srgbClr val="D9E0E8"/>
                      </a:solidFill>
                      <a:prstDash val="solid"/>
                      <a:round/>
                      <a:headEnd type="none" w="med" len="med"/>
                      <a:tailEnd type="none" w="med" len="med"/>
                    </a:lnT>
                    <a:lnB w="6350" cap="flat" cmpd="sng" algn="ctr">
                      <a:solidFill>
                        <a:srgbClr val="D9E0E8"/>
                      </a:solidFill>
                      <a:prstDash val="solid"/>
                      <a:round/>
                      <a:headEnd type="none" w="med" len="med"/>
                      <a:tailEnd type="none" w="med" len="med"/>
                    </a:lnB>
                    <a:solidFill>
                      <a:schemeClr val="tx2"/>
                    </a:solidFill>
                  </a:tcPr>
                </a:tc>
                <a:tc>
                  <a:txBody>
                    <a:bodyPr/>
                    <a:lstStyle/>
                    <a:p>
                      <a:pPr indent="0" marL="0">
                        <a:buNone/>
                      </a:pPr>
                      <a:r>
                        <a:rPr lang="en-US" sz="1100" b="1" dirty="0">
                          <a:solidFill>
                            <a:schemeClr val="bg1"/>
                          </a:solidFill>
                          <a:latin typeface="+mn-lt" pitchFamily="34" charset="0"/>
                          <a:ea typeface="+mn-lt" pitchFamily="34" charset="-122"/>
                          <a:cs typeface="+mn-lt" pitchFamily="34" charset="-120"/>
                        </a:rPr>
                        <a:t>Implant</a:t>
                      </a:r>
                      <a:endParaRPr lang="en-US" sz="1100" dirty="0">
                        <a:latin typeface="+mn-lt" charset="0"/>
                        <a:ea typeface="+mn-lt" charset="0"/>
                        <a:cs typeface="+mn-lt" charset="0"/>
                      </a:endParaRPr>
                    </a:p>
                  </a:txBody>
                  <a:tcPr marL="45720" marR="45720" marT="45720" marB="45720" anchor="t">
                    <a:lnL w="6350" cap="flat" cmpd="sng" algn="ctr">
                      <a:solidFill>
                        <a:srgbClr val="D9E0E8"/>
                      </a:solidFill>
                      <a:prstDash val="solid"/>
                      <a:round/>
                      <a:headEnd type="none" w="med" len="med"/>
                      <a:tailEnd type="none" w="med" len="med"/>
                    </a:lnL>
                    <a:lnR w="6350" cap="flat" cmpd="sng" algn="ctr">
                      <a:solidFill>
                        <a:srgbClr val="D9E0E8"/>
                      </a:solidFill>
                      <a:prstDash val="solid"/>
                      <a:round/>
                      <a:headEnd type="none" w="med" len="med"/>
                      <a:tailEnd type="none" w="med" len="med"/>
                    </a:lnR>
                    <a:lnT w="6350" cap="flat" cmpd="sng" algn="ctr">
                      <a:solidFill>
                        <a:srgbClr val="D9E0E8"/>
                      </a:solidFill>
                      <a:prstDash val="solid"/>
                      <a:round/>
                      <a:headEnd type="none" w="med" len="med"/>
                      <a:tailEnd type="none" w="med" len="med"/>
                    </a:lnT>
                    <a:lnB w="6350" cap="flat" cmpd="sng" algn="ctr">
                      <a:solidFill>
                        <a:srgbClr val="D9E0E8"/>
                      </a:solidFill>
                      <a:prstDash val="solid"/>
                      <a:round/>
                      <a:headEnd type="none" w="med" len="med"/>
                      <a:tailEnd type="none" w="med" len="med"/>
                    </a:lnB>
                    <a:solidFill>
                      <a:schemeClr val="tx2"/>
                    </a:solidFill>
                  </a:tcPr>
                </a:tc>
                <a:tc>
                  <a:txBody>
                    <a:bodyPr/>
                    <a:lstStyle/>
                    <a:p>
                      <a:pPr indent="0" marL="0">
                        <a:buNone/>
                      </a:pPr>
                      <a:r>
                        <a:rPr lang="en-US" sz="1100" b="1" dirty="0">
                          <a:solidFill>
                            <a:schemeClr val="bg1"/>
                          </a:solidFill>
                          <a:latin typeface="+mn-lt" pitchFamily="34" charset="0"/>
                          <a:ea typeface="+mn-lt" pitchFamily="34" charset="-122"/>
                          <a:cs typeface="+mn-lt" pitchFamily="34" charset="-120"/>
                        </a:rPr>
                        <a:t>Best fit</a:t>
                      </a:r>
                      <a:endParaRPr lang="en-US" sz="1100" dirty="0">
                        <a:latin typeface="+mn-lt" charset="0"/>
                        <a:ea typeface="+mn-lt" charset="0"/>
                        <a:cs typeface="+mn-lt" charset="0"/>
                      </a:endParaRPr>
                    </a:p>
                  </a:txBody>
                  <a:tcPr marL="45720" marR="45720" marT="45720" marB="45720" anchor="t">
                    <a:lnL w="6350" cap="flat" cmpd="sng" algn="ctr">
                      <a:solidFill>
                        <a:srgbClr val="D9E0E8"/>
                      </a:solidFill>
                      <a:prstDash val="solid"/>
                      <a:round/>
                      <a:headEnd type="none" w="med" len="med"/>
                      <a:tailEnd type="none" w="med" len="med"/>
                    </a:lnL>
                    <a:lnR w="6350" cap="flat" cmpd="sng" algn="ctr">
                      <a:solidFill>
                        <a:srgbClr val="D9E0E8"/>
                      </a:solidFill>
                      <a:prstDash val="solid"/>
                      <a:round/>
                      <a:headEnd type="none" w="med" len="med"/>
                      <a:tailEnd type="none" w="med" len="med"/>
                    </a:lnR>
                    <a:lnT w="6350" cap="flat" cmpd="sng" algn="ctr">
                      <a:solidFill>
                        <a:srgbClr val="D9E0E8"/>
                      </a:solidFill>
                      <a:prstDash val="solid"/>
                      <a:round/>
                      <a:headEnd type="none" w="med" len="med"/>
                      <a:tailEnd type="none" w="med" len="med"/>
                    </a:lnT>
                    <a:lnB w="6350" cap="flat" cmpd="sng" algn="ctr">
                      <a:solidFill>
                        <a:srgbClr val="D9E0E8"/>
                      </a:solidFill>
                      <a:prstDash val="solid"/>
                      <a:round/>
                      <a:headEnd type="none" w="med" len="med"/>
                      <a:tailEnd type="none" w="med" len="med"/>
                    </a:lnB>
                    <a:solidFill>
                      <a:schemeClr val="tx2"/>
                    </a:solidFill>
                  </a:tcPr>
                </a:tc>
                <a:tc>
                  <a:txBody>
                    <a:bodyPr/>
                    <a:lstStyle/>
                    <a:p>
                      <a:pPr indent="0" marL="0">
                        <a:buNone/>
                      </a:pPr>
                      <a:r>
                        <a:rPr lang="en-US" sz="1100" b="1" dirty="0">
                          <a:solidFill>
                            <a:schemeClr val="bg1"/>
                          </a:solidFill>
                          <a:latin typeface="+mn-lt" pitchFamily="34" charset="0"/>
                          <a:ea typeface="+mn-lt" pitchFamily="34" charset="-122"/>
                          <a:cs typeface="+mn-lt" pitchFamily="34" charset="-120"/>
                        </a:rPr>
                        <a:t>Implant − best fit</a:t>
                      </a:r>
                      <a:endParaRPr lang="en-US" sz="1100" dirty="0">
                        <a:latin typeface="+mn-lt" charset="0"/>
                        <a:ea typeface="+mn-lt" charset="0"/>
                        <a:cs typeface="+mn-lt" charset="0"/>
                      </a:endParaRPr>
                    </a:p>
                  </a:txBody>
                  <a:tcPr marL="45720" marR="45720" marT="45720" marB="45720" anchor="t">
                    <a:lnL w="6350" cap="flat" cmpd="sng" algn="ctr">
                      <a:solidFill>
                        <a:srgbClr val="D9E0E8"/>
                      </a:solidFill>
                      <a:prstDash val="solid"/>
                      <a:round/>
                      <a:headEnd type="none" w="med" len="med"/>
                      <a:tailEnd type="none" w="med" len="med"/>
                    </a:lnL>
                    <a:lnR w="6350" cap="flat" cmpd="sng" algn="ctr">
                      <a:solidFill>
                        <a:srgbClr val="D9E0E8"/>
                      </a:solidFill>
                      <a:prstDash val="solid"/>
                      <a:round/>
                      <a:headEnd type="none" w="med" len="med"/>
                      <a:tailEnd type="none" w="med" len="med"/>
                    </a:lnR>
                    <a:lnT w="6350" cap="flat" cmpd="sng" algn="ctr">
                      <a:solidFill>
                        <a:srgbClr val="D9E0E8"/>
                      </a:solidFill>
                      <a:prstDash val="solid"/>
                      <a:round/>
                      <a:headEnd type="none" w="med" len="med"/>
                      <a:tailEnd type="none" w="med" len="med"/>
                    </a:lnT>
                    <a:lnB w="6350" cap="flat" cmpd="sng" algn="ctr">
                      <a:solidFill>
                        <a:srgbClr val="D9E0E8"/>
                      </a:solidFill>
                      <a:prstDash val="solid"/>
                      <a:round/>
                      <a:headEnd type="none" w="med" len="med"/>
                      <a:tailEnd type="none" w="med" len="med"/>
                    </a:lnB>
                    <a:solidFill>
                      <a:schemeClr val="tx2"/>
                    </a:solidFill>
                  </a:tcPr>
                </a:tc>
                <a:tc>
                  <a:txBody>
                    <a:bodyPr/>
                    <a:lstStyle/>
                    <a:p>
                      <a:pPr indent="0" marL="0">
                        <a:buNone/>
                      </a:pPr>
                      <a:r>
                        <a:rPr lang="en-US" sz="1100" b="1" dirty="0">
                          <a:solidFill>
                            <a:schemeClr val="bg1"/>
                          </a:solidFill>
                          <a:latin typeface="+mn-lt" pitchFamily="34" charset="0"/>
                          <a:ea typeface="+mn-lt" pitchFamily="34" charset="-122"/>
                          <a:cs typeface="+mn-lt" pitchFamily="34" charset="-120"/>
                        </a:rPr>
                        <a:t>Implant − structural</a:t>
                      </a:r>
                      <a:endParaRPr lang="en-US" sz="1100" dirty="0">
                        <a:latin typeface="+mn-lt" charset="0"/>
                        <a:ea typeface="+mn-lt" charset="0"/>
                        <a:cs typeface="+mn-lt" charset="0"/>
                      </a:endParaRPr>
                    </a:p>
                  </a:txBody>
                  <a:tcPr marL="45720" marR="45720" marT="45720" marB="45720" anchor="t">
                    <a:lnL w="6350" cap="flat" cmpd="sng" algn="ctr">
                      <a:solidFill>
                        <a:srgbClr val="D9E0E8"/>
                      </a:solidFill>
                      <a:prstDash val="solid"/>
                      <a:round/>
                      <a:headEnd type="none" w="med" len="med"/>
                      <a:tailEnd type="none" w="med" len="med"/>
                    </a:lnL>
                    <a:lnR w="6350" cap="flat" cmpd="sng" algn="ctr">
                      <a:solidFill>
                        <a:srgbClr val="D9E0E8"/>
                      </a:solidFill>
                      <a:prstDash val="solid"/>
                      <a:round/>
                      <a:headEnd type="none" w="med" len="med"/>
                      <a:tailEnd type="none" w="med" len="med"/>
                    </a:lnR>
                    <a:lnT w="6350" cap="flat" cmpd="sng" algn="ctr">
                      <a:solidFill>
                        <a:srgbClr val="D9E0E8"/>
                      </a:solidFill>
                      <a:prstDash val="solid"/>
                      <a:round/>
                      <a:headEnd type="none" w="med" len="med"/>
                      <a:tailEnd type="none" w="med" len="med"/>
                    </a:lnT>
                    <a:lnB w="6350" cap="flat" cmpd="sng" algn="ctr">
                      <a:solidFill>
                        <a:srgbClr val="D9E0E8"/>
                      </a:solidFill>
                      <a:prstDash val="solid"/>
                      <a:round/>
                      <a:headEnd type="none" w="med" len="med"/>
                      <a:tailEnd type="none" w="med" len="med"/>
                    </a:lnB>
                    <a:solidFill>
                      <a:schemeClr val="tx2"/>
                    </a:solidFill>
                  </a:tcPr>
                </a:tc>
              </a:tr>
              <a:tr h="0">
                <a:tc>
                  <a:txBody>
                    <a:bodyPr/>
                    <a:lstStyle/>
                    <a:p>
                      <a:pPr indent="0" marL="0">
                        <a:buNone/>
                      </a:pPr>
                      <a:r>
                        <a:rPr lang="en-US" sz="1100" dirty="0">
                          <a:solidFill>
                            <a:schemeClr val="tx1"/>
                          </a:solidFill>
                          <a:latin typeface="+mn-lt" pitchFamily="34" charset="0"/>
                          <a:ea typeface="+mn-lt" pitchFamily="34" charset="-122"/>
                          <a:cs typeface="+mn-lt" pitchFamily="34" charset="-120"/>
                        </a:rPr>
                        <a:t>PNS</a:t>
                      </a:r>
                      <a:endParaRPr lang="en-US" sz="1100" dirty="0">
                        <a:latin typeface="+mn-lt" charset="0"/>
                        <a:ea typeface="+mn-lt" charset="0"/>
                        <a:cs typeface="+mn-lt" charset="0"/>
                      </a:endParaRPr>
                    </a:p>
                  </a:txBody>
                  <a:tcPr marL="45720" marR="45720" marT="45720" marB="45720" anchor="t">
                    <a:lnL w="6350" cap="flat" cmpd="sng" algn="ctr">
                      <a:solidFill>
                        <a:srgbClr val="D9E0E8"/>
                      </a:solidFill>
                      <a:prstDash val="solid"/>
                      <a:round/>
                      <a:headEnd type="none" w="med" len="med"/>
                      <a:tailEnd type="none" w="med" len="med"/>
                    </a:lnL>
                    <a:lnR w="6350" cap="flat" cmpd="sng" algn="ctr">
                      <a:solidFill>
                        <a:srgbClr val="D9E0E8"/>
                      </a:solidFill>
                      <a:prstDash val="solid"/>
                      <a:round/>
                      <a:headEnd type="none" w="med" len="med"/>
                      <a:tailEnd type="none" w="med" len="med"/>
                    </a:lnR>
                    <a:lnT w="6350" cap="flat" cmpd="sng" algn="ctr">
                      <a:solidFill>
                        <a:srgbClr val="D9E0E8"/>
                      </a:solidFill>
                      <a:prstDash val="solid"/>
                      <a:round/>
                      <a:headEnd type="none" w="med" len="med"/>
                      <a:tailEnd type="none" w="med" len="med"/>
                    </a:lnT>
                    <a:lnB w="6350" cap="flat" cmpd="sng" algn="ctr">
                      <a:solidFill>
                        <a:srgbClr val="D9E0E8"/>
                      </a:solidFill>
                      <a:prstDash val="solid"/>
                      <a:round/>
                      <a:headEnd type="none" w="med" len="med"/>
                      <a:tailEnd type="none" w="med" len="med"/>
                    </a:lnB>
                    <a:solidFill>
                      <a:schemeClr val="bg1"/>
                    </a:solidFill>
                  </a:tcPr>
                </a:tc>
                <a:tc>
                  <a:txBody>
                    <a:bodyPr/>
                    <a:lstStyle/>
                    <a:p>
                      <a:pPr indent="0" marL="0">
                        <a:buNone/>
                      </a:pPr>
                      <a:r>
                        <a:rPr lang="en-US" sz="1100" dirty="0">
                          <a:solidFill>
                            <a:schemeClr val="tx1"/>
                          </a:solidFill>
                          <a:latin typeface="+mn-lt" pitchFamily="34" charset="0"/>
                          <a:ea typeface="+mn-lt" pitchFamily="34" charset="-122"/>
                          <a:cs typeface="+mn-lt" pitchFamily="34" charset="-120"/>
                        </a:rPr>
                        <a:t>−0.70 ± 1.14</a:t>
                      </a:r>
                      <a:endParaRPr lang="en-US" sz="1100" dirty="0">
                        <a:latin typeface="+mn-lt" charset="0"/>
                        <a:ea typeface="+mn-lt" charset="0"/>
                        <a:cs typeface="+mn-lt" charset="0"/>
                      </a:endParaRPr>
                    </a:p>
                  </a:txBody>
                  <a:tcPr marL="45720" marR="45720" marT="45720" marB="45720" anchor="t">
                    <a:lnL w="6350" cap="flat" cmpd="sng" algn="ctr">
                      <a:solidFill>
                        <a:srgbClr val="D9E0E8"/>
                      </a:solidFill>
                      <a:prstDash val="solid"/>
                      <a:round/>
                      <a:headEnd type="none" w="med" len="med"/>
                      <a:tailEnd type="none" w="med" len="med"/>
                    </a:lnL>
                    <a:lnR w="6350" cap="flat" cmpd="sng" algn="ctr">
                      <a:solidFill>
                        <a:srgbClr val="D9E0E8"/>
                      </a:solidFill>
                      <a:prstDash val="solid"/>
                      <a:round/>
                      <a:headEnd type="none" w="med" len="med"/>
                      <a:tailEnd type="none" w="med" len="med"/>
                    </a:lnR>
                    <a:lnT w="6350" cap="flat" cmpd="sng" algn="ctr">
                      <a:solidFill>
                        <a:srgbClr val="D9E0E8"/>
                      </a:solidFill>
                      <a:prstDash val="solid"/>
                      <a:round/>
                      <a:headEnd type="none" w="med" len="med"/>
                      <a:tailEnd type="none" w="med" len="med"/>
                    </a:lnT>
                    <a:lnB w="6350" cap="flat" cmpd="sng" algn="ctr">
                      <a:solidFill>
                        <a:srgbClr val="D9E0E8"/>
                      </a:solidFill>
                      <a:prstDash val="solid"/>
                      <a:round/>
                      <a:headEnd type="none" w="med" len="med"/>
                      <a:tailEnd type="none" w="med" len="med"/>
                    </a:lnB>
                    <a:solidFill>
                      <a:schemeClr val="bg1"/>
                    </a:solidFill>
                  </a:tcPr>
                </a:tc>
                <a:tc>
                  <a:txBody>
                    <a:bodyPr/>
                    <a:lstStyle/>
                    <a:p>
                      <a:pPr indent="0" marL="0">
                        <a:buNone/>
                      </a:pPr>
                      <a:r>
                        <a:rPr lang="en-US" sz="1100" dirty="0">
                          <a:solidFill>
                            <a:schemeClr val="tx1"/>
                          </a:solidFill>
                          <a:latin typeface="+mn-lt" pitchFamily="34" charset="0"/>
                          <a:ea typeface="+mn-lt" pitchFamily="34" charset="-122"/>
                          <a:cs typeface="+mn-lt" pitchFamily="34" charset="-120"/>
                        </a:rPr>
                        <a:t>+0.36 ± 0.53</a:t>
                      </a:r>
                      <a:endParaRPr lang="en-US" sz="1100" dirty="0">
                        <a:latin typeface="+mn-lt" charset="0"/>
                        <a:ea typeface="+mn-lt" charset="0"/>
                        <a:cs typeface="+mn-lt" charset="0"/>
                      </a:endParaRPr>
                    </a:p>
                  </a:txBody>
                  <a:tcPr marL="45720" marR="45720" marT="45720" marB="45720" anchor="t">
                    <a:lnL w="6350" cap="flat" cmpd="sng" algn="ctr">
                      <a:solidFill>
                        <a:srgbClr val="D9E0E8"/>
                      </a:solidFill>
                      <a:prstDash val="solid"/>
                      <a:round/>
                      <a:headEnd type="none" w="med" len="med"/>
                      <a:tailEnd type="none" w="med" len="med"/>
                    </a:lnL>
                    <a:lnR w="6350" cap="flat" cmpd="sng" algn="ctr">
                      <a:solidFill>
                        <a:srgbClr val="D9E0E8"/>
                      </a:solidFill>
                      <a:prstDash val="solid"/>
                      <a:round/>
                      <a:headEnd type="none" w="med" len="med"/>
                      <a:tailEnd type="none" w="med" len="med"/>
                    </a:lnR>
                    <a:lnT w="6350" cap="flat" cmpd="sng" algn="ctr">
                      <a:solidFill>
                        <a:srgbClr val="D9E0E8"/>
                      </a:solidFill>
                      <a:prstDash val="solid"/>
                      <a:round/>
                      <a:headEnd type="none" w="med" len="med"/>
                      <a:tailEnd type="none" w="med" len="med"/>
                    </a:lnT>
                    <a:lnB w="6350" cap="flat" cmpd="sng" algn="ctr">
                      <a:solidFill>
                        <a:srgbClr val="D9E0E8"/>
                      </a:solidFill>
                      <a:prstDash val="solid"/>
                      <a:round/>
                      <a:headEnd type="none" w="med" len="med"/>
                      <a:tailEnd type="none" w="med" len="med"/>
                    </a:lnB>
                    <a:solidFill>
                      <a:schemeClr val="bg1"/>
                    </a:solidFill>
                  </a:tcPr>
                </a:tc>
                <a:tc>
                  <a:txBody>
                    <a:bodyPr/>
                    <a:lstStyle/>
                    <a:p>
                      <a:pPr indent="0" marL="0">
                        <a:buNone/>
                      </a:pPr>
                      <a:r>
                        <a:rPr lang="en-US" sz="1100" dirty="0">
                          <a:solidFill>
                            <a:schemeClr val="tx1"/>
                          </a:solidFill>
                          <a:latin typeface="+mn-lt" pitchFamily="34" charset="0"/>
                          <a:ea typeface="+mn-lt" pitchFamily="34" charset="-122"/>
                          <a:cs typeface="+mn-lt" pitchFamily="34" charset="-120"/>
                        </a:rPr>
                        <a:t>1.08, P &lt; .001</a:t>
                      </a:r>
                      <a:endParaRPr lang="en-US" sz="1100" dirty="0">
                        <a:latin typeface="+mn-lt" charset="0"/>
                        <a:ea typeface="+mn-lt" charset="0"/>
                        <a:cs typeface="+mn-lt" charset="0"/>
                      </a:endParaRPr>
                    </a:p>
                  </a:txBody>
                  <a:tcPr marL="45720" marR="45720" marT="45720" marB="45720" anchor="t">
                    <a:lnL w="6350" cap="flat" cmpd="sng" algn="ctr">
                      <a:solidFill>
                        <a:srgbClr val="D9E0E8"/>
                      </a:solidFill>
                      <a:prstDash val="solid"/>
                      <a:round/>
                      <a:headEnd type="none" w="med" len="med"/>
                      <a:tailEnd type="none" w="med" len="med"/>
                    </a:lnL>
                    <a:lnR w="6350" cap="flat" cmpd="sng" algn="ctr">
                      <a:solidFill>
                        <a:srgbClr val="D9E0E8"/>
                      </a:solidFill>
                      <a:prstDash val="solid"/>
                      <a:round/>
                      <a:headEnd type="none" w="med" len="med"/>
                      <a:tailEnd type="none" w="med" len="med"/>
                    </a:lnR>
                    <a:lnT w="6350" cap="flat" cmpd="sng" algn="ctr">
                      <a:solidFill>
                        <a:srgbClr val="D9E0E8"/>
                      </a:solidFill>
                      <a:prstDash val="solid"/>
                      <a:round/>
                      <a:headEnd type="none" w="med" len="med"/>
                      <a:tailEnd type="none" w="med" len="med"/>
                    </a:lnT>
                    <a:lnB w="6350" cap="flat" cmpd="sng" algn="ctr">
                      <a:solidFill>
                        <a:srgbClr val="D9E0E8"/>
                      </a:solidFill>
                      <a:prstDash val="solid"/>
                      <a:round/>
                      <a:headEnd type="none" w="med" len="med"/>
                      <a:tailEnd type="none" w="med" len="med"/>
                    </a:lnB>
                    <a:solidFill>
                      <a:schemeClr val="bg1"/>
                    </a:solidFill>
                  </a:tcPr>
                </a:tc>
                <a:tc>
                  <a:txBody>
                    <a:bodyPr/>
                    <a:lstStyle/>
                    <a:p>
                      <a:pPr indent="0" marL="0">
                        <a:buNone/>
                      </a:pPr>
                      <a:r>
                        <a:rPr lang="en-US" sz="1100" dirty="0">
                          <a:solidFill>
                            <a:schemeClr val="tx1"/>
                          </a:solidFill>
                          <a:latin typeface="+mn-lt" pitchFamily="34" charset="0"/>
                          <a:ea typeface="+mn-lt" pitchFamily="34" charset="-122"/>
                          <a:cs typeface="+mn-lt" pitchFamily="34" charset="-120"/>
                        </a:rPr>
                        <a:t>−0.33, NS</a:t>
                      </a:r>
                      <a:endParaRPr lang="en-US" sz="1100" dirty="0">
                        <a:latin typeface="+mn-lt" charset="0"/>
                        <a:ea typeface="+mn-lt" charset="0"/>
                        <a:cs typeface="+mn-lt" charset="0"/>
                      </a:endParaRPr>
                    </a:p>
                  </a:txBody>
                  <a:tcPr marL="45720" marR="45720" marT="45720" marB="45720" anchor="t">
                    <a:lnL w="6350" cap="flat" cmpd="sng" algn="ctr">
                      <a:solidFill>
                        <a:srgbClr val="D9E0E8"/>
                      </a:solidFill>
                      <a:prstDash val="solid"/>
                      <a:round/>
                      <a:headEnd type="none" w="med" len="med"/>
                      <a:tailEnd type="none" w="med" len="med"/>
                    </a:lnL>
                    <a:lnR w="6350" cap="flat" cmpd="sng" algn="ctr">
                      <a:solidFill>
                        <a:srgbClr val="D9E0E8"/>
                      </a:solidFill>
                      <a:prstDash val="solid"/>
                      <a:round/>
                      <a:headEnd type="none" w="med" len="med"/>
                      <a:tailEnd type="none" w="med" len="med"/>
                    </a:lnR>
                    <a:lnT w="6350" cap="flat" cmpd="sng" algn="ctr">
                      <a:solidFill>
                        <a:srgbClr val="D9E0E8"/>
                      </a:solidFill>
                      <a:prstDash val="solid"/>
                      <a:round/>
                      <a:headEnd type="none" w="med" len="med"/>
                      <a:tailEnd type="none" w="med" len="med"/>
                    </a:lnT>
                    <a:lnB w="6350" cap="flat" cmpd="sng" algn="ctr">
                      <a:solidFill>
                        <a:srgbClr val="D9E0E8"/>
                      </a:solidFill>
                      <a:prstDash val="solid"/>
                      <a:round/>
                      <a:headEnd type="none" w="med" len="med"/>
                      <a:tailEnd type="none" w="med" len="med"/>
                    </a:lnB>
                    <a:solidFill>
                      <a:schemeClr val="bg1"/>
                    </a:solidFill>
                  </a:tcPr>
                </a:tc>
              </a:tr>
              <a:tr h="0">
                <a:tc>
                  <a:txBody>
                    <a:bodyPr/>
                    <a:lstStyle/>
                    <a:p>
                      <a:pPr indent="0" marL="0">
                        <a:buNone/>
                      </a:pPr>
                      <a:r>
                        <a:rPr lang="en-US" sz="1100" dirty="0">
                          <a:solidFill>
                            <a:schemeClr val="tx1"/>
                          </a:solidFill>
                          <a:latin typeface="+mn-lt" pitchFamily="34" charset="0"/>
                          <a:ea typeface="+mn-lt" pitchFamily="34" charset="-122"/>
                          <a:cs typeface="+mn-lt" pitchFamily="34" charset="-120"/>
                        </a:rPr>
                        <a:t>ANS</a:t>
                      </a:r>
                      <a:endParaRPr lang="en-US" sz="1100" dirty="0">
                        <a:latin typeface="+mn-lt" charset="0"/>
                        <a:ea typeface="+mn-lt" charset="0"/>
                        <a:cs typeface="+mn-lt" charset="0"/>
                      </a:endParaRPr>
                    </a:p>
                  </a:txBody>
                  <a:tcPr marL="45720" marR="45720" marT="45720" marB="45720" anchor="t">
                    <a:lnL w="6350" cap="flat" cmpd="sng" algn="ctr">
                      <a:solidFill>
                        <a:srgbClr val="D9E0E8"/>
                      </a:solidFill>
                      <a:prstDash val="solid"/>
                      <a:round/>
                      <a:headEnd type="none" w="med" len="med"/>
                      <a:tailEnd type="none" w="med" len="med"/>
                    </a:lnL>
                    <a:lnR w="6350" cap="flat" cmpd="sng" algn="ctr">
                      <a:solidFill>
                        <a:srgbClr val="D9E0E8"/>
                      </a:solidFill>
                      <a:prstDash val="solid"/>
                      <a:round/>
                      <a:headEnd type="none" w="med" len="med"/>
                      <a:tailEnd type="none" w="med" len="med"/>
                    </a:lnR>
                    <a:lnT w="6350" cap="flat" cmpd="sng" algn="ctr">
                      <a:solidFill>
                        <a:srgbClr val="D9E0E8"/>
                      </a:solidFill>
                      <a:prstDash val="solid"/>
                      <a:round/>
                      <a:headEnd type="none" w="med" len="med"/>
                      <a:tailEnd type="none" w="med" len="med"/>
                    </a:lnT>
                    <a:lnB w="6350" cap="flat" cmpd="sng" algn="ctr">
                      <a:solidFill>
                        <a:srgbClr val="D9E0E8"/>
                      </a:solidFill>
                      <a:prstDash val="solid"/>
                      <a:round/>
                      <a:headEnd type="none" w="med" len="med"/>
                      <a:tailEnd type="none" w="med" len="med"/>
                    </a:lnB>
                    <a:solidFill>
                      <a:schemeClr val="bg2"/>
                    </a:solidFill>
                  </a:tcPr>
                </a:tc>
                <a:tc>
                  <a:txBody>
                    <a:bodyPr/>
                    <a:lstStyle/>
                    <a:p>
                      <a:pPr indent="0" marL="0">
                        <a:buNone/>
                      </a:pPr>
                      <a:r>
                        <a:rPr lang="en-US" sz="1100" dirty="0">
                          <a:solidFill>
                            <a:schemeClr val="tx1"/>
                          </a:solidFill>
                          <a:latin typeface="+mn-lt" pitchFamily="34" charset="0"/>
                          <a:ea typeface="+mn-lt" pitchFamily="34" charset="-122"/>
                          <a:cs typeface="+mn-lt" pitchFamily="34" charset="-120"/>
                        </a:rPr>
                        <a:t>−1.62 ± 0.83</a:t>
                      </a:r>
                      <a:endParaRPr lang="en-US" sz="1100" dirty="0">
                        <a:latin typeface="+mn-lt" charset="0"/>
                        <a:ea typeface="+mn-lt" charset="0"/>
                        <a:cs typeface="+mn-lt" charset="0"/>
                      </a:endParaRPr>
                    </a:p>
                  </a:txBody>
                  <a:tcPr marL="45720" marR="45720" marT="45720" marB="45720" anchor="t">
                    <a:lnL w="6350" cap="flat" cmpd="sng" algn="ctr">
                      <a:solidFill>
                        <a:srgbClr val="D9E0E8"/>
                      </a:solidFill>
                      <a:prstDash val="solid"/>
                      <a:round/>
                      <a:headEnd type="none" w="med" len="med"/>
                      <a:tailEnd type="none" w="med" len="med"/>
                    </a:lnL>
                    <a:lnR w="6350" cap="flat" cmpd="sng" algn="ctr">
                      <a:solidFill>
                        <a:srgbClr val="D9E0E8"/>
                      </a:solidFill>
                      <a:prstDash val="solid"/>
                      <a:round/>
                      <a:headEnd type="none" w="med" len="med"/>
                      <a:tailEnd type="none" w="med" len="med"/>
                    </a:lnR>
                    <a:lnT w="6350" cap="flat" cmpd="sng" algn="ctr">
                      <a:solidFill>
                        <a:srgbClr val="D9E0E8"/>
                      </a:solidFill>
                      <a:prstDash val="solid"/>
                      <a:round/>
                      <a:headEnd type="none" w="med" len="med"/>
                      <a:tailEnd type="none" w="med" len="med"/>
                    </a:lnT>
                    <a:lnB w="6350" cap="flat" cmpd="sng" algn="ctr">
                      <a:solidFill>
                        <a:srgbClr val="D9E0E8"/>
                      </a:solidFill>
                      <a:prstDash val="solid"/>
                      <a:round/>
                      <a:headEnd type="none" w="med" len="med"/>
                      <a:tailEnd type="none" w="med" len="med"/>
                    </a:lnB>
                    <a:solidFill>
                      <a:schemeClr val="bg2"/>
                    </a:solidFill>
                  </a:tcPr>
                </a:tc>
                <a:tc>
                  <a:txBody>
                    <a:bodyPr/>
                    <a:lstStyle/>
                    <a:p>
                      <a:pPr indent="0" marL="0">
                        <a:buNone/>
                      </a:pPr>
                      <a:r>
                        <a:rPr lang="en-US" sz="1100" dirty="0">
                          <a:solidFill>
                            <a:schemeClr val="tx1"/>
                          </a:solidFill>
                          <a:latin typeface="+mn-lt" pitchFamily="34" charset="0"/>
                          <a:ea typeface="+mn-lt" pitchFamily="34" charset="-122"/>
                          <a:cs typeface="+mn-lt" pitchFamily="34" charset="-120"/>
                        </a:rPr>
                        <a:t>+0.28 ± 0.70</a:t>
                      </a:r>
                      <a:endParaRPr lang="en-US" sz="1100" dirty="0">
                        <a:latin typeface="+mn-lt" charset="0"/>
                        <a:ea typeface="+mn-lt" charset="0"/>
                        <a:cs typeface="+mn-lt" charset="0"/>
                      </a:endParaRPr>
                    </a:p>
                  </a:txBody>
                  <a:tcPr marL="45720" marR="45720" marT="45720" marB="45720" anchor="t">
                    <a:lnL w="6350" cap="flat" cmpd="sng" algn="ctr">
                      <a:solidFill>
                        <a:srgbClr val="D9E0E8"/>
                      </a:solidFill>
                      <a:prstDash val="solid"/>
                      <a:round/>
                      <a:headEnd type="none" w="med" len="med"/>
                      <a:tailEnd type="none" w="med" len="med"/>
                    </a:lnL>
                    <a:lnR w="6350" cap="flat" cmpd="sng" algn="ctr">
                      <a:solidFill>
                        <a:srgbClr val="D9E0E8"/>
                      </a:solidFill>
                      <a:prstDash val="solid"/>
                      <a:round/>
                      <a:headEnd type="none" w="med" len="med"/>
                      <a:tailEnd type="none" w="med" len="med"/>
                    </a:lnR>
                    <a:lnT w="6350" cap="flat" cmpd="sng" algn="ctr">
                      <a:solidFill>
                        <a:srgbClr val="D9E0E8"/>
                      </a:solidFill>
                      <a:prstDash val="solid"/>
                      <a:round/>
                      <a:headEnd type="none" w="med" len="med"/>
                      <a:tailEnd type="none" w="med" len="med"/>
                    </a:lnT>
                    <a:lnB w="6350" cap="flat" cmpd="sng" algn="ctr">
                      <a:solidFill>
                        <a:srgbClr val="D9E0E8"/>
                      </a:solidFill>
                      <a:prstDash val="solid"/>
                      <a:round/>
                      <a:headEnd type="none" w="med" len="med"/>
                      <a:tailEnd type="none" w="med" len="med"/>
                    </a:lnB>
                    <a:solidFill>
                      <a:schemeClr val="bg2"/>
                    </a:solidFill>
                  </a:tcPr>
                </a:tc>
                <a:tc>
                  <a:txBody>
                    <a:bodyPr/>
                    <a:lstStyle/>
                    <a:p>
                      <a:pPr indent="0" marL="0">
                        <a:buNone/>
                      </a:pPr>
                      <a:r>
                        <a:rPr lang="en-US" sz="1100" dirty="0">
                          <a:solidFill>
                            <a:schemeClr val="tx1"/>
                          </a:solidFill>
                          <a:latin typeface="+mn-lt" pitchFamily="34" charset="0"/>
                          <a:ea typeface="+mn-lt" pitchFamily="34" charset="-122"/>
                          <a:cs typeface="+mn-lt" pitchFamily="34" charset="-120"/>
                        </a:rPr>
                        <a:t>1.88, P &lt; .001</a:t>
                      </a:r>
                      <a:endParaRPr lang="en-US" sz="1100" dirty="0">
                        <a:latin typeface="+mn-lt" charset="0"/>
                        <a:ea typeface="+mn-lt" charset="0"/>
                        <a:cs typeface="+mn-lt" charset="0"/>
                      </a:endParaRPr>
                    </a:p>
                  </a:txBody>
                  <a:tcPr marL="45720" marR="45720" marT="45720" marB="45720" anchor="t">
                    <a:lnL w="6350" cap="flat" cmpd="sng" algn="ctr">
                      <a:solidFill>
                        <a:srgbClr val="D9E0E8"/>
                      </a:solidFill>
                      <a:prstDash val="solid"/>
                      <a:round/>
                      <a:headEnd type="none" w="med" len="med"/>
                      <a:tailEnd type="none" w="med" len="med"/>
                    </a:lnL>
                    <a:lnR w="6350" cap="flat" cmpd="sng" algn="ctr">
                      <a:solidFill>
                        <a:srgbClr val="D9E0E8"/>
                      </a:solidFill>
                      <a:prstDash val="solid"/>
                      <a:round/>
                      <a:headEnd type="none" w="med" len="med"/>
                      <a:tailEnd type="none" w="med" len="med"/>
                    </a:lnR>
                    <a:lnT w="6350" cap="flat" cmpd="sng" algn="ctr">
                      <a:solidFill>
                        <a:srgbClr val="D9E0E8"/>
                      </a:solidFill>
                      <a:prstDash val="solid"/>
                      <a:round/>
                      <a:headEnd type="none" w="med" len="med"/>
                      <a:tailEnd type="none" w="med" len="med"/>
                    </a:lnT>
                    <a:lnB w="6350" cap="flat" cmpd="sng" algn="ctr">
                      <a:solidFill>
                        <a:srgbClr val="D9E0E8"/>
                      </a:solidFill>
                      <a:prstDash val="solid"/>
                      <a:round/>
                      <a:headEnd type="none" w="med" len="med"/>
                      <a:tailEnd type="none" w="med" len="med"/>
                    </a:lnB>
                    <a:solidFill>
                      <a:schemeClr val="bg2"/>
                    </a:solidFill>
                  </a:tcPr>
                </a:tc>
                <a:tc>
                  <a:txBody>
                    <a:bodyPr/>
                    <a:lstStyle/>
                    <a:p>
                      <a:pPr indent="0" marL="0">
                        <a:buNone/>
                      </a:pPr>
                      <a:r>
                        <a:rPr lang="en-US" sz="1100" dirty="0">
                          <a:solidFill>
                            <a:schemeClr val="tx1"/>
                          </a:solidFill>
                          <a:latin typeface="+mn-lt" pitchFamily="34" charset="0"/>
                          <a:ea typeface="+mn-lt" pitchFamily="34" charset="-122"/>
                          <a:cs typeface="+mn-lt" pitchFamily="34" charset="-120"/>
                        </a:rPr>
                        <a:t>−0.17, NS</a:t>
                      </a:r>
                      <a:endParaRPr lang="en-US" sz="1100" dirty="0">
                        <a:latin typeface="+mn-lt" charset="0"/>
                        <a:ea typeface="+mn-lt" charset="0"/>
                        <a:cs typeface="+mn-lt" charset="0"/>
                      </a:endParaRPr>
                    </a:p>
                  </a:txBody>
                  <a:tcPr marL="45720" marR="45720" marT="45720" marB="45720" anchor="t">
                    <a:lnL w="6350" cap="flat" cmpd="sng" algn="ctr">
                      <a:solidFill>
                        <a:srgbClr val="D9E0E8"/>
                      </a:solidFill>
                      <a:prstDash val="solid"/>
                      <a:round/>
                      <a:headEnd type="none" w="med" len="med"/>
                      <a:tailEnd type="none" w="med" len="med"/>
                    </a:lnL>
                    <a:lnR w="6350" cap="flat" cmpd="sng" algn="ctr">
                      <a:solidFill>
                        <a:srgbClr val="D9E0E8"/>
                      </a:solidFill>
                      <a:prstDash val="solid"/>
                      <a:round/>
                      <a:headEnd type="none" w="med" len="med"/>
                      <a:tailEnd type="none" w="med" len="med"/>
                    </a:lnR>
                    <a:lnT w="6350" cap="flat" cmpd="sng" algn="ctr">
                      <a:solidFill>
                        <a:srgbClr val="D9E0E8"/>
                      </a:solidFill>
                      <a:prstDash val="solid"/>
                      <a:round/>
                      <a:headEnd type="none" w="med" len="med"/>
                      <a:tailEnd type="none" w="med" len="med"/>
                    </a:lnT>
                    <a:lnB w="6350" cap="flat" cmpd="sng" algn="ctr">
                      <a:solidFill>
                        <a:srgbClr val="D9E0E8"/>
                      </a:solidFill>
                      <a:prstDash val="solid"/>
                      <a:round/>
                      <a:headEnd type="none" w="med" len="med"/>
                      <a:tailEnd type="none" w="med" len="med"/>
                    </a:lnB>
                    <a:solidFill>
                      <a:schemeClr val="bg2"/>
                    </a:solidFill>
                  </a:tcPr>
                </a:tc>
              </a:tr>
              <a:tr h="0">
                <a:tc>
                  <a:txBody>
                    <a:bodyPr/>
                    <a:lstStyle/>
                    <a:p>
                      <a:pPr indent="0" marL="0">
                        <a:buNone/>
                      </a:pPr>
                      <a:r>
                        <a:rPr lang="en-US" sz="1100" dirty="0">
                          <a:solidFill>
                            <a:schemeClr val="tx1"/>
                          </a:solidFill>
                          <a:latin typeface="+mn-lt" pitchFamily="34" charset="0"/>
                          <a:ea typeface="+mn-lt" pitchFamily="34" charset="-122"/>
                          <a:cs typeface="+mn-lt" pitchFamily="34" charset="-120"/>
                        </a:rPr>
                        <a:t>A point</a:t>
                      </a:r>
                      <a:endParaRPr lang="en-US" sz="1100" dirty="0">
                        <a:latin typeface="+mn-lt" charset="0"/>
                        <a:ea typeface="+mn-lt" charset="0"/>
                        <a:cs typeface="+mn-lt" charset="0"/>
                      </a:endParaRPr>
                    </a:p>
                  </a:txBody>
                  <a:tcPr marL="45720" marR="45720" marT="45720" marB="45720" anchor="t">
                    <a:lnL w="6350" cap="flat" cmpd="sng" algn="ctr">
                      <a:solidFill>
                        <a:srgbClr val="D9E0E8"/>
                      </a:solidFill>
                      <a:prstDash val="solid"/>
                      <a:round/>
                      <a:headEnd type="none" w="med" len="med"/>
                      <a:tailEnd type="none" w="med" len="med"/>
                    </a:lnL>
                    <a:lnR w="6350" cap="flat" cmpd="sng" algn="ctr">
                      <a:solidFill>
                        <a:srgbClr val="D9E0E8"/>
                      </a:solidFill>
                      <a:prstDash val="solid"/>
                      <a:round/>
                      <a:headEnd type="none" w="med" len="med"/>
                      <a:tailEnd type="none" w="med" len="med"/>
                    </a:lnR>
                    <a:lnT w="6350" cap="flat" cmpd="sng" algn="ctr">
                      <a:solidFill>
                        <a:srgbClr val="D9E0E8"/>
                      </a:solidFill>
                      <a:prstDash val="solid"/>
                      <a:round/>
                      <a:headEnd type="none" w="med" len="med"/>
                      <a:tailEnd type="none" w="med" len="med"/>
                    </a:lnT>
                    <a:lnB w="6350" cap="flat" cmpd="sng" algn="ctr">
                      <a:solidFill>
                        <a:srgbClr val="D9E0E8"/>
                      </a:solidFill>
                      <a:prstDash val="solid"/>
                      <a:round/>
                      <a:headEnd type="none" w="med" len="med"/>
                      <a:tailEnd type="none" w="med" len="med"/>
                    </a:lnB>
                    <a:solidFill>
                      <a:schemeClr val="bg1"/>
                    </a:solidFill>
                  </a:tcPr>
                </a:tc>
                <a:tc>
                  <a:txBody>
                    <a:bodyPr/>
                    <a:lstStyle/>
                    <a:p>
                      <a:pPr indent="0" marL="0">
                        <a:buNone/>
                      </a:pPr>
                      <a:r>
                        <a:rPr lang="en-US" sz="1100" dirty="0">
                          <a:solidFill>
                            <a:schemeClr val="tx1"/>
                          </a:solidFill>
                          <a:latin typeface="+mn-lt" pitchFamily="34" charset="0"/>
                          <a:ea typeface="+mn-lt" pitchFamily="34" charset="-122"/>
                          <a:cs typeface="+mn-lt" pitchFamily="34" charset="-120"/>
                        </a:rPr>
                        <a:t>−2.33 ± 1.17</a:t>
                      </a:r>
                      <a:endParaRPr lang="en-US" sz="1100" dirty="0">
                        <a:latin typeface="+mn-lt" charset="0"/>
                        <a:ea typeface="+mn-lt" charset="0"/>
                        <a:cs typeface="+mn-lt" charset="0"/>
                      </a:endParaRPr>
                    </a:p>
                  </a:txBody>
                  <a:tcPr marL="45720" marR="45720" marT="45720" marB="45720" anchor="t">
                    <a:lnL w="6350" cap="flat" cmpd="sng" algn="ctr">
                      <a:solidFill>
                        <a:srgbClr val="D9E0E8"/>
                      </a:solidFill>
                      <a:prstDash val="solid"/>
                      <a:round/>
                      <a:headEnd type="none" w="med" len="med"/>
                      <a:tailEnd type="none" w="med" len="med"/>
                    </a:lnL>
                    <a:lnR w="6350" cap="flat" cmpd="sng" algn="ctr">
                      <a:solidFill>
                        <a:srgbClr val="D9E0E8"/>
                      </a:solidFill>
                      <a:prstDash val="solid"/>
                      <a:round/>
                      <a:headEnd type="none" w="med" len="med"/>
                      <a:tailEnd type="none" w="med" len="med"/>
                    </a:lnR>
                    <a:lnT w="6350" cap="flat" cmpd="sng" algn="ctr">
                      <a:solidFill>
                        <a:srgbClr val="D9E0E8"/>
                      </a:solidFill>
                      <a:prstDash val="solid"/>
                      <a:round/>
                      <a:headEnd type="none" w="med" len="med"/>
                      <a:tailEnd type="none" w="med" len="med"/>
                    </a:lnT>
                    <a:lnB w="6350" cap="flat" cmpd="sng" algn="ctr">
                      <a:solidFill>
                        <a:srgbClr val="D9E0E8"/>
                      </a:solidFill>
                      <a:prstDash val="solid"/>
                      <a:round/>
                      <a:headEnd type="none" w="med" len="med"/>
                      <a:tailEnd type="none" w="med" len="med"/>
                    </a:lnB>
                    <a:solidFill>
                      <a:schemeClr val="bg1"/>
                    </a:solidFill>
                  </a:tcPr>
                </a:tc>
                <a:tc>
                  <a:txBody>
                    <a:bodyPr/>
                    <a:lstStyle/>
                    <a:p>
                      <a:pPr indent="0" marL="0">
                        <a:buNone/>
                      </a:pPr>
                      <a:r>
                        <a:rPr lang="en-US" sz="1100" dirty="0">
                          <a:solidFill>
                            <a:schemeClr val="tx1"/>
                          </a:solidFill>
                          <a:latin typeface="+mn-lt" pitchFamily="34" charset="0"/>
                          <a:ea typeface="+mn-lt" pitchFamily="34" charset="-122"/>
                          <a:cs typeface="+mn-lt" pitchFamily="34" charset="-120"/>
                        </a:rPr>
                        <a:t>−0.47 ± 1.16</a:t>
                      </a:r>
                      <a:endParaRPr lang="en-US" sz="1100" dirty="0">
                        <a:latin typeface="+mn-lt" charset="0"/>
                        <a:ea typeface="+mn-lt" charset="0"/>
                        <a:cs typeface="+mn-lt" charset="0"/>
                      </a:endParaRPr>
                    </a:p>
                  </a:txBody>
                  <a:tcPr marL="45720" marR="45720" marT="45720" marB="45720" anchor="t">
                    <a:lnL w="6350" cap="flat" cmpd="sng" algn="ctr">
                      <a:solidFill>
                        <a:srgbClr val="D9E0E8"/>
                      </a:solidFill>
                      <a:prstDash val="solid"/>
                      <a:round/>
                      <a:headEnd type="none" w="med" len="med"/>
                      <a:tailEnd type="none" w="med" len="med"/>
                    </a:lnL>
                    <a:lnR w="6350" cap="flat" cmpd="sng" algn="ctr">
                      <a:solidFill>
                        <a:srgbClr val="D9E0E8"/>
                      </a:solidFill>
                      <a:prstDash val="solid"/>
                      <a:round/>
                      <a:headEnd type="none" w="med" len="med"/>
                      <a:tailEnd type="none" w="med" len="med"/>
                    </a:lnR>
                    <a:lnT w="6350" cap="flat" cmpd="sng" algn="ctr">
                      <a:solidFill>
                        <a:srgbClr val="D9E0E8"/>
                      </a:solidFill>
                      <a:prstDash val="solid"/>
                      <a:round/>
                      <a:headEnd type="none" w="med" len="med"/>
                      <a:tailEnd type="none" w="med" len="med"/>
                    </a:lnT>
                    <a:lnB w="6350" cap="flat" cmpd="sng" algn="ctr">
                      <a:solidFill>
                        <a:srgbClr val="D9E0E8"/>
                      </a:solidFill>
                      <a:prstDash val="solid"/>
                      <a:round/>
                      <a:headEnd type="none" w="med" len="med"/>
                      <a:tailEnd type="none" w="med" len="med"/>
                    </a:lnB>
                    <a:solidFill>
                      <a:schemeClr val="bg1"/>
                    </a:solidFill>
                  </a:tcPr>
                </a:tc>
                <a:tc>
                  <a:txBody>
                    <a:bodyPr/>
                    <a:lstStyle/>
                    <a:p>
                      <a:pPr indent="0" marL="0">
                        <a:buNone/>
                      </a:pPr>
                      <a:r>
                        <a:rPr lang="en-US" sz="1100" dirty="0">
                          <a:solidFill>
                            <a:schemeClr val="tx1"/>
                          </a:solidFill>
                          <a:latin typeface="+mn-lt" pitchFamily="34" charset="0"/>
                          <a:ea typeface="+mn-lt" pitchFamily="34" charset="-122"/>
                          <a:cs typeface="+mn-lt" pitchFamily="34" charset="-120"/>
                        </a:rPr>
                        <a:t>2.24, P &lt; .001</a:t>
                      </a:r>
                      <a:endParaRPr lang="en-US" sz="1100" dirty="0">
                        <a:latin typeface="+mn-lt" charset="0"/>
                        <a:ea typeface="+mn-lt" charset="0"/>
                        <a:cs typeface="+mn-lt" charset="0"/>
                      </a:endParaRPr>
                    </a:p>
                  </a:txBody>
                  <a:tcPr marL="45720" marR="45720" marT="45720" marB="45720" anchor="t">
                    <a:lnL w="6350" cap="flat" cmpd="sng" algn="ctr">
                      <a:solidFill>
                        <a:srgbClr val="D9E0E8"/>
                      </a:solidFill>
                      <a:prstDash val="solid"/>
                      <a:round/>
                      <a:headEnd type="none" w="med" len="med"/>
                      <a:tailEnd type="none" w="med" len="med"/>
                    </a:lnL>
                    <a:lnR w="6350" cap="flat" cmpd="sng" algn="ctr">
                      <a:solidFill>
                        <a:srgbClr val="D9E0E8"/>
                      </a:solidFill>
                      <a:prstDash val="solid"/>
                      <a:round/>
                      <a:headEnd type="none" w="med" len="med"/>
                      <a:tailEnd type="none" w="med" len="med"/>
                    </a:lnR>
                    <a:lnT w="6350" cap="flat" cmpd="sng" algn="ctr">
                      <a:solidFill>
                        <a:srgbClr val="D9E0E8"/>
                      </a:solidFill>
                      <a:prstDash val="solid"/>
                      <a:round/>
                      <a:headEnd type="none" w="med" len="med"/>
                      <a:tailEnd type="none" w="med" len="med"/>
                    </a:lnT>
                    <a:lnB w="6350" cap="flat" cmpd="sng" algn="ctr">
                      <a:solidFill>
                        <a:srgbClr val="D9E0E8"/>
                      </a:solidFill>
                      <a:prstDash val="solid"/>
                      <a:round/>
                      <a:headEnd type="none" w="med" len="med"/>
                      <a:tailEnd type="none" w="med" len="med"/>
                    </a:lnB>
                    <a:solidFill>
                      <a:schemeClr val="bg1"/>
                    </a:solidFill>
                  </a:tcPr>
                </a:tc>
                <a:tc>
                  <a:txBody>
                    <a:bodyPr/>
                    <a:lstStyle/>
                    <a:p>
                      <a:pPr indent="0" marL="0">
                        <a:buNone/>
                      </a:pPr>
                      <a:r>
                        <a:rPr lang="en-US" sz="1100" dirty="0">
                          <a:solidFill>
                            <a:schemeClr val="tx1"/>
                          </a:solidFill>
                          <a:latin typeface="+mn-lt" pitchFamily="34" charset="0"/>
                          <a:ea typeface="+mn-lt" pitchFamily="34" charset="-122"/>
                          <a:cs typeface="+mn-lt" pitchFamily="34" charset="-120"/>
                        </a:rPr>
                        <a:t>−0.04, NS</a:t>
                      </a:r>
                      <a:endParaRPr lang="en-US" sz="1100" dirty="0">
                        <a:latin typeface="+mn-lt" charset="0"/>
                        <a:ea typeface="+mn-lt" charset="0"/>
                        <a:cs typeface="+mn-lt" charset="0"/>
                      </a:endParaRPr>
                    </a:p>
                  </a:txBody>
                  <a:tcPr marL="45720" marR="45720" marT="45720" marB="45720" anchor="t">
                    <a:lnL w="6350" cap="flat" cmpd="sng" algn="ctr">
                      <a:solidFill>
                        <a:srgbClr val="D9E0E8"/>
                      </a:solidFill>
                      <a:prstDash val="solid"/>
                      <a:round/>
                      <a:headEnd type="none" w="med" len="med"/>
                      <a:tailEnd type="none" w="med" len="med"/>
                    </a:lnL>
                    <a:lnR w="6350" cap="flat" cmpd="sng" algn="ctr">
                      <a:solidFill>
                        <a:srgbClr val="D9E0E8"/>
                      </a:solidFill>
                      <a:prstDash val="solid"/>
                      <a:round/>
                      <a:headEnd type="none" w="med" len="med"/>
                      <a:tailEnd type="none" w="med" len="med"/>
                    </a:lnR>
                    <a:lnT w="6350" cap="flat" cmpd="sng" algn="ctr">
                      <a:solidFill>
                        <a:srgbClr val="D9E0E8"/>
                      </a:solidFill>
                      <a:prstDash val="solid"/>
                      <a:round/>
                      <a:headEnd type="none" w="med" len="med"/>
                      <a:tailEnd type="none" w="med" len="med"/>
                    </a:lnT>
                    <a:lnB w="6350" cap="flat" cmpd="sng" algn="ctr">
                      <a:solidFill>
                        <a:srgbClr val="D9E0E8"/>
                      </a:solidFill>
                      <a:prstDash val="solid"/>
                      <a:round/>
                      <a:headEnd type="none" w="med" len="med"/>
                      <a:tailEnd type="none" w="med" len="med"/>
                    </a:lnB>
                    <a:solidFill>
                      <a:schemeClr val="bg1"/>
                    </a:solidFill>
                  </a:tcPr>
                </a:tc>
              </a:tr>
              <a:tr h="0">
                <a:tc>
                  <a:txBody>
                    <a:bodyPr/>
                    <a:lstStyle/>
                    <a:p>
                      <a:pPr indent="0" marL="0">
                        <a:buNone/>
                      </a:pPr>
                      <a:r>
                        <a:rPr lang="en-US" sz="1100" dirty="0">
                          <a:solidFill>
                            <a:schemeClr val="tx1"/>
                          </a:solidFill>
                          <a:latin typeface="+mn-lt" pitchFamily="34" charset="0"/>
                          <a:ea typeface="+mn-lt" pitchFamily="34" charset="-122"/>
                          <a:cs typeface="+mn-lt" pitchFamily="34" charset="-120"/>
                        </a:rPr>
                        <a:t>U6 cusp</a:t>
                      </a:r>
                      <a:endParaRPr lang="en-US" sz="1100" dirty="0">
                        <a:latin typeface="+mn-lt" charset="0"/>
                        <a:ea typeface="+mn-lt" charset="0"/>
                        <a:cs typeface="+mn-lt" charset="0"/>
                      </a:endParaRPr>
                    </a:p>
                  </a:txBody>
                  <a:tcPr marL="45720" marR="45720" marT="45720" marB="45720" anchor="t">
                    <a:lnL w="6350" cap="flat" cmpd="sng" algn="ctr">
                      <a:solidFill>
                        <a:srgbClr val="D9E0E8"/>
                      </a:solidFill>
                      <a:prstDash val="solid"/>
                      <a:round/>
                      <a:headEnd type="none" w="med" len="med"/>
                      <a:tailEnd type="none" w="med" len="med"/>
                    </a:lnL>
                    <a:lnR w="6350" cap="flat" cmpd="sng" algn="ctr">
                      <a:solidFill>
                        <a:srgbClr val="D9E0E8"/>
                      </a:solidFill>
                      <a:prstDash val="solid"/>
                      <a:round/>
                      <a:headEnd type="none" w="med" len="med"/>
                      <a:tailEnd type="none" w="med" len="med"/>
                    </a:lnR>
                    <a:lnT w="6350" cap="flat" cmpd="sng" algn="ctr">
                      <a:solidFill>
                        <a:srgbClr val="D9E0E8"/>
                      </a:solidFill>
                      <a:prstDash val="solid"/>
                      <a:round/>
                      <a:headEnd type="none" w="med" len="med"/>
                      <a:tailEnd type="none" w="med" len="med"/>
                    </a:lnT>
                    <a:lnB w="6350" cap="flat" cmpd="sng" algn="ctr">
                      <a:solidFill>
                        <a:srgbClr val="D9E0E8"/>
                      </a:solidFill>
                      <a:prstDash val="solid"/>
                      <a:round/>
                      <a:headEnd type="none" w="med" len="med"/>
                      <a:tailEnd type="none" w="med" len="med"/>
                    </a:lnB>
                    <a:solidFill>
                      <a:schemeClr val="bg2"/>
                    </a:solidFill>
                  </a:tcPr>
                </a:tc>
                <a:tc>
                  <a:txBody>
                    <a:bodyPr/>
                    <a:lstStyle/>
                    <a:p>
                      <a:pPr indent="0" marL="0">
                        <a:buNone/>
                      </a:pPr>
                      <a:r>
                        <a:rPr lang="en-US" sz="1100" dirty="0">
                          <a:solidFill>
                            <a:schemeClr val="tx1"/>
                          </a:solidFill>
                          <a:latin typeface="+mn-lt" pitchFamily="34" charset="0"/>
                          <a:ea typeface="+mn-lt" pitchFamily="34" charset="-122"/>
                          <a:cs typeface="+mn-lt" pitchFamily="34" charset="-120"/>
                        </a:rPr>
                        <a:t>−4.75 ± 2.13</a:t>
                      </a:r>
                      <a:endParaRPr lang="en-US" sz="1100" dirty="0">
                        <a:latin typeface="+mn-lt" charset="0"/>
                        <a:ea typeface="+mn-lt" charset="0"/>
                        <a:cs typeface="+mn-lt" charset="0"/>
                      </a:endParaRPr>
                    </a:p>
                  </a:txBody>
                  <a:tcPr marL="45720" marR="45720" marT="45720" marB="45720" anchor="t">
                    <a:lnL w="6350" cap="flat" cmpd="sng" algn="ctr">
                      <a:solidFill>
                        <a:srgbClr val="D9E0E8"/>
                      </a:solidFill>
                      <a:prstDash val="solid"/>
                      <a:round/>
                      <a:headEnd type="none" w="med" len="med"/>
                      <a:tailEnd type="none" w="med" len="med"/>
                    </a:lnL>
                    <a:lnR w="6350" cap="flat" cmpd="sng" algn="ctr">
                      <a:solidFill>
                        <a:srgbClr val="D9E0E8"/>
                      </a:solidFill>
                      <a:prstDash val="solid"/>
                      <a:round/>
                      <a:headEnd type="none" w="med" len="med"/>
                      <a:tailEnd type="none" w="med" len="med"/>
                    </a:lnR>
                    <a:lnT w="6350" cap="flat" cmpd="sng" algn="ctr">
                      <a:solidFill>
                        <a:srgbClr val="D9E0E8"/>
                      </a:solidFill>
                      <a:prstDash val="solid"/>
                      <a:round/>
                      <a:headEnd type="none" w="med" len="med"/>
                      <a:tailEnd type="none" w="med" len="med"/>
                    </a:lnT>
                    <a:lnB w="6350" cap="flat" cmpd="sng" algn="ctr">
                      <a:solidFill>
                        <a:srgbClr val="D9E0E8"/>
                      </a:solidFill>
                      <a:prstDash val="solid"/>
                      <a:round/>
                      <a:headEnd type="none" w="med" len="med"/>
                      <a:tailEnd type="none" w="med" len="med"/>
                    </a:lnB>
                    <a:solidFill>
                      <a:schemeClr val="bg2"/>
                    </a:solidFill>
                  </a:tcPr>
                </a:tc>
                <a:tc>
                  <a:txBody>
                    <a:bodyPr/>
                    <a:lstStyle/>
                    <a:p>
                      <a:pPr indent="0" marL="0">
                        <a:buNone/>
                      </a:pPr>
                      <a:r>
                        <a:rPr lang="en-US" sz="1100" dirty="0">
                          <a:solidFill>
                            <a:schemeClr val="tx1"/>
                          </a:solidFill>
                          <a:latin typeface="+mn-lt" pitchFamily="34" charset="0"/>
                          <a:ea typeface="+mn-lt" pitchFamily="34" charset="-122"/>
                          <a:cs typeface="+mn-lt" pitchFamily="34" charset="-120"/>
                        </a:rPr>
                        <a:t>−3.40 ± 1.68</a:t>
                      </a:r>
                      <a:endParaRPr lang="en-US" sz="1100" dirty="0">
                        <a:latin typeface="+mn-lt" charset="0"/>
                        <a:ea typeface="+mn-lt" charset="0"/>
                        <a:cs typeface="+mn-lt" charset="0"/>
                      </a:endParaRPr>
                    </a:p>
                  </a:txBody>
                  <a:tcPr marL="45720" marR="45720" marT="45720" marB="45720" anchor="t">
                    <a:lnL w="6350" cap="flat" cmpd="sng" algn="ctr">
                      <a:solidFill>
                        <a:srgbClr val="D9E0E8"/>
                      </a:solidFill>
                      <a:prstDash val="solid"/>
                      <a:round/>
                      <a:headEnd type="none" w="med" len="med"/>
                      <a:tailEnd type="none" w="med" len="med"/>
                    </a:lnL>
                    <a:lnR w="6350" cap="flat" cmpd="sng" algn="ctr">
                      <a:solidFill>
                        <a:srgbClr val="D9E0E8"/>
                      </a:solidFill>
                      <a:prstDash val="solid"/>
                      <a:round/>
                      <a:headEnd type="none" w="med" len="med"/>
                      <a:tailEnd type="none" w="med" len="med"/>
                    </a:lnR>
                    <a:lnT w="6350" cap="flat" cmpd="sng" algn="ctr">
                      <a:solidFill>
                        <a:srgbClr val="D9E0E8"/>
                      </a:solidFill>
                      <a:prstDash val="solid"/>
                      <a:round/>
                      <a:headEnd type="none" w="med" len="med"/>
                      <a:tailEnd type="none" w="med" len="med"/>
                    </a:lnT>
                    <a:lnB w="6350" cap="flat" cmpd="sng" algn="ctr">
                      <a:solidFill>
                        <a:srgbClr val="D9E0E8"/>
                      </a:solidFill>
                      <a:prstDash val="solid"/>
                      <a:round/>
                      <a:headEnd type="none" w="med" len="med"/>
                      <a:tailEnd type="none" w="med" len="med"/>
                    </a:lnB>
                    <a:solidFill>
                      <a:schemeClr val="bg2"/>
                    </a:solidFill>
                  </a:tcPr>
                </a:tc>
                <a:tc>
                  <a:txBody>
                    <a:bodyPr/>
                    <a:lstStyle/>
                    <a:p>
                      <a:pPr indent="0" marL="0">
                        <a:buNone/>
                      </a:pPr>
                      <a:r>
                        <a:rPr lang="en-US" sz="1100" dirty="0">
                          <a:solidFill>
                            <a:schemeClr val="tx1"/>
                          </a:solidFill>
                          <a:latin typeface="+mn-lt" pitchFamily="34" charset="0"/>
                          <a:ea typeface="+mn-lt" pitchFamily="34" charset="-122"/>
                          <a:cs typeface="+mn-lt" pitchFamily="34" charset="-120"/>
                        </a:rPr>
                        <a:t>1.33, P &lt; .001 or better</a:t>
                      </a:r>
                      <a:endParaRPr lang="en-US" sz="1100" dirty="0">
                        <a:latin typeface="+mn-lt" charset="0"/>
                        <a:ea typeface="+mn-lt" charset="0"/>
                        <a:cs typeface="+mn-lt" charset="0"/>
                      </a:endParaRPr>
                    </a:p>
                  </a:txBody>
                  <a:tcPr marL="45720" marR="45720" marT="45720" marB="45720" anchor="t">
                    <a:lnL w="6350" cap="flat" cmpd="sng" algn="ctr">
                      <a:solidFill>
                        <a:srgbClr val="D9E0E8"/>
                      </a:solidFill>
                      <a:prstDash val="solid"/>
                      <a:round/>
                      <a:headEnd type="none" w="med" len="med"/>
                      <a:tailEnd type="none" w="med" len="med"/>
                    </a:lnL>
                    <a:lnR w="6350" cap="flat" cmpd="sng" algn="ctr">
                      <a:solidFill>
                        <a:srgbClr val="D9E0E8"/>
                      </a:solidFill>
                      <a:prstDash val="solid"/>
                      <a:round/>
                      <a:headEnd type="none" w="med" len="med"/>
                      <a:tailEnd type="none" w="med" len="med"/>
                    </a:lnR>
                    <a:lnT w="6350" cap="flat" cmpd="sng" algn="ctr">
                      <a:solidFill>
                        <a:srgbClr val="D9E0E8"/>
                      </a:solidFill>
                      <a:prstDash val="solid"/>
                      <a:round/>
                      <a:headEnd type="none" w="med" len="med"/>
                      <a:tailEnd type="none" w="med" len="med"/>
                    </a:lnT>
                    <a:lnB w="6350" cap="flat" cmpd="sng" algn="ctr">
                      <a:solidFill>
                        <a:srgbClr val="D9E0E8"/>
                      </a:solidFill>
                      <a:prstDash val="solid"/>
                      <a:round/>
                      <a:headEnd type="none" w="med" len="med"/>
                      <a:tailEnd type="none" w="med" len="med"/>
                    </a:lnB>
                    <a:solidFill>
                      <a:schemeClr val="bg2"/>
                    </a:solidFill>
                  </a:tcPr>
                </a:tc>
                <a:tc>
                  <a:txBody>
                    <a:bodyPr/>
                    <a:lstStyle/>
                    <a:p>
                      <a:pPr indent="0" marL="0">
                        <a:buNone/>
                      </a:pPr>
                      <a:r>
                        <a:rPr lang="en-US" sz="1100" dirty="0">
                          <a:solidFill>
                            <a:schemeClr val="tx1"/>
                          </a:solidFill>
                          <a:latin typeface="+mn-lt" pitchFamily="34" charset="0"/>
                          <a:ea typeface="+mn-lt" pitchFamily="34" charset="-122"/>
                          <a:cs typeface="+mn-lt" pitchFamily="34" charset="-120"/>
                        </a:rPr>
                        <a:t>−0.29, NS</a:t>
                      </a:r>
                      <a:endParaRPr lang="en-US" sz="1100" dirty="0">
                        <a:latin typeface="+mn-lt" charset="0"/>
                        <a:ea typeface="+mn-lt" charset="0"/>
                        <a:cs typeface="+mn-lt" charset="0"/>
                      </a:endParaRPr>
                    </a:p>
                  </a:txBody>
                  <a:tcPr marL="45720" marR="45720" marT="45720" marB="45720" anchor="t">
                    <a:lnL w="6350" cap="flat" cmpd="sng" algn="ctr">
                      <a:solidFill>
                        <a:srgbClr val="D9E0E8"/>
                      </a:solidFill>
                      <a:prstDash val="solid"/>
                      <a:round/>
                      <a:headEnd type="none" w="med" len="med"/>
                      <a:tailEnd type="none" w="med" len="med"/>
                    </a:lnL>
                    <a:lnR w="6350" cap="flat" cmpd="sng" algn="ctr">
                      <a:solidFill>
                        <a:srgbClr val="D9E0E8"/>
                      </a:solidFill>
                      <a:prstDash val="solid"/>
                      <a:round/>
                      <a:headEnd type="none" w="med" len="med"/>
                      <a:tailEnd type="none" w="med" len="med"/>
                    </a:lnR>
                    <a:lnT w="6350" cap="flat" cmpd="sng" algn="ctr">
                      <a:solidFill>
                        <a:srgbClr val="D9E0E8"/>
                      </a:solidFill>
                      <a:prstDash val="solid"/>
                      <a:round/>
                      <a:headEnd type="none" w="med" len="med"/>
                      <a:tailEnd type="none" w="med" len="med"/>
                    </a:lnT>
                    <a:lnB w="6350" cap="flat" cmpd="sng" algn="ctr">
                      <a:solidFill>
                        <a:srgbClr val="D9E0E8"/>
                      </a:solidFill>
                      <a:prstDash val="solid"/>
                      <a:round/>
                      <a:headEnd type="none" w="med" len="med"/>
                      <a:tailEnd type="none" w="med" len="med"/>
                    </a:lnB>
                    <a:solidFill>
                      <a:schemeClr val="bg2"/>
                    </a:solidFill>
                  </a:tcPr>
                </a:tc>
              </a:tr>
              <a:tr h="0">
                <a:tc>
                  <a:txBody>
                    <a:bodyPr/>
                    <a:lstStyle/>
                    <a:p>
                      <a:pPr indent="0" marL="0">
                        <a:buNone/>
                      </a:pPr>
                      <a:r>
                        <a:rPr lang="en-US" sz="1100" dirty="0">
                          <a:solidFill>
                            <a:schemeClr val="tx1"/>
                          </a:solidFill>
                          <a:latin typeface="+mn-lt" pitchFamily="34" charset="0"/>
                          <a:ea typeface="+mn-lt" pitchFamily="34" charset="-122"/>
                          <a:cs typeface="+mn-lt" pitchFamily="34" charset="-120"/>
                        </a:rPr>
                        <a:t>UI edge</a:t>
                      </a:r>
                      <a:endParaRPr lang="en-US" sz="1100" dirty="0">
                        <a:latin typeface="+mn-lt" charset="0"/>
                        <a:ea typeface="+mn-lt" charset="0"/>
                        <a:cs typeface="+mn-lt" charset="0"/>
                      </a:endParaRPr>
                    </a:p>
                  </a:txBody>
                  <a:tcPr marL="45720" marR="45720" marT="45720" marB="45720" anchor="t">
                    <a:lnL w="6350" cap="flat" cmpd="sng" algn="ctr">
                      <a:solidFill>
                        <a:srgbClr val="D9E0E8"/>
                      </a:solidFill>
                      <a:prstDash val="solid"/>
                      <a:round/>
                      <a:headEnd type="none" w="med" len="med"/>
                      <a:tailEnd type="none" w="med" len="med"/>
                    </a:lnL>
                    <a:lnR w="6350" cap="flat" cmpd="sng" algn="ctr">
                      <a:solidFill>
                        <a:srgbClr val="D9E0E8"/>
                      </a:solidFill>
                      <a:prstDash val="solid"/>
                      <a:round/>
                      <a:headEnd type="none" w="med" len="med"/>
                      <a:tailEnd type="none" w="med" len="med"/>
                    </a:lnR>
                    <a:lnT w="6350" cap="flat" cmpd="sng" algn="ctr">
                      <a:solidFill>
                        <a:srgbClr val="D9E0E8"/>
                      </a:solidFill>
                      <a:prstDash val="solid"/>
                      <a:round/>
                      <a:headEnd type="none" w="med" len="med"/>
                      <a:tailEnd type="none" w="med" len="med"/>
                    </a:lnT>
                    <a:lnB w="6350" cap="flat" cmpd="sng" algn="ctr">
                      <a:solidFill>
                        <a:srgbClr val="D9E0E8"/>
                      </a:solidFill>
                      <a:prstDash val="solid"/>
                      <a:round/>
                      <a:headEnd type="none" w="med" len="med"/>
                      <a:tailEnd type="none" w="med" len="med"/>
                    </a:lnB>
                    <a:solidFill>
                      <a:schemeClr val="bg1"/>
                    </a:solidFill>
                  </a:tcPr>
                </a:tc>
                <a:tc>
                  <a:txBody>
                    <a:bodyPr/>
                    <a:lstStyle/>
                    <a:p>
                      <a:pPr indent="0" marL="0">
                        <a:buNone/>
                      </a:pPr>
                      <a:r>
                        <a:rPr lang="en-US" sz="1100" dirty="0">
                          <a:solidFill>
                            <a:schemeClr val="tx1"/>
                          </a:solidFill>
                          <a:latin typeface="+mn-lt" pitchFamily="34" charset="0"/>
                          <a:ea typeface="+mn-lt" pitchFamily="34" charset="-122"/>
                          <a:cs typeface="+mn-lt" pitchFamily="34" charset="-120"/>
                        </a:rPr>
                        <a:t>−3.39 ± 2.72</a:t>
                      </a:r>
                      <a:endParaRPr lang="en-US" sz="1100" dirty="0">
                        <a:latin typeface="+mn-lt" charset="0"/>
                        <a:ea typeface="+mn-lt" charset="0"/>
                        <a:cs typeface="+mn-lt" charset="0"/>
                      </a:endParaRPr>
                    </a:p>
                  </a:txBody>
                  <a:tcPr marL="45720" marR="45720" marT="45720" marB="45720" anchor="t">
                    <a:lnL w="6350" cap="flat" cmpd="sng" algn="ctr">
                      <a:solidFill>
                        <a:srgbClr val="D9E0E8"/>
                      </a:solidFill>
                      <a:prstDash val="solid"/>
                      <a:round/>
                      <a:headEnd type="none" w="med" len="med"/>
                      <a:tailEnd type="none" w="med" len="med"/>
                    </a:lnL>
                    <a:lnR w="6350" cap="flat" cmpd="sng" algn="ctr">
                      <a:solidFill>
                        <a:srgbClr val="D9E0E8"/>
                      </a:solidFill>
                      <a:prstDash val="solid"/>
                      <a:round/>
                      <a:headEnd type="none" w="med" len="med"/>
                      <a:tailEnd type="none" w="med" len="med"/>
                    </a:lnR>
                    <a:lnT w="6350" cap="flat" cmpd="sng" algn="ctr">
                      <a:solidFill>
                        <a:srgbClr val="D9E0E8"/>
                      </a:solidFill>
                      <a:prstDash val="solid"/>
                      <a:round/>
                      <a:headEnd type="none" w="med" len="med"/>
                      <a:tailEnd type="none" w="med" len="med"/>
                    </a:lnT>
                    <a:lnB w="6350" cap="flat" cmpd="sng" algn="ctr">
                      <a:solidFill>
                        <a:srgbClr val="D9E0E8"/>
                      </a:solidFill>
                      <a:prstDash val="solid"/>
                      <a:round/>
                      <a:headEnd type="none" w="med" len="med"/>
                      <a:tailEnd type="none" w="med" len="med"/>
                    </a:lnB>
                    <a:solidFill>
                      <a:schemeClr val="bg1"/>
                    </a:solidFill>
                  </a:tcPr>
                </a:tc>
                <a:tc>
                  <a:txBody>
                    <a:bodyPr/>
                    <a:lstStyle/>
                    <a:p>
                      <a:pPr indent="0" marL="0">
                        <a:buNone/>
                      </a:pPr>
                      <a:r>
                        <a:rPr lang="en-US" sz="1100" dirty="0">
                          <a:solidFill>
                            <a:schemeClr val="tx1"/>
                          </a:solidFill>
                          <a:latin typeface="+mn-lt" pitchFamily="34" charset="0"/>
                          <a:ea typeface="+mn-lt" pitchFamily="34" charset="-122"/>
                          <a:cs typeface="+mn-lt" pitchFamily="34" charset="-120"/>
                        </a:rPr>
                        <a:t>−1.40 ± 2.30</a:t>
                      </a:r>
                      <a:endParaRPr lang="en-US" sz="1100" dirty="0">
                        <a:latin typeface="+mn-lt" charset="0"/>
                        <a:ea typeface="+mn-lt" charset="0"/>
                        <a:cs typeface="+mn-lt" charset="0"/>
                      </a:endParaRPr>
                    </a:p>
                  </a:txBody>
                  <a:tcPr marL="45720" marR="45720" marT="45720" marB="45720" anchor="t">
                    <a:lnL w="6350" cap="flat" cmpd="sng" algn="ctr">
                      <a:solidFill>
                        <a:srgbClr val="D9E0E8"/>
                      </a:solidFill>
                      <a:prstDash val="solid"/>
                      <a:round/>
                      <a:headEnd type="none" w="med" len="med"/>
                      <a:tailEnd type="none" w="med" len="med"/>
                    </a:lnL>
                    <a:lnR w="6350" cap="flat" cmpd="sng" algn="ctr">
                      <a:solidFill>
                        <a:srgbClr val="D9E0E8"/>
                      </a:solidFill>
                      <a:prstDash val="solid"/>
                      <a:round/>
                      <a:headEnd type="none" w="med" len="med"/>
                      <a:tailEnd type="none" w="med" len="med"/>
                    </a:lnR>
                    <a:lnT w="6350" cap="flat" cmpd="sng" algn="ctr">
                      <a:solidFill>
                        <a:srgbClr val="D9E0E8"/>
                      </a:solidFill>
                      <a:prstDash val="solid"/>
                      <a:round/>
                      <a:headEnd type="none" w="med" len="med"/>
                      <a:tailEnd type="none" w="med" len="med"/>
                    </a:lnT>
                    <a:lnB w="6350" cap="flat" cmpd="sng" algn="ctr">
                      <a:solidFill>
                        <a:srgbClr val="D9E0E8"/>
                      </a:solidFill>
                      <a:prstDash val="solid"/>
                      <a:round/>
                      <a:headEnd type="none" w="med" len="med"/>
                      <a:tailEnd type="none" w="med" len="med"/>
                    </a:lnB>
                    <a:solidFill>
                      <a:schemeClr val="bg1"/>
                    </a:solidFill>
                  </a:tcPr>
                </a:tc>
                <a:tc>
                  <a:txBody>
                    <a:bodyPr/>
                    <a:lstStyle/>
                    <a:p>
                      <a:pPr indent="0" marL="0">
                        <a:buNone/>
                      </a:pPr>
                      <a:r>
                        <a:rPr lang="en-US" sz="1100" dirty="0">
                          <a:solidFill>
                            <a:schemeClr val="tx1"/>
                          </a:solidFill>
                          <a:latin typeface="+mn-lt" pitchFamily="34" charset="0"/>
                          <a:ea typeface="+mn-lt" pitchFamily="34" charset="-122"/>
                          <a:cs typeface="+mn-lt" pitchFamily="34" charset="-120"/>
                        </a:rPr>
                        <a:t>1.84, P &lt; .001 or better</a:t>
                      </a:r>
                      <a:endParaRPr lang="en-US" sz="1100" dirty="0">
                        <a:latin typeface="+mn-lt" charset="0"/>
                        <a:ea typeface="+mn-lt" charset="0"/>
                        <a:cs typeface="+mn-lt" charset="0"/>
                      </a:endParaRPr>
                    </a:p>
                  </a:txBody>
                  <a:tcPr marL="45720" marR="45720" marT="45720" marB="45720" anchor="t">
                    <a:lnL w="6350" cap="flat" cmpd="sng" algn="ctr">
                      <a:solidFill>
                        <a:srgbClr val="D9E0E8"/>
                      </a:solidFill>
                      <a:prstDash val="solid"/>
                      <a:round/>
                      <a:headEnd type="none" w="med" len="med"/>
                      <a:tailEnd type="none" w="med" len="med"/>
                    </a:lnL>
                    <a:lnR w="6350" cap="flat" cmpd="sng" algn="ctr">
                      <a:solidFill>
                        <a:srgbClr val="D9E0E8"/>
                      </a:solidFill>
                      <a:prstDash val="solid"/>
                      <a:round/>
                      <a:headEnd type="none" w="med" len="med"/>
                      <a:tailEnd type="none" w="med" len="med"/>
                    </a:lnR>
                    <a:lnT w="6350" cap="flat" cmpd="sng" algn="ctr">
                      <a:solidFill>
                        <a:srgbClr val="D9E0E8"/>
                      </a:solidFill>
                      <a:prstDash val="solid"/>
                      <a:round/>
                      <a:headEnd type="none" w="med" len="med"/>
                      <a:tailEnd type="none" w="med" len="med"/>
                    </a:lnT>
                    <a:lnB w="6350" cap="flat" cmpd="sng" algn="ctr">
                      <a:solidFill>
                        <a:srgbClr val="D9E0E8"/>
                      </a:solidFill>
                      <a:prstDash val="solid"/>
                      <a:round/>
                      <a:headEnd type="none" w="med" len="med"/>
                      <a:tailEnd type="none" w="med" len="med"/>
                    </a:lnB>
                    <a:solidFill>
                      <a:schemeClr val="bg1"/>
                    </a:solidFill>
                  </a:tcPr>
                </a:tc>
                <a:tc>
                  <a:txBody>
                    <a:bodyPr/>
                    <a:lstStyle/>
                    <a:p>
                      <a:pPr indent="0" marL="0">
                        <a:buNone/>
                      </a:pPr>
                      <a:r>
                        <a:rPr lang="en-US" sz="1100" dirty="0">
                          <a:solidFill>
                            <a:schemeClr val="tx1"/>
                          </a:solidFill>
                          <a:latin typeface="+mn-lt" pitchFamily="34" charset="0"/>
                          <a:ea typeface="+mn-lt" pitchFamily="34" charset="-122"/>
                          <a:cs typeface="+mn-lt" pitchFamily="34" charset="-120"/>
                        </a:rPr>
                        <a:t>−0.20, NS</a:t>
                      </a:r>
                      <a:endParaRPr lang="en-US" sz="1100" dirty="0">
                        <a:latin typeface="+mn-lt" charset="0"/>
                        <a:ea typeface="+mn-lt" charset="0"/>
                        <a:cs typeface="+mn-lt" charset="0"/>
                      </a:endParaRPr>
                    </a:p>
                  </a:txBody>
                  <a:tcPr marL="45720" marR="45720" marT="45720" marB="45720" anchor="t">
                    <a:lnL w="6350" cap="flat" cmpd="sng" algn="ctr">
                      <a:solidFill>
                        <a:srgbClr val="D9E0E8"/>
                      </a:solidFill>
                      <a:prstDash val="solid"/>
                      <a:round/>
                      <a:headEnd type="none" w="med" len="med"/>
                      <a:tailEnd type="none" w="med" len="med"/>
                    </a:lnL>
                    <a:lnR w="6350" cap="flat" cmpd="sng" algn="ctr">
                      <a:solidFill>
                        <a:srgbClr val="D9E0E8"/>
                      </a:solidFill>
                      <a:prstDash val="solid"/>
                      <a:round/>
                      <a:headEnd type="none" w="med" len="med"/>
                      <a:tailEnd type="none" w="med" len="med"/>
                    </a:lnR>
                    <a:lnT w="6350" cap="flat" cmpd="sng" algn="ctr">
                      <a:solidFill>
                        <a:srgbClr val="D9E0E8"/>
                      </a:solidFill>
                      <a:prstDash val="solid"/>
                      <a:round/>
                      <a:headEnd type="none" w="med" len="med"/>
                      <a:tailEnd type="none" w="med" len="med"/>
                    </a:lnT>
                    <a:lnB w="6350" cap="flat" cmpd="sng" algn="ctr">
                      <a:solidFill>
                        <a:srgbClr val="D9E0E8"/>
                      </a:solidFill>
                      <a:prstDash val="solid"/>
                      <a:round/>
                      <a:headEnd type="none" w="med" len="med"/>
                      <a:tailEnd type="none" w="med" len="med"/>
                    </a:lnB>
                    <a:solidFill>
                      <a:schemeClr val="bg1"/>
                    </a:solidFill>
                  </a:tcPr>
                </a:tc>
              </a:tr>
            </a:tbl>
          </a:graphicData>
        </a:graphic>
      </p:graphicFrame>
      <p:sp>
        <p:nvSpPr>
          <p:cNvPr id="4" name="table-note"/>
          <p:cNvSpPr txBox="1"/>
          <p:nvPr/>
        </p:nvSpPr>
        <p:spPr>
          <a:xfrm>
            <a:off x="457200" y="3461004"/>
            <a:ext cx="8229600" cy="548640"/>
          </a:xfrm>
          <a:prstGeom prst="rect">
            <a:avLst/>
          </a:prstGeom>
          <a:noFill/>
          <a:ln/>
        </p:spPr>
        <p:txBody>
          <a:bodyPr wrap="square" lIns="0" tIns="0" rIns="0" bIns="0" rtlCol="0" anchor="t"/>
          <a:lstStyle/>
          <a:p>
            <a:pPr marL="177800" indent="-177800">
              <a:spcAft>
                <a:spcPts val="600"/>
              </a:spcAft>
              <a:buSzPct val="100000"/>
              <a:buChar char="•"/>
            </a:pPr>
            <a:r>
              <a:rPr lang="en-US" sz="1100" dirty="0">
                <a:solidFill>
                  <a:srgbClr val="000000"/>
                </a:solidFill>
              </a:rPr>
              <a:t>vertical change over 4 years, mm, negative = downward (Tables I–IV)</a:t>
            </a:r>
            <a:endParaRPr lang="en-US" sz="1100" dirty="0"/>
          </a:p>
          <a:p>
            <a:pPr marL="177800" indent="-177800">
              <a:spcAft>
                <a:spcPts val="600"/>
              </a:spcAft>
              <a:buSzPct val="100000"/>
              <a:buChar char="•"/>
            </a:pPr>
            <a:r>
              <a:rPr lang="en-US" sz="1100" dirty="0">
                <a:solidFill>
                  <a:srgbClr val="000000"/>
                </a:solidFill>
              </a:rPr>
              <a:t>Horizontal: implant − structural 0.53–0.66 mm, P &lt; .01; A point 0.41 mm, NS (Tables III–IV).</a:t>
            </a:r>
            <a:endParaRPr lang="en-US" sz="1100" dirty="0"/>
          </a:p>
        </p:txBody>
      </p:sp>
      <p:sp>
        <p:nvSpPr>
          <p:cNvPr id="25" name="Slide Number Placeholder 0"/>
          <p:cNvSpPr>
            <a:spLocks noGrp="1"/>
          </p:cNvSpPr>
          <p:nvPr>
            <p:ph type="sldNum" sz="quarter" idx="4294967295"/>
          </p:nvPr>
        </p:nvSpPr>
        <p:spPr>
          <a:xfrm>
            <a:off x="8321040" y="4754880"/>
            <a:ext cx="36576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l"/>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731520"/>
          </a:xfrm>
          <a:prstGeom prst="rect">
            <a:avLst/>
          </a:prstGeom>
          <a:noFill/>
          <a:ln/>
        </p:spPr>
        <p:txBody>
          <a:bodyPr wrap="square" lIns="0" tIns="0" rIns="0" bIns="0" rtlCol="0" anchor="ctr"/>
          <a:lstStyle/>
          <a:p>
            <a:pPr algn="l" indent="0" marL="0">
              <a:buNone/>
            </a:pPr>
            <a:r>
              <a:rPr lang="en-US" sz="2800" b="1" dirty="0">
                <a:solidFill>
                  <a:schemeClr val="tx2"/>
                </a:solidFill>
              </a:rPr>
              <a:t>Doppel 1994: aim and method</a:t>
            </a:r>
            <a:endParaRPr lang="en-US" sz="2800" dirty="0"/>
          </a:p>
        </p:txBody>
      </p:sp>
      <p:sp>
        <p:nvSpPr>
          <p:cNvPr id="3" name="Text 0"/>
          <p:cNvSpPr/>
          <p:nvPr>
            <p:ph idx="101" type="body" hasCustomPrompt="1"/>
          </p:nvPr>
        </p:nvSpPr>
        <p:spPr>
          <a:xfrm>
            <a:off x="457200" y="1188720"/>
            <a:ext cx="8229600" cy="3429000"/>
          </a:xfrm>
          <a:prstGeom prst="rect">
            <a:avLst/>
          </a:prstGeom>
          <a:noFill/>
          <a:ln/>
        </p:spPr>
        <p:txBody>
          <a:bodyPr wrap="square" lIns="0" tIns="0" rIns="0" bIns="0" rtlCol="0" anchor="t"/>
          <a:lstStyle/>
          <a:p>
            <a:pPr marL="177800" indent="-177800">
              <a:spcAft>
                <a:spcPts val="600"/>
              </a:spcAft>
              <a:buSzPct val="100000"/>
              <a:buChar char="•"/>
            </a:pPr>
            <a:r>
              <a:rPr lang="en-US" sz="1600" dirty="0">
                <a:solidFill>
                  <a:schemeClr val="tx1"/>
                </a:solidFill>
              </a:rPr>
              <a:t>Aim: which maxillary structures stay closest to a three-implant superimposition over ≥ 3 years?</a:t>
            </a:r>
            <a:endParaRPr lang="en-US" sz="1600" dirty="0"/>
          </a:p>
          <a:p>
            <a:pPr marL="177800" indent="-177800">
              <a:spcAft>
                <a:spcPts val="600"/>
              </a:spcAft>
              <a:buSzPct val="100000"/>
              <a:buChar char="•"/>
            </a:pPr>
            <a:r>
              <a:rPr lang="en-US" sz="1600" dirty="0">
                <a:solidFill>
                  <a:schemeClr val="tx1"/>
                </a:solidFill>
              </a:rPr>
              <a:t>50 of ≈ 700 UW implant records (≈ 7 %, derived); 23 M, 27 F; films 1967–1975.</a:t>
            </a:r>
            <a:endParaRPr lang="en-US" sz="1600" dirty="0"/>
          </a:p>
          <a:p>
            <a:pPr marL="177800" indent="-177800">
              <a:spcAft>
                <a:spcPts val="600"/>
              </a:spcAft>
              <a:buSzPct val="100000"/>
              <a:buChar char="•"/>
            </a:pPr>
            <a:r>
              <a:rPr lang="en-US" sz="1600" dirty="0">
                <a:solidFill>
                  <a:schemeClr val="tx1"/>
                </a:solidFill>
              </a:rPr>
              <a:t>T1 11.9 ± 1.4 y, T2 16.0 ± 1.7 y, interval 4.2 ± 0.96 y (Table I); majority treated.</a:t>
            </a:r>
            <a:endParaRPr lang="en-US" sz="1600" dirty="0"/>
          </a:p>
          <a:p>
            <a:pPr marL="177800" indent="-177800">
              <a:spcAft>
                <a:spcPts val="600"/>
              </a:spcAft>
              <a:buSzPct val="100000"/>
              <a:buChar char="•"/>
            </a:pPr>
            <a:r>
              <a:rPr lang="en-US" sz="1600" dirty="0">
                <a:solidFill>
                  <a:schemeClr val="tx1"/>
                </a:solidFill>
              </a:rPr>
              <a:t>Metric: maximum deviation of 17 structures, calipers to 0.01 mm; tracing error 0.5 mm.</a:t>
            </a:r>
            <a:endParaRPr lang="en-US" sz="1600" dirty="0"/>
          </a:p>
          <a:p>
            <a:pPr marL="177800" indent="-177800">
              <a:spcAft>
                <a:spcPts val="600"/>
              </a:spcAft>
              <a:buSzPct val="100000"/>
              <a:buChar char="•"/>
            </a:pPr>
            <a:r>
              <a:rPr lang="en-US" sz="1600" dirty="0">
                <a:solidFill>
                  <a:schemeClr val="tx1"/>
                </a:solidFill>
              </a:rPr>
              <a:t>Figs 1–6: one case traced by six anatomic methods with the implants drawn in.</a:t>
            </a:r>
            <a:endParaRPr lang="en-US" sz="1600" dirty="0"/>
          </a:p>
        </p:txBody>
      </p:sp>
      <p:sp>
        <p:nvSpPr>
          <p:cNvPr id="25" name="Slide Number Placeholder 0"/>
          <p:cNvSpPr>
            <a:spLocks noGrp="1"/>
          </p:cNvSpPr>
          <p:nvPr>
            <p:ph type="sldNum" sz="quarter" idx="4294967295"/>
          </p:nvPr>
        </p:nvSpPr>
        <p:spPr>
          <a:xfrm>
            <a:off x="8321040" y="4754880"/>
            <a:ext cx="36576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l"/>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731520"/>
          </a:xfrm>
          <a:prstGeom prst="rect">
            <a:avLst/>
          </a:prstGeom>
          <a:noFill/>
          <a:ln/>
        </p:spPr>
        <p:txBody>
          <a:bodyPr wrap="square" lIns="0" tIns="0" rIns="0" bIns="0" rtlCol="0" anchor="ctr"/>
          <a:lstStyle/>
          <a:p>
            <a:pPr algn="l" indent="0" marL="0">
              <a:buNone/>
            </a:pPr>
            <a:r>
              <a:rPr lang="en-US" sz="2800" b="1" dirty="0">
                <a:solidFill>
                  <a:schemeClr val="tx2"/>
                </a:solidFill>
              </a:rPr>
              <a:t>Doppel 1994: results and take-home</a:t>
            </a:r>
            <a:endParaRPr lang="en-US" sz="2800" dirty="0"/>
          </a:p>
        </p:txBody>
      </p:sp>
      <p:graphicFrame>
        <p:nvGraphicFramePr>
          <p:cNvPr id="8" name="table"/>
          <p:cNvGraphicFramePr>
            <a:graphicFrameLocks noGrp="1"/>
          </p:cNvGraphicFramePr>
          <p:nvPr>
            <p:extLst>
              <p:ext uri="{D42A27DB-BD31-4B8C-83A1-F6EECF244321}">
                <p14:modId xmlns:p14="http://schemas.microsoft.com/office/powerpoint/2010/main" val="1579011935"/>
              </p:ext>
            </p:extLst>
          </p:nvPr>
        </p:nvGraphicFramePr>
        <p:xfrm>
          <a:off x="457200" y="1188720"/>
          <a:ext cx="8229600" cy="914400"/>
        </p:xfrm>
        <a:graphic>
          <a:graphicData uri="http://schemas.openxmlformats.org/drawingml/2006/table">
            <a:tbl>
              <a:tblPr/>
              <a:tblGrid>
                <a:gridCol w="2139696"/>
                <a:gridCol w="1522476"/>
                <a:gridCol w="1522476"/>
                <a:gridCol w="1522476"/>
                <a:gridCol w="1522476"/>
              </a:tblGrid>
              <a:tr h="0">
                <a:tc>
                  <a:txBody>
                    <a:bodyPr/>
                    <a:lstStyle/>
                    <a:p>
                      <a:pPr indent="0" marL="0">
                        <a:buNone/>
                      </a:pPr>
                      <a:r>
                        <a:rPr lang="en-US" sz="900" b="1" dirty="0">
                          <a:solidFill>
                            <a:schemeClr val="bg1"/>
                          </a:solidFill>
                          <a:latin typeface="+mn-lt" pitchFamily="34" charset="0"/>
                          <a:ea typeface="+mn-lt" pitchFamily="34" charset="-122"/>
                          <a:cs typeface="+mn-lt" pitchFamily="34" charset="-120"/>
                        </a:rPr>
                        <a:t>Structure</a:t>
                      </a:r>
                      <a:endParaRPr lang="en-US" sz="900" dirty="0">
                        <a:latin typeface="+mn-lt" charset="0"/>
                        <a:ea typeface="+mn-lt" charset="0"/>
                        <a:cs typeface="+mn-lt" charset="0"/>
                      </a:endParaRPr>
                    </a:p>
                  </a:txBody>
                  <a:tcPr marL="45720" marR="45720" marT="45720" marB="45720" anchor="t">
                    <a:lnL w="6350" cap="flat" cmpd="sng" algn="ctr">
                      <a:solidFill>
                        <a:srgbClr val="D9E0E8"/>
                      </a:solidFill>
                      <a:prstDash val="solid"/>
                      <a:round/>
                      <a:headEnd type="none" w="med" len="med"/>
                      <a:tailEnd type="none" w="med" len="med"/>
                    </a:lnL>
                    <a:lnR w="6350" cap="flat" cmpd="sng" algn="ctr">
                      <a:solidFill>
                        <a:srgbClr val="D9E0E8"/>
                      </a:solidFill>
                      <a:prstDash val="solid"/>
                      <a:round/>
                      <a:headEnd type="none" w="med" len="med"/>
                      <a:tailEnd type="none" w="med" len="med"/>
                    </a:lnR>
                    <a:lnT w="6350" cap="flat" cmpd="sng" algn="ctr">
                      <a:solidFill>
                        <a:srgbClr val="D9E0E8"/>
                      </a:solidFill>
                      <a:prstDash val="solid"/>
                      <a:round/>
                      <a:headEnd type="none" w="med" len="med"/>
                      <a:tailEnd type="none" w="med" len="med"/>
                    </a:lnT>
                    <a:lnB w="6350" cap="flat" cmpd="sng" algn="ctr">
                      <a:solidFill>
                        <a:srgbClr val="D9E0E8"/>
                      </a:solidFill>
                      <a:prstDash val="solid"/>
                      <a:round/>
                      <a:headEnd type="none" w="med" len="med"/>
                      <a:tailEnd type="none" w="med" len="med"/>
                    </a:lnB>
                    <a:solidFill>
                      <a:schemeClr val="tx2"/>
                    </a:solidFill>
                  </a:tcPr>
                </a:tc>
                <a:tc>
                  <a:txBody>
                    <a:bodyPr/>
                    <a:lstStyle/>
                    <a:p>
                      <a:pPr indent="0" marL="0">
                        <a:buNone/>
                      </a:pPr>
                      <a:r>
                        <a:rPr lang="en-US" sz="900" b="1" dirty="0">
                          <a:solidFill>
                            <a:schemeClr val="bg1"/>
                          </a:solidFill>
                          <a:latin typeface="+mn-lt" pitchFamily="34" charset="0"/>
                          <a:ea typeface="+mn-lt" pitchFamily="34" charset="-122"/>
                          <a:cs typeface="+mn-lt" pitchFamily="34" charset="-120"/>
                        </a:rPr>
                        <a:t>n</a:t>
                      </a:r>
                      <a:endParaRPr lang="en-US" sz="900" dirty="0">
                        <a:latin typeface="+mn-lt" charset="0"/>
                        <a:ea typeface="+mn-lt" charset="0"/>
                        <a:cs typeface="+mn-lt" charset="0"/>
                      </a:endParaRPr>
                    </a:p>
                  </a:txBody>
                  <a:tcPr marL="45720" marR="45720" marT="45720" marB="45720" anchor="t">
                    <a:lnL w="6350" cap="flat" cmpd="sng" algn="ctr">
                      <a:solidFill>
                        <a:srgbClr val="D9E0E8"/>
                      </a:solidFill>
                      <a:prstDash val="solid"/>
                      <a:round/>
                      <a:headEnd type="none" w="med" len="med"/>
                      <a:tailEnd type="none" w="med" len="med"/>
                    </a:lnL>
                    <a:lnR w="6350" cap="flat" cmpd="sng" algn="ctr">
                      <a:solidFill>
                        <a:srgbClr val="D9E0E8"/>
                      </a:solidFill>
                      <a:prstDash val="solid"/>
                      <a:round/>
                      <a:headEnd type="none" w="med" len="med"/>
                      <a:tailEnd type="none" w="med" len="med"/>
                    </a:lnR>
                    <a:lnT w="6350" cap="flat" cmpd="sng" algn="ctr">
                      <a:solidFill>
                        <a:srgbClr val="D9E0E8"/>
                      </a:solidFill>
                      <a:prstDash val="solid"/>
                      <a:round/>
                      <a:headEnd type="none" w="med" len="med"/>
                      <a:tailEnd type="none" w="med" len="med"/>
                    </a:lnT>
                    <a:lnB w="6350" cap="flat" cmpd="sng" algn="ctr">
                      <a:solidFill>
                        <a:srgbClr val="D9E0E8"/>
                      </a:solidFill>
                      <a:prstDash val="solid"/>
                      <a:round/>
                      <a:headEnd type="none" w="med" len="med"/>
                      <a:tailEnd type="none" w="med" len="med"/>
                    </a:lnB>
                    <a:solidFill>
                      <a:schemeClr val="tx2"/>
                    </a:solidFill>
                  </a:tcPr>
                </a:tc>
                <a:tc>
                  <a:txBody>
                    <a:bodyPr/>
                    <a:lstStyle/>
                    <a:p>
                      <a:pPr indent="0" marL="0">
                        <a:buNone/>
                      </a:pPr>
                      <a:r>
                        <a:rPr lang="en-US" sz="900" b="1" dirty="0">
                          <a:solidFill>
                            <a:schemeClr val="bg1"/>
                          </a:solidFill>
                          <a:latin typeface="+mn-lt" pitchFamily="34" charset="0"/>
                          <a:ea typeface="+mn-lt" pitchFamily="34" charset="-122"/>
                          <a:cs typeface="+mn-lt" pitchFamily="34" charset="-120"/>
                        </a:rPr>
                        <a:t>Mean ± SD</a:t>
                      </a:r>
                      <a:endParaRPr lang="en-US" sz="900" dirty="0">
                        <a:latin typeface="+mn-lt" charset="0"/>
                        <a:ea typeface="+mn-lt" charset="0"/>
                        <a:cs typeface="+mn-lt" charset="0"/>
                      </a:endParaRPr>
                    </a:p>
                  </a:txBody>
                  <a:tcPr marL="45720" marR="45720" marT="45720" marB="45720" anchor="t">
                    <a:lnL w="6350" cap="flat" cmpd="sng" algn="ctr">
                      <a:solidFill>
                        <a:srgbClr val="D9E0E8"/>
                      </a:solidFill>
                      <a:prstDash val="solid"/>
                      <a:round/>
                      <a:headEnd type="none" w="med" len="med"/>
                      <a:tailEnd type="none" w="med" len="med"/>
                    </a:lnL>
                    <a:lnR w="6350" cap="flat" cmpd="sng" algn="ctr">
                      <a:solidFill>
                        <a:srgbClr val="D9E0E8"/>
                      </a:solidFill>
                      <a:prstDash val="solid"/>
                      <a:round/>
                      <a:headEnd type="none" w="med" len="med"/>
                      <a:tailEnd type="none" w="med" len="med"/>
                    </a:lnR>
                    <a:lnT w="6350" cap="flat" cmpd="sng" algn="ctr">
                      <a:solidFill>
                        <a:srgbClr val="D9E0E8"/>
                      </a:solidFill>
                      <a:prstDash val="solid"/>
                      <a:round/>
                      <a:headEnd type="none" w="med" len="med"/>
                      <a:tailEnd type="none" w="med" len="med"/>
                    </a:lnT>
                    <a:lnB w="6350" cap="flat" cmpd="sng" algn="ctr">
                      <a:solidFill>
                        <a:srgbClr val="D9E0E8"/>
                      </a:solidFill>
                      <a:prstDash val="solid"/>
                      <a:round/>
                      <a:headEnd type="none" w="med" len="med"/>
                      <a:tailEnd type="none" w="med" len="med"/>
                    </a:lnB>
                    <a:solidFill>
                      <a:schemeClr val="tx2"/>
                    </a:solidFill>
                  </a:tcPr>
                </a:tc>
                <a:tc>
                  <a:txBody>
                    <a:bodyPr/>
                    <a:lstStyle/>
                    <a:p>
                      <a:pPr indent="0" marL="0">
                        <a:buNone/>
                      </a:pPr>
                      <a:r>
                        <a:rPr lang="en-US" sz="900" b="1" dirty="0">
                          <a:solidFill>
                            <a:schemeClr val="bg1"/>
                          </a:solidFill>
                          <a:latin typeface="+mn-lt" pitchFamily="34" charset="0"/>
                          <a:ea typeface="+mn-lt" pitchFamily="34" charset="-122"/>
                          <a:cs typeface="+mn-lt" pitchFamily="34" charset="-120"/>
                        </a:rPr>
                        <a:t>Max</a:t>
                      </a:r>
                      <a:endParaRPr lang="en-US" sz="900" dirty="0">
                        <a:latin typeface="+mn-lt" charset="0"/>
                        <a:ea typeface="+mn-lt" charset="0"/>
                        <a:cs typeface="+mn-lt" charset="0"/>
                      </a:endParaRPr>
                    </a:p>
                  </a:txBody>
                  <a:tcPr marL="45720" marR="45720" marT="45720" marB="45720" anchor="t">
                    <a:lnL w="6350" cap="flat" cmpd="sng" algn="ctr">
                      <a:solidFill>
                        <a:srgbClr val="D9E0E8"/>
                      </a:solidFill>
                      <a:prstDash val="solid"/>
                      <a:round/>
                      <a:headEnd type="none" w="med" len="med"/>
                      <a:tailEnd type="none" w="med" len="med"/>
                    </a:lnL>
                    <a:lnR w="6350" cap="flat" cmpd="sng" algn="ctr">
                      <a:solidFill>
                        <a:srgbClr val="D9E0E8"/>
                      </a:solidFill>
                      <a:prstDash val="solid"/>
                      <a:round/>
                      <a:headEnd type="none" w="med" len="med"/>
                      <a:tailEnd type="none" w="med" len="med"/>
                    </a:lnR>
                    <a:lnT w="6350" cap="flat" cmpd="sng" algn="ctr">
                      <a:solidFill>
                        <a:srgbClr val="D9E0E8"/>
                      </a:solidFill>
                      <a:prstDash val="solid"/>
                      <a:round/>
                      <a:headEnd type="none" w="med" len="med"/>
                      <a:tailEnd type="none" w="med" len="med"/>
                    </a:lnT>
                    <a:lnB w="6350" cap="flat" cmpd="sng" algn="ctr">
                      <a:solidFill>
                        <a:srgbClr val="D9E0E8"/>
                      </a:solidFill>
                      <a:prstDash val="solid"/>
                      <a:round/>
                      <a:headEnd type="none" w="med" len="med"/>
                      <a:tailEnd type="none" w="med" len="med"/>
                    </a:lnB>
                    <a:solidFill>
                      <a:schemeClr val="tx2"/>
                    </a:solidFill>
                  </a:tcPr>
                </a:tc>
                <a:tc>
                  <a:txBody>
                    <a:bodyPr/>
                    <a:lstStyle/>
                    <a:p>
                      <a:pPr indent="0" marL="0">
                        <a:buNone/>
                      </a:pPr>
                      <a:r>
                        <a:rPr lang="en-US" sz="900" b="1" dirty="0">
                          <a:solidFill>
                            <a:schemeClr val="bg1"/>
                          </a:solidFill>
                          <a:latin typeface="+mn-lt" pitchFamily="34" charset="0"/>
                          <a:ea typeface="+mn-lt" pitchFamily="34" charset="-122"/>
                          <a:cs typeface="+mn-lt" pitchFamily="34" charset="-120"/>
                        </a:rPr>
                        <a:t>Note</a:t>
                      </a:r>
                      <a:endParaRPr lang="en-US" sz="900" dirty="0">
                        <a:latin typeface="+mn-lt" charset="0"/>
                        <a:ea typeface="+mn-lt" charset="0"/>
                        <a:cs typeface="+mn-lt" charset="0"/>
                      </a:endParaRPr>
                    </a:p>
                  </a:txBody>
                  <a:tcPr marL="45720" marR="45720" marT="45720" marB="45720" anchor="t">
                    <a:lnL w="6350" cap="flat" cmpd="sng" algn="ctr">
                      <a:solidFill>
                        <a:srgbClr val="D9E0E8"/>
                      </a:solidFill>
                      <a:prstDash val="solid"/>
                      <a:round/>
                      <a:headEnd type="none" w="med" len="med"/>
                      <a:tailEnd type="none" w="med" len="med"/>
                    </a:lnL>
                    <a:lnR w="6350" cap="flat" cmpd="sng" algn="ctr">
                      <a:solidFill>
                        <a:srgbClr val="D9E0E8"/>
                      </a:solidFill>
                      <a:prstDash val="solid"/>
                      <a:round/>
                      <a:headEnd type="none" w="med" len="med"/>
                      <a:tailEnd type="none" w="med" len="med"/>
                    </a:lnR>
                    <a:lnT w="6350" cap="flat" cmpd="sng" algn="ctr">
                      <a:solidFill>
                        <a:srgbClr val="D9E0E8"/>
                      </a:solidFill>
                      <a:prstDash val="solid"/>
                      <a:round/>
                      <a:headEnd type="none" w="med" len="med"/>
                      <a:tailEnd type="none" w="med" len="med"/>
                    </a:lnT>
                    <a:lnB w="6350" cap="flat" cmpd="sng" algn="ctr">
                      <a:solidFill>
                        <a:srgbClr val="D9E0E8"/>
                      </a:solidFill>
                      <a:prstDash val="solid"/>
                      <a:round/>
                      <a:headEnd type="none" w="med" len="med"/>
                      <a:tailEnd type="none" w="med" len="med"/>
                    </a:lnB>
                    <a:solidFill>
                      <a:schemeClr val="tx2"/>
                    </a:solidFill>
                  </a:tcPr>
                </a:tc>
              </a:tr>
              <a:tr h="0">
                <a:tc>
                  <a:txBody>
                    <a:bodyPr/>
                    <a:lstStyle/>
                    <a:p>
                      <a:pPr indent="0" marL="0">
                        <a:buNone/>
                      </a:pPr>
                      <a:r>
                        <a:rPr lang="en-US" sz="900" dirty="0">
                          <a:solidFill>
                            <a:schemeClr val="tx1"/>
                          </a:solidFill>
                          <a:latin typeface="+mn-lt" pitchFamily="34" charset="0"/>
                          <a:ea typeface="+mn-lt" pitchFamily="34" charset="-122"/>
                          <a:cs typeface="+mn-lt" pitchFamily="34" charset="-120"/>
                        </a:rPr>
                        <a:t>Internal palate</a:t>
                      </a:r>
                      <a:endParaRPr lang="en-US" sz="900" dirty="0">
                        <a:latin typeface="+mn-lt" charset="0"/>
                        <a:ea typeface="+mn-lt" charset="0"/>
                        <a:cs typeface="+mn-lt" charset="0"/>
                      </a:endParaRPr>
                    </a:p>
                  </a:txBody>
                  <a:tcPr marL="45720" marR="45720" marT="45720" marB="45720" anchor="t">
                    <a:lnL w="6350" cap="flat" cmpd="sng" algn="ctr">
                      <a:solidFill>
                        <a:srgbClr val="D9E0E8"/>
                      </a:solidFill>
                      <a:prstDash val="solid"/>
                      <a:round/>
                      <a:headEnd type="none" w="med" len="med"/>
                      <a:tailEnd type="none" w="med" len="med"/>
                    </a:lnL>
                    <a:lnR w="6350" cap="flat" cmpd="sng" algn="ctr">
                      <a:solidFill>
                        <a:srgbClr val="D9E0E8"/>
                      </a:solidFill>
                      <a:prstDash val="solid"/>
                      <a:round/>
                      <a:headEnd type="none" w="med" len="med"/>
                      <a:tailEnd type="none" w="med" len="med"/>
                    </a:lnR>
                    <a:lnT w="6350" cap="flat" cmpd="sng" algn="ctr">
                      <a:solidFill>
                        <a:srgbClr val="D9E0E8"/>
                      </a:solidFill>
                      <a:prstDash val="solid"/>
                      <a:round/>
                      <a:headEnd type="none" w="med" len="med"/>
                      <a:tailEnd type="none" w="med" len="med"/>
                    </a:lnT>
                    <a:lnB w="6350" cap="flat" cmpd="sng" algn="ctr">
                      <a:solidFill>
                        <a:srgbClr val="D9E0E8"/>
                      </a:solidFill>
                      <a:prstDash val="solid"/>
                      <a:round/>
                      <a:headEnd type="none" w="med" len="med"/>
                      <a:tailEnd type="none" w="med" len="med"/>
                    </a:lnB>
                    <a:solidFill>
                      <a:schemeClr val="bg1"/>
                    </a:solidFill>
                  </a:tcPr>
                </a:tc>
                <a:tc>
                  <a:txBody>
                    <a:bodyPr/>
                    <a:lstStyle/>
                    <a:p>
                      <a:pPr indent="0" marL="0">
                        <a:buNone/>
                      </a:pPr>
                      <a:r>
                        <a:rPr lang="en-US" sz="900" dirty="0">
                          <a:solidFill>
                            <a:schemeClr val="tx1"/>
                          </a:solidFill>
                          <a:latin typeface="+mn-lt" pitchFamily="34" charset="0"/>
                          <a:ea typeface="+mn-lt" pitchFamily="34" charset="-122"/>
                          <a:cs typeface="+mn-lt" pitchFamily="34" charset="-120"/>
                        </a:rPr>
                        <a:t>50</a:t>
                      </a:r>
                      <a:endParaRPr lang="en-US" sz="900" dirty="0">
                        <a:latin typeface="+mn-lt" charset="0"/>
                        <a:ea typeface="+mn-lt" charset="0"/>
                        <a:cs typeface="+mn-lt" charset="0"/>
                      </a:endParaRPr>
                    </a:p>
                  </a:txBody>
                  <a:tcPr marL="45720" marR="45720" marT="45720" marB="45720" anchor="t">
                    <a:lnL w="6350" cap="flat" cmpd="sng" algn="ctr">
                      <a:solidFill>
                        <a:srgbClr val="D9E0E8"/>
                      </a:solidFill>
                      <a:prstDash val="solid"/>
                      <a:round/>
                      <a:headEnd type="none" w="med" len="med"/>
                      <a:tailEnd type="none" w="med" len="med"/>
                    </a:lnL>
                    <a:lnR w="6350" cap="flat" cmpd="sng" algn="ctr">
                      <a:solidFill>
                        <a:srgbClr val="D9E0E8"/>
                      </a:solidFill>
                      <a:prstDash val="solid"/>
                      <a:round/>
                      <a:headEnd type="none" w="med" len="med"/>
                      <a:tailEnd type="none" w="med" len="med"/>
                    </a:lnR>
                    <a:lnT w="6350" cap="flat" cmpd="sng" algn="ctr">
                      <a:solidFill>
                        <a:srgbClr val="D9E0E8"/>
                      </a:solidFill>
                      <a:prstDash val="solid"/>
                      <a:round/>
                      <a:headEnd type="none" w="med" len="med"/>
                      <a:tailEnd type="none" w="med" len="med"/>
                    </a:lnT>
                    <a:lnB w="6350" cap="flat" cmpd="sng" algn="ctr">
                      <a:solidFill>
                        <a:srgbClr val="D9E0E8"/>
                      </a:solidFill>
                      <a:prstDash val="solid"/>
                      <a:round/>
                      <a:headEnd type="none" w="med" len="med"/>
                      <a:tailEnd type="none" w="med" len="med"/>
                    </a:lnB>
                    <a:solidFill>
                      <a:schemeClr val="bg1"/>
                    </a:solidFill>
                  </a:tcPr>
                </a:tc>
                <a:tc>
                  <a:txBody>
                    <a:bodyPr/>
                    <a:lstStyle/>
                    <a:p>
                      <a:pPr indent="0" marL="0">
                        <a:buNone/>
                      </a:pPr>
                      <a:r>
                        <a:rPr lang="en-US" sz="900" dirty="0">
                          <a:solidFill>
                            <a:schemeClr val="tx1"/>
                          </a:solidFill>
                          <a:latin typeface="+mn-lt" pitchFamily="34" charset="0"/>
                          <a:ea typeface="+mn-lt" pitchFamily="34" charset="-122"/>
                          <a:cs typeface="+mn-lt" pitchFamily="34" charset="-120"/>
                        </a:rPr>
                        <a:t>0.85 ± 0.43</a:t>
                      </a:r>
                      <a:endParaRPr lang="en-US" sz="900" dirty="0">
                        <a:latin typeface="+mn-lt" charset="0"/>
                        <a:ea typeface="+mn-lt" charset="0"/>
                        <a:cs typeface="+mn-lt" charset="0"/>
                      </a:endParaRPr>
                    </a:p>
                  </a:txBody>
                  <a:tcPr marL="45720" marR="45720" marT="45720" marB="45720" anchor="t">
                    <a:lnL w="6350" cap="flat" cmpd="sng" algn="ctr">
                      <a:solidFill>
                        <a:srgbClr val="D9E0E8"/>
                      </a:solidFill>
                      <a:prstDash val="solid"/>
                      <a:round/>
                      <a:headEnd type="none" w="med" len="med"/>
                      <a:tailEnd type="none" w="med" len="med"/>
                    </a:lnL>
                    <a:lnR w="6350" cap="flat" cmpd="sng" algn="ctr">
                      <a:solidFill>
                        <a:srgbClr val="D9E0E8"/>
                      </a:solidFill>
                      <a:prstDash val="solid"/>
                      <a:round/>
                      <a:headEnd type="none" w="med" len="med"/>
                      <a:tailEnd type="none" w="med" len="med"/>
                    </a:lnR>
                    <a:lnT w="6350" cap="flat" cmpd="sng" algn="ctr">
                      <a:solidFill>
                        <a:srgbClr val="D9E0E8"/>
                      </a:solidFill>
                      <a:prstDash val="solid"/>
                      <a:round/>
                      <a:headEnd type="none" w="med" len="med"/>
                      <a:tailEnd type="none" w="med" len="med"/>
                    </a:lnT>
                    <a:lnB w="6350" cap="flat" cmpd="sng" algn="ctr">
                      <a:solidFill>
                        <a:srgbClr val="D9E0E8"/>
                      </a:solidFill>
                      <a:prstDash val="solid"/>
                      <a:round/>
                      <a:headEnd type="none" w="med" len="med"/>
                      <a:tailEnd type="none" w="med" len="med"/>
                    </a:lnB>
                    <a:solidFill>
                      <a:schemeClr val="bg1"/>
                    </a:solidFill>
                  </a:tcPr>
                </a:tc>
                <a:tc>
                  <a:txBody>
                    <a:bodyPr/>
                    <a:lstStyle/>
                    <a:p>
                      <a:pPr indent="0" marL="0">
                        <a:buNone/>
                      </a:pPr>
                      <a:r>
                        <a:rPr lang="en-US" sz="900" dirty="0">
                          <a:solidFill>
                            <a:schemeClr val="tx1"/>
                          </a:solidFill>
                          <a:latin typeface="+mn-lt" pitchFamily="34" charset="0"/>
                          <a:ea typeface="+mn-lt" pitchFamily="34" charset="-122"/>
                          <a:cs typeface="+mn-lt" pitchFamily="34" charset="-120"/>
                        </a:rPr>
                        <a:t>2.45</a:t>
                      </a:r>
                      <a:endParaRPr lang="en-US" sz="900" dirty="0">
                        <a:latin typeface="+mn-lt" charset="0"/>
                        <a:ea typeface="+mn-lt" charset="0"/>
                        <a:cs typeface="+mn-lt" charset="0"/>
                      </a:endParaRPr>
                    </a:p>
                  </a:txBody>
                  <a:tcPr marL="45720" marR="45720" marT="45720" marB="45720" anchor="t">
                    <a:lnL w="6350" cap="flat" cmpd="sng" algn="ctr">
                      <a:solidFill>
                        <a:srgbClr val="D9E0E8"/>
                      </a:solidFill>
                      <a:prstDash val="solid"/>
                      <a:round/>
                      <a:headEnd type="none" w="med" len="med"/>
                      <a:tailEnd type="none" w="med" len="med"/>
                    </a:lnL>
                    <a:lnR w="6350" cap="flat" cmpd="sng" algn="ctr">
                      <a:solidFill>
                        <a:srgbClr val="D9E0E8"/>
                      </a:solidFill>
                      <a:prstDash val="solid"/>
                      <a:round/>
                      <a:headEnd type="none" w="med" len="med"/>
                      <a:tailEnd type="none" w="med" len="med"/>
                    </a:lnR>
                    <a:lnT w="6350" cap="flat" cmpd="sng" algn="ctr">
                      <a:solidFill>
                        <a:srgbClr val="D9E0E8"/>
                      </a:solidFill>
                      <a:prstDash val="solid"/>
                      <a:round/>
                      <a:headEnd type="none" w="med" len="med"/>
                      <a:tailEnd type="none" w="med" len="med"/>
                    </a:lnT>
                    <a:lnB w="6350" cap="flat" cmpd="sng" algn="ctr">
                      <a:solidFill>
                        <a:srgbClr val="D9E0E8"/>
                      </a:solidFill>
                      <a:prstDash val="solid"/>
                      <a:round/>
                      <a:headEnd type="none" w="med" len="med"/>
                      <a:tailEnd type="none" w="med" len="med"/>
                    </a:lnB>
                    <a:solidFill>
                      <a:schemeClr val="bg1"/>
                    </a:solidFill>
                  </a:tcPr>
                </a:tc>
                <a:tc>
                  <a:txBody>
                    <a:bodyPr/>
                    <a:lstStyle/>
                    <a:p>
                      <a:pPr indent="0" marL="0">
                        <a:buNone/>
                      </a:pPr>
                      <a:r>
                        <a:rPr lang="en-US" sz="900" dirty="0">
                          <a:solidFill>
                            <a:schemeClr val="tx1"/>
                          </a:solidFill>
                          <a:latin typeface="+mn-lt" pitchFamily="34" charset="0"/>
                          <a:ea typeface="+mn-lt" pitchFamily="34" charset="-122"/>
                          <a:cs typeface="+mn-lt" pitchFamily="34" charset="-120"/>
                        </a:rPr>
                        <a:t>best number, poor empirical fit</a:t>
                      </a:r>
                      <a:endParaRPr lang="en-US" sz="900" dirty="0">
                        <a:latin typeface="+mn-lt" charset="0"/>
                        <a:ea typeface="+mn-lt" charset="0"/>
                        <a:cs typeface="+mn-lt" charset="0"/>
                      </a:endParaRPr>
                    </a:p>
                  </a:txBody>
                  <a:tcPr marL="45720" marR="45720" marT="45720" marB="45720" anchor="t">
                    <a:lnL w="6350" cap="flat" cmpd="sng" algn="ctr">
                      <a:solidFill>
                        <a:srgbClr val="D9E0E8"/>
                      </a:solidFill>
                      <a:prstDash val="solid"/>
                      <a:round/>
                      <a:headEnd type="none" w="med" len="med"/>
                      <a:tailEnd type="none" w="med" len="med"/>
                    </a:lnL>
                    <a:lnR w="6350" cap="flat" cmpd="sng" algn="ctr">
                      <a:solidFill>
                        <a:srgbClr val="D9E0E8"/>
                      </a:solidFill>
                      <a:prstDash val="solid"/>
                      <a:round/>
                      <a:headEnd type="none" w="med" len="med"/>
                      <a:tailEnd type="none" w="med" len="med"/>
                    </a:lnR>
                    <a:lnT w="6350" cap="flat" cmpd="sng" algn="ctr">
                      <a:solidFill>
                        <a:srgbClr val="D9E0E8"/>
                      </a:solidFill>
                      <a:prstDash val="solid"/>
                      <a:round/>
                      <a:headEnd type="none" w="med" len="med"/>
                      <a:tailEnd type="none" w="med" len="med"/>
                    </a:lnT>
                    <a:lnB w="6350" cap="flat" cmpd="sng" algn="ctr">
                      <a:solidFill>
                        <a:srgbClr val="D9E0E8"/>
                      </a:solidFill>
                      <a:prstDash val="solid"/>
                      <a:round/>
                      <a:headEnd type="none" w="med" len="med"/>
                      <a:tailEnd type="none" w="med" len="med"/>
                    </a:lnB>
                    <a:solidFill>
                      <a:schemeClr val="bg1"/>
                    </a:solidFill>
                  </a:tcPr>
                </a:tc>
              </a:tr>
              <a:tr h="0">
                <a:tc>
                  <a:txBody>
                    <a:bodyPr/>
                    <a:lstStyle/>
                    <a:p>
                      <a:pPr indent="0" marL="0">
                        <a:buNone/>
                      </a:pPr>
                      <a:r>
                        <a:rPr lang="en-US" sz="900" dirty="0">
                          <a:solidFill>
                            <a:schemeClr val="tx1"/>
                          </a:solidFill>
                          <a:latin typeface="+mn-lt" pitchFamily="34" charset="0"/>
                          <a:ea typeface="+mn-lt" pitchFamily="34" charset="-122"/>
                          <a:cs typeface="+mn-lt" pitchFamily="34" charset="-120"/>
                        </a:rPr>
                        <a:t>Anterior zygomatic contour</a:t>
                      </a:r>
                      <a:endParaRPr lang="en-US" sz="900" dirty="0">
                        <a:latin typeface="+mn-lt" charset="0"/>
                        <a:ea typeface="+mn-lt" charset="0"/>
                        <a:cs typeface="+mn-lt" charset="0"/>
                      </a:endParaRPr>
                    </a:p>
                  </a:txBody>
                  <a:tcPr marL="45720" marR="45720" marT="45720" marB="45720" anchor="t">
                    <a:lnL w="6350" cap="flat" cmpd="sng" algn="ctr">
                      <a:solidFill>
                        <a:srgbClr val="D9E0E8"/>
                      </a:solidFill>
                      <a:prstDash val="solid"/>
                      <a:round/>
                      <a:headEnd type="none" w="med" len="med"/>
                      <a:tailEnd type="none" w="med" len="med"/>
                    </a:lnL>
                    <a:lnR w="6350" cap="flat" cmpd="sng" algn="ctr">
                      <a:solidFill>
                        <a:srgbClr val="D9E0E8"/>
                      </a:solidFill>
                      <a:prstDash val="solid"/>
                      <a:round/>
                      <a:headEnd type="none" w="med" len="med"/>
                      <a:tailEnd type="none" w="med" len="med"/>
                    </a:lnR>
                    <a:lnT w="6350" cap="flat" cmpd="sng" algn="ctr">
                      <a:solidFill>
                        <a:srgbClr val="D9E0E8"/>
                      </a:solidFill>
                      <a:prstDash val="solid"/>
                      <a:round/>
                      <a:headEnd type="none" w="med" len="med"/>
                      <a:tailEnd type="none" w="med" len="med"/>
                    </a:lnT>
                    <a:lnB w="6350" cap="flat" cmpd="sng" algn="ctr">
                      <a:solidFill>
                        <a:srgbClr val="D9E0E8"/>
                      </a:solidFill>
                      <a:prstDash val="solid"/>
                      <a:round/>
                      <a:headEnd type="none" w="med" len="med"/>
                      <a:tailEnd type="none" w="med" len="med"/>
                    </a:lnB>
                    <a:solidFill>
                      <a:schemeClr val="bg2"/>
                    </a:solidFill>
                  </a:tcPr>
                </a:tc>
                <a:tc>
                  <a:txBody>
                    <a:bodyPr/>
                    <a:lstStyle/>
                    <a:p>
                      <a:pPr indent="0" marL="0">
                        <a:buNone/>
                      </a:pPr>
                      <a:r>
                        <a:rPr lang="en-US" sz="900" dirty="0">
                          <a:solidFill>
                            <a:schemeClr val="tx1"/>
                          </a:solidFill>
                          <a:latin typeface="+mn-lt" pitchFamily="34" charset="0"/>
                          <a:ea typeface="+mn-lt" pitchFamily="34" charset="-122"/>
                          <a:cs typeface="+mn-lt" pitchFamily="34" charset="-120"/>
                        </a:rPr>
                        <a:t>40</a:t>
                      </a:r>
                      <a:endParaRPr lang="en-US" sz="900" dirty="0">
                        <a:latin typeface="+mn-lt" charset="0"/>
                        <a:ea typeface="+mn-lt" charset="0"/>
                        <a:cs typeface="+mn-lt" charset="0"/>
                      </a:endParaRPr>
                    </a:p>
                  </a:txBody>
                  <a:tcPr marL="45720" marR="45720" marT="45720" marB="45720" anchor="t">
                    <a:lnL w="6350" cap="flat" cmpd="sng" algn="ctr">
                      <a:solidFill>
                        <a:srgbClr val="D9E0E8"/>
                      </a:solidFill>
                      <a:prstDash val="solid"/>
                      <a:round/>
                      <a:headEnd type="none" w="med" len="med"/>
                      <a:tailEnd type="none" w="med" len="med"/>
                    </a:lnL>
                    <a:lnR w="6350" cap="flat" cmpd="sng" algn="ctr">
                      <a:solidFill>
                        <a:srgbClr val="D9E0E8"/>
                      </a:solidFill>
                      <a:prstDash val="solid"/>
                      <a:round/>
                      <a:headEnd type="none" w="med" len="med"/>
                      <a:tailEnd type="none" w="med" len="med"/>
                    </a:lnR>
                    <a:lnT w="6350" cap="flat" cmpd="sng" algn="ctr">
                      <a:solidFill>
                        <a:srgbClr val="D9E0E8"/>
                      </a:solidFill>
                      <a:prstDash val="solid"/>
                      <a:round/>
                      <a:headEnd type="none" w="med" len="med"/>
                      <a:tailEnd type="none" w="med" len="med"/>
                    </a:lnT>
                    <a:lnB w="6350" cap="flat" cmpd="sng" algn="ctr">
                      <a:solidFill>
                        <a:srgbClr val="D9E0E8"/>
                      </a:solidFill>
                      <a:prstDash val="solid"/>
                      <a:round/>
                      <a:headEnd type="none" w="med" len="med"/>
                      <a:tailEnd type="none" w="med" len="med"/>
                    </a:lnB>
                    <a:solidFill>
                      <a:schemeClr val="bg2"/>
                    </a:solidFill>
                  </a:tcPr>
                </a:tc>
                <a:tc>
                  <a:txBody>
                    <a:bodyPr/>
                    <a:lstStyle/>
                    <a:p>
                      <a:pPr indent="0" marL="0">
                        <a:buNone/>
                      </a:pPr>
                      <a:r>
                        <a:rPr lang="en-US" sz="900" dirty="0">
                          <a:solidFill>
                            <a:schemeClr val="tx1"/>
                          </a:solidFill>
                          <a:latin typeface="+mn-lt" pitchFamily="34" charset="0"/>
                          <a:ea typeface="+mn-lt" pitchFamily="34" charset="-122"/>
                          <a:cs typeface="+mn-lt" pitchFamily="34" charset="-120"/>
                        </a:rPr>
                        <a:t>0.95 ± 0.57</a:t>
                      </a:r>
                      <a:endParaRPr lang="en-US" sz="900" dirty="0">
                        <a:latin typeface="+mn-lt" charset="0"/>
                        <a:ea typeface="+mn-lt" charset="0"/>
                        <a:cs typeface="+mn-lt" charset="0"/>
                      </a:endParaRPr>
                    </a:p>
                  </a:txBody>
                  <a:tcPr marL="45720" marR="45720" marT="45720" marB="45720" anchor="t">
                    <a:lnL w="6350" cap="flat" cmpd="sng" algn="ctr">
                      <a:solidFill>
                        <a:srgbClr val="D9E0E8"/>
                      </a:solidFill>
                      <a:prstDash val="solid"/>
                      <a:round/>
                      <a:headEnd type="none" w="med" len="med"/>
                      <a:tailEnd type="none" w="med" len="med"/>
                    </a:lnL>
                    <a:lnR w="6350" cap="flat" cmpd="sng" algn="ctr">
                      <a:solidFill>
                        <a:srgbClr val="D9E0E8"/>
                      </a:solidFill>
                      <a:prstDash val="solid"/>
                      <a:round/>
                      <a:headEnd type="none" w="med" len="med"/>
                      <a:tailEnd type="none" w="med" len="med"/>
                    </a:lnR>
                    <a:lnT w="6350" cap="flat" cmpd="sng" algn="ctr">
                      <a:solidFill>
                        <a:srgbClr val="D9E0E8"/>
                      </a:solidFill>
                      <a:prstDash val="solid"/>
                      <a:round/>
                      <a:headEnd type="none" w="med" len="med"/>
                      <a:tailEnd type="none" w="med" len="med"/>
                    </a:lnT>
                    <a:lnB w="6350" cap="flat" cmpd="sng" algn="ctr">
                      <a:solidFill>
                        <a:srgbClr val="D9E0E8"/>
                      </a:solidFill>
                      <a:prstDash val="solid"/>
                      <a:round/>
                      <a:headEnd type="none" w="med" len="med"/>
                      <a:tailEnd type="none" w="med" len="med"/>
                    </a:lnB>
                    <a:solidFill>
                      <a:schemeClr val="bg2"/>
                    </a:solidFill>
                  </a:tcPr>
                </a:tc>
                <a:tc>
                  <a:txBody>
                    <a:bodyPr/>
                    <a:lstStyle/>
                    <a:p>
                      <a:pPr indent="0" marL="0">
                        <a:buNone/>
                      </a:pPr>
                      <a:r>
                        <a:rPr lang="en-US" sz="900" dirty="0">
                          <a:solidFill>
                            <a:schemeClr val="tx1"/>
                          </a:solidFill>
                          <a:latin typeface="+mn-lt" pitchFamily="34" charset="0"/>
                          <a:ea typeface="+mn-lt" pitchFamily="34" charset="-122"/>
                          <a:cs typeface="+mn-lt" pitchFamily="34" charset="-120"/>
                        </a:rPr>
                        <a:t>2.56</a:t>
                      </a:r>
                      <a:endParaRPr lang="en-US" sz="900" dirty="0">
                        <a:latin typeface="+mn-lt" charset="0"/>
                        <a:ea typeface="+mn-lt" charset="0"/>
                        <a:cs typeface="+mn-lt" charset="0"/>
                      </a:endParaRPr>
                    </a:p>
                  </a:txBody>
                  <a:tcPr marL="45720" marR="45720" marT="45720" marB="45720" anchor="t">
                    <a:lnL w="6350" cap="flat" cmpd="sng" algn="ctr">
                      <a:solidFill>
                        <a:srgbClr val="D9E0E8"/>
                      </a:solidFill>
                      <a:prstDash val="solid"/>
                      <a:round/>
                      <a:headEnd type="none" w="med" len="med"/>
                      <a:tailEnd type="none" w="med" len="med"/>
                    </a:lnL>
                    <a:lnR w="6350" cap="flat" cmpd="sng" algn="ctr">
                      <a:solidFill>
                        <a:srgbClr val="D9E0E8"/>
                      </a:solidFill>
                      <a:prstDash val="solid"/>
                      <a:round/>
                      <a:headEnd type="none" w="med" len="med"/>
                      <a:tailEnd type="none" w="med" len="med"/>
                    </a:lnR>
                    <a:lnT w="6350" cap="flat" cmpd="sng" algn="ctr">
                      <a:solidFill>
                        <a:srgbClr val="D9E0E8"/>
                      </a:solidFill>
                      <a:prstDash val="solid"/>
                      <a:round/>
                      <a:headEnd type="none" w="med" len="med"/>
                      <a:tailEnd type="none" w="med" len="med"/>
                    </a:lnT>
                    <a:lnB w="6350" cap="flat" cmpd="sng" algn="ctr">
                      <a:solidFill>
                        <a:srgbClr val="D9E0E8"/>
                      </a:solidFill>
                      <a:prstDash val="solid"/>
                      <a:round/>
                      <a:headEnd type="none" w="med" len="med"/>
                      <a:tailEnd type="none" w="med" len="med"/>
                    </a:lnB>
                    <a:solidFill>
                      <a:schemeClr val="bg2"/>
                    </a:solidFill>
                  </a:tcPr>
                </a:tc>
                <a:tc>
                  <a:txBody>
                    <a:bodyPr/>
                    <a:lstStyle/>
                    <a:p>
                      <a:pPr indent="0" marL="0">
                        <a:buNone/>
                      </a:pPr>
                      <a:r>
                        <a:rPr lang="en-US" sz="900" dirty="0">
                          <a:solidFill>
                            <a:schemeClr val="tx1"/>
                          </a:solidFill>
                          <a:latin typeface="+mn-lt" pitchFamily="34" charset="0"/>
                          <a:ea typeface="+mn-lt" pitchFamily="34" charset="-122"/>
                          <a:cs typeface="+mn-lt" pitchFamily="34" charset="-120"/>
                        </a:rPr>
                        <a:t>traceable 80 %; direction variable</a:t>
                      </a:r>
                      <a:endParaRPr lang="en-US" sz="900" dirty="0">
                        <a:latin typeface="+mn-lt" charset="0"/>
                        <a:ea typeface="+mn-lt" charset="0"/>
                        <a:cs typeface="+mn-lt" charset="0"/>
                      </a:endParaRPr>
                    </a:p>
                  </a:txBody>
                  <a:tcPr marL="45720" marR="45720" marT="45720" marB="45720" anchor="t">
                    <a:lnL w="6350" cap="flat" cmpd="sng" algn="ctr">
                      <a:solidFill>
                        <a:srgbClr val="D9E0E8"/>
                      </a:solidFill>
                      <a:prstDash val="solid"/>
                      <a:round/>
                      <a:headEnd type="none" w="med" len="med"/>
                      <a:tailEnd type="none" w="med" len="med"/>
                    </a:lnL>
                    <a:lnR w="6350" cap="flat" cmpd="sng" algn="ctr">
                      <a:solidFill>
                        <a:srgbClr val="D9E0E8"/>
                      </a:solidFill>
                      <a:prstDash val="solid"/>
                      <a:round/>
                      <a:headEnd type="none" w="med" len="med"/>
                      <a:tailEnd type="none" w="med" len="med"/>
                    </a:lnR>
                    <a:lnT w="6350" cap="flat" cmpd="sng" algn="ctr">
                      <a:solidFill>
                        <a:srgbClr val="D9E0E8"/>
                      </a:solidFill>
                      <a:prstDash val="solid"/>
                      <a:round/>
                      <a:headEnd type="none" w="med" len="med"/>
                      <a:tailEnd type="none" w="med" len="med"/>
                    </a:lnT>
                    <a:lnB w="6350" cap="flat" cmpd="sng" algn="ctr">
                      <a:solidFill>
                        <a:srgbClr val="D9E0E8"/>
                      </a:solidFill>
                      <a:prstDash val="solid"/>
                      <a:round/>
                      <a:headEnd type="none" w="med" len="med"/>
                      <a:tailEnd type="none" w="med" len="med"/>
                    </a:lnB>
                    <a:solidFill>
                      <a:schemeClr val="bg2"/>
                    </a:solidFill>
                  </a:tcPr>
                </a:tc>
              </a:tr>
              <a:tr h="0">
                <a:tc>
                  <a:txBody>
                    <a:bodyPr/>
                    <a:lstStyle/>
                    <a:p>
                      <a:pPr indent="0" marL="0">
                        <a:buNone/>
                      </a:pPr>
                      <a:r>
                        <a:rPr lang="en-US" sz="900" dirty="0">
                          <a:solidFill>
                            <a:schemeClr val="tx1"/>
                          </a:solidFill>
                          <a:latin typeface="+mn-lt" pitchFamily="34" charset="0"/>
                          <a:ea typeface="+mn-lt" pitchFamily="34" charset="-122"/>
                          <a:cs typeface="+mn-lt" pitchFamily="34" charset="-120"/>
                        </a:rPr>
                        <a:t>Posterior zygomatic contour</a:t>
                      </a:r>
                      <a:endParaRPr lang="en-US" sz="900" dirty="0">
                        <a:latin typeface="+mn-lt" charset="0"/>
                        <a:ea typeface="+mn-lt" charset="0"/>
                        <a:cs typeface="+mn-lt" charset="0"/>
                      </a:endParaRPr>
                    </a:p>
                  </a:txBody>
                  <a:tcPr marL="45720" marR="45720" marT="45720" marB="45720" anchor="t">
                    <a:lnL w="6350" cap="flat" cmpd="sng" algn="ctr">
                      <a:solidFill>
                        <a:srgbClr val="D9E0E8"/>
                      </a:solidFill>
                      <a:prstDash val="solid"/>
                      <a:round/>
                      <a:headEnd type="none" w="med" len="med"/>
                      <a:tailEnd type="none" w="med" len="med"/>
                    </a:lnL>
                    <a:lnR w="6350" cap="flat" cmpd="sng" algn="ctr">
                      <a:solidFill>
                        <a:srgbClr val="D9E0E8"/>
                      </a:solidFill>
                      <a:prstDash val="solid"/>
                      <a:round/>
                      <a:headEnd type="none" w="med" len="med"/>
                      <a:tailEnd type="none" w="med" len="med"/>
                    </a:lnR>
                    <a:lnT w="6350" cap="flat" cmpd="sng" algn="ctr">
                      <a:solidFill>
                        <a:srgbClr val="D9E0E8"/>
                      </a:solidFill>
                      <a:prstDash val="solid"/>
                      <a:round/>
                      <a:headEnd type="none" w="med" len="med"/>
                      <a:tailEnd type="none" w="med" len="med"/>
                    </a:lnT>
                    <a:lnB w="6350" cap="flat" cmpd="sng" algn="ctr">
                      <a:solidFill>
                        <a:srgbClr val="D9E0E8"/>
                      </a:solidFill>
                      <a:prstDash val="solid"/>
                      <a:round/>
                      <a:headEnd type="none" w="med" len="med"/>
                      <a:tailEnd type="none" w="med" len="med"/>
                    </a:lnB>
                    <a:solidFill>
                      <a:schemeClr val="bg1"/>
                    </a:solidFill>
                  </a:tcPr>
                </a:tc>
                <a:tc>
                  <a:txBody>
                    <a:bodyPr/>
                    <a:lstStyle/>
                    <a:p>
                      <a:pPr indent="0" marL="0">
                        <a:buNone/>
                      </a:pPr>
                      <a:r>
                        <a:rPr lang="en-US" sz="900" dirty="0">
                          <a:solidFill>
                            <a:schemeClr val="tx1"/>
                          </a:solidFill>
                          <a:latin typeface="+mn-lt" pitchFamily="34" charset="0"/>
                          <a:ea typeface="+mn-lt" pitchFamily="34" charset="-122"/>
                          <a:cs typeface="+mn-lt" pitchFamily="34" charset="-120"/>
                        </a:rPr>
                        <a:t>50</a:t>
                      </a:r>
                      <a:endParaRPr lang="en-US" sz="900" dirty="0">
                        <a:latin typeface="+mn-lt" charset="0"/>
                        <a:ea typeface="+mn-lt" charset="0"/>
                        <a:cs typeface="+mn-lt" charset="0"/>
                      </a:endParaRPr>
                    </a:p>
                  </a:txBody>
                  <a:tcPr marL="45720" marR="45720" marT="45720" marB="45720" anchor="t">
                    <a:lnL w="6350" cap="flat" cmpd="sng" algn="ctr">
                      <a:solidFill>
                        <a:srgbClr val="D9E0E8"/>
                      </a:solidFill>
                      <a:prstDash val="solid"/>
                      <a:round/>
                      <a:headEnd type="none" w="med" len="med"/>
                      <a:tailEnd type="none" w="med" len="med"/>
                    </a:lnL>
                    <a:lnR w="6350" cap="flat" cmpd="sng" algn="ctr">
                      <a:solidFill>
                        <a:srgbClr val="D9E0E8"/>
                      </a:solidFill>
                      <a:prstDash val="solid"/>
                      <a:round/>
                      <a:headEnd type="none" w="med" len="med"/>
                      <a:tailEnd type="none" w="med" len="med"/>
                    </a:lnR>
                    <a:lnT w="6350" cap="flat" cmpd="sng" algn="ctr">
                      <a:solidFill>
                        <a:srgbClr val="D9E0E8"/>
                      </a:solidFill>
                      <a:prstDash val="solid"/>
                      <a:round/>
                      <a:headEnd type="none" w="med" len="med"/>
                      <a:tailEnd type="none" w="med" len="med"/>
                    </a:lnT>
                    <a:lnB w="6350" cap="flat" cmpd="sng" algn="ctr">
                      <a:solidFill>
                        <a:srgbClr val="D9E0E8"/>
                      </a:solidFill>
                      <a:prstDash val="solid"/>
                      <a:round/>
                      <a:headEnd type="none" w="med" len="med"/>
                      <a:tailEnd type="none" w="med" len="med"/>
                    </a:lnB>
                    <a:solidFill>
                      <a:schemeClr val="bg1"/>
                    </a:solidFill>
                  </a:tcPr>
                </a:tc>
                <a:tc>
                  <a:txBody>
                    <a:bodyPr/>
                    <a:lstStyle/>
                    <a:p>
                      <a:pPr indent="0" marL="0">
                        <a:buNone/>
                      </a:pPr>
                      <a:r>
                        <a:rPr lang="en-US" sz="900" dirty="0">
                          <a:solidFill>
                            <a:schemeClr val="tx1"/>
                          </a:solidFill>
                          <a:latin typeface="+mn-lt" pitchFamily="34" charset="0"/>
                          <a:ea typeface="+mn-lt" pitchFamily="34" charset="-122"/>
                          <a:cs typeface="+mn-lt" pitchFamily="34" charset="-120"/>
                        </a:rPr>
                        <a:t>0.97 ± 0.43</a:t>
                      </a:r>
                      <a:endParaRPr lang="en-US" sz="900" dirty="0">
                        <a:latin typeface="+mn-lt" charset="0"/>
                        <a:ea typeface="+mn-lt" charset="0"/>
                        <a:cs typeface="+mn-lt" charset="0"/>
                      </a:endParaRPr>
                    </a:p>
                  </a:txBody>
                  <a:tcPr marL="45720" marR="45720" marT="45720" marB="45720" anchor="t">
                    <a:lnL w="6350" cap="flat" cmpd="sng" algn="ctr">
                      <a:solidFill>
                        <a:srgbClr val="D9E0E8"/>
                      </a:solidFill>
                      <a:prstDash val="solid"/>
                      <a:round/>
                      <a:headEnd type="none" w="med" len="med"/>
                      <a:tailEnd type="none" w="med" len="med"/>
                    </a:lnL>
                    <a:lnR w="6350" cap="flat" cmpd="sng" algn="ctr">
                      <a:solidFill>
                        <a:srgbClr val="D9E0E8"/>
                      </a:solidFill>
                      <a:prstDash val="solid"/>
                      <a:round/>
                      <a:headEnd type="none" w="med" len="med"/>
                      <a:tailEnd type="none" w="med" len="med"/>
                    </a:lnR>
                    <a:lnT w="6350" cap="flat" cmpd="sng" algn="ctr">
                      <a:solidFill>
                        <a:srgbClr val="D9E0E8"/>
                      </a:solidFill>
                      <a:prstDash val="solid"/>
                      <a:round/>
                      <a:headEnd type="none" w="med" len="med"/>
                      <a:tailEnd type="none" w="med" len="med"/>
                    </a:lnT>
                    <a:lnB w="6350" cap="flat" cmpd="sng" algn="ctr">
                      <a:solidFill>
                        <a:srgbClr val="D9E0E8"/>
                      </a:solidFill>
                      <a:prstDash val="solid"/>
                      <a:round/>
                      <a:headEnd type="none" w="med" len="med"/>
                      <a:tailEnd type="none" w="med" len="med"/>
                    </a:lnB>
                    <a:solidFill>
                      <a:schemeClr val="bg1"/>
                    </a:solidFill>
                  </a:tcPr>
                </a:tc>
                <a:tc>
                  <a:txBody>
                    <a:bodyPr/>
                    <a:lstStyle/>
                    <a:p>
                      <a:pPr indent="0" marL="0">
                        <a:buNone/>
                      </a:pPr>
                      <a:r>
                        <a:rPr lang="en-US" sz="900" dirty="0">
                          <a:solidFill>
                            <a:schemeClr val="tx1"/>
                          </a:solidFill>
                          <a:latin typeface="+mn-lt" pitchFamily="34" charset="0"/>
                          <a:ea typeface="+mn-lt" pitchFamily="34" charset="-122"/>
                          <a:cs typeface="+mn-lt" pitchFamily="34" charset="-120"/>
                        </a:rPr>
                        <a:t>3.12</a:t>
                      </a:r>
                      <a:endParaRPr lang="en-US" sz="900" dirty="0">
                        <a:latin typeface="+mn-lt" charset="0"/>
                        <a:ea typeface="+mn-lt" charset="0"/>
                        <a:cs typeface="+mn-lt" charset="0"/>
                      </a:endParaRPr>
                    </a:p>
                  </a:txBody>
                  <a:tcPr marL="45720" marR="45720" marT="45720" marB="45720" anchor="t">
                    <a:lnL w="6350" cap="flat" cmpd="sng" algn="ctr">
                      <a:solidFill>
                        <a:srgbClr val="D9E0E8"/>
                      </a:solidFill>
                      <a:prstDash val="solid"/>
                      <a:round/>
                      <a:headEnd type="none" w="med" len="med"/>
                      <a:tailEnd type="none" w="med" len="med"/>
                    </a:lnL>
                    <a:lnR w="6350" cap="flat" cmpd="sng" algn="ctr">
                      <a:solidFill>
                        <a:srgbClr val="D9E0E8"/>
                      </a:solidFill>
                      <a:prstDash val="solid"/>
                      <a:round/>
                      <a:headEnd type="none" w="med" len="med"/>
                      <a:tailEnd type="none" w="med" len="med"/>
                    </a:lnR>
                    <a:lnT w="6350" cap="flat" cmpd="sng" algn="ctr">
                      <a:solidFill>
                        <a:srgbClr val="D9E0E8"/>
                      </a:solidFill>
                      <a:prstDash val="solid"/>
                      <a:round/>
                      <a:headEnd type="none" w="med" len="med"/>
                      <a:tailEnd type="none" w="med" len="med"/>
                    </a:lnT>
                    <a:lnB w="6350" cap="flat" cmpd="sng" algn="ctr">
                      <a:solidFill>
                        <a:srgbClr val="D9E0E8"/>
                      </a:solidFill>
                      <a:prstDash val="solid"/>
                      <a:round/>
                      <a:headEnd type="none" w="med" len="med"/>
                      <a:tailEnd type="none" w="med" len="med"/>
                    </a:lnB>
                    <a:solidFill>
                      <a:schemeClr val="bg1"/>
                    </a:solidFill>
                  </a:tcPr>
                </a:tc>
                <a:tc>
                  <a:txBody>
                    <a:bodyPr/>
                    <a:lstStyle/>
                    <a:p>
                      <a:pPr indent="0" marL="0">
                        <a:buNone/>
                      </a:pPr>
                      <a:r>
                        <a:rPr lang="en-US" sz="900" dirty="0">
                          <a:solidFill>
                            <a:schemeClr val="tx1"/>
                          </a:solidFill>
                          <a:latin typeface="+mn-lt" pitchFamily="34" charset="0"/>
                          <a:ea typeface="+mn-lt" pitchFamily="34" charset="-122"/>
                          <a:cs typeface="+mn-lt" pitchFamily="34" charset="-120"/>
                        </a:rPr>
                        <a:t>traceable 100 %; always posterior</a:t>
                      </a:r>
                      <a:endParaRPr lang="en-US" sz="900" dirty="0">
                        <a:latin typeface="+mn-lt" charset="0"/>
                        <a:ea typeface="+mn-lt" charset="0"/>
                        <a:cs typeface="+mn-lt" charset="0"/>
                      </a:endParaRPr>
                    </a:p>
                  </a:txBody>
                  <a:tcPr marL="45720" marR="45720" marT="45720" marB="45720" anchor="t">
                    <a:lnL w="6350" cap="flat" cmpd="sng" algn="ctr">
                      <a:solidFill>
                        <a:srgbClr val="D9E0E8"/>
                      </a:solidFill>
                      <a:prstDash val="solid"/>
                      <a:round/>
                      <a:headEnd type="none" w="med" len="med"/>
                      <a:tailEnd type="none" w="med" len="med"/>
                    </a:lnL>
                    <a:lnR w="6350" cap="flat" cmpd="sng" algn="ctr">
                      <a:solidFill>
                        <a:srgbClr val="D9E0E8"/>
                      </a:solidFill>
                      <a:prstDash val="solid"/>
                      <a:round/>
                      <a:headEnd type="none" w="med" len="med"/>
                      <a:tailEnd type="none" w="med" len="med"/>
                    </a:lnR>
                    <a:lnT w="6350" cap="flat" cmpd="sng" algn="ctr">
                      <a:solidFill>
                        <a:srgbClr val="D9E0E8"/>
                      </a:solidFill>
                      <a:prstDash val="solid"/>
                      <a:round/>
                      <a:headEnd type="none" w="med" len="med"/>
                      <a:tailEnd type="none" w="med" len="med"/>
                    </a:lnT>
                    <a:lnB w="6350" cap="flat" cmpd="sng" algn="ctr">
                      <a:solidFill>
                        <a:srgbClr val="D9E0E8"/>
                      </a:solidFill>
                      <a:prstDash val="solid"/>
                      <a:round/>
                      <a:headEnd type="none" w="med" len="med"/>
                      <a:tailEnd type="none" w="med" len="med"/>
                    </a:lnB>
                    <a:solidFill>
                      <a:schemeClr val="bg1"/>
                    </a:solidFill>
                  </a:tcPr>
                </a:tc>
              </a:tr>
              <a:tr h="0">
                <a:tc>
                  <a:txBody>
                    <a:bodyPr/>
                    <a:lstStyle/>
                    <a:p>
                      <a:pPr indent="0" marL="0">
                        <a:buNone/>
                      </a:pPr>
                      <a:r>
                        <a:rPr lang="en-US" sz="900" dirty="0">
                          <a:solidFill>
                            <a:schemeClr val="tx1"/>
                          </a:solidFill>
                          <a:latin typeface="+mn-lt" pitchFamily="34" charset="0"/>
                          <a:ea typeface="+mn-lt" pitchFamily="34" charset="-122"/>
                          <a:cs typeface="+mn-lt" pitchFamily="34" charset="-120"/>
                        </a:rPr>
                        <a:t>Palate, superior / inferior border</a:t>
                      </a:r>
                      <a:endParaRPr lang="en-US" sz="900" dirty="0">
                        <a:latin typeface="+mn-lt" charset="0"/>
                        <a:ea typeface="+mn-lt" charset="0"/>
                        <a:cs typeface="+mn-lt" charset="0"/>
                      </a:endParaRPr>
                    </a:p>
                  </a:txBody>
                  <a:tcPr marL="45720" marR="45720" marT="45720" marB="45720" anchor="t">
                    <a:lnL w="6350" cap="flat" cmpd="sng" algn="ctr">
                      <a:solidFill>
                        <a:srgbClr val="D9E0E8"/>
                      </a:solidFill>
                      <a:prstDash val="solid"/>
                      <a:round/>
                      <a:headEnd type="none" w="med" len="med"/>
                      <a:tailEnd type="none" w="med" len="med"/>
                    </a:lnL>
                    <a:lnR w="6350" cap="flat" cmpd="sng" algn="ctr">
                      <a:solidFill>
                        <a:srgbClr val="D9E0E8"/>
                      </a:solidFill>
                      <a:prstDash val="solid"/>
                      <a:round/>
                      <a:headEnd type="none" w="med" len="med"/>
                      <a:tailEnd type="none" w="med" len="med"/>
                    </a:lnR>
                    <a:lnT w="6350" cap="flat" cmpd="sng" algn="ctr">
                      <a:solidFill>
                        <a:srgbClr val="D9E0E8"/>
                      </a:solidFill>
                      <a:prstDash val="solid"/>
                      <a:round/>
                      <a:headEnd type="none" w="med" len="med"/>
                      <a:tailEnd type="none" w="med" len="med"/>
                    </a:lnT>
                    <a:lnB w="6350" cap="flat" cmpd="sng" algn="ctr">
                      <a:solidFill>
                        <a:srgbClr val="D9E0E8"/>
                      </a:solidFill>
                      <a:prstDash val="solid"/>
                      <a:round/>
                      <a:headEnd type="none" w="med" len="med"/>
                      <a:tailEnd type="none" w="med" len="med"/>
                    </a:lnB>
                    <a:solidFill>
                      <a:schemeClr val="bg2"/>
                    </a:solidFill>
                  </a:tcPr>
                </a:tc>
                <a:tc>
                  <a:txBody>
                    <a:bodyPr/>
                    <a:lstStyle/>
                    <a:p>
                      <a:pPr indent="0" marL="0">
                        <a:buNone/>
                      </a:pPr>
                      <a:r>
                        <a:rPr lang="en-US" sz="900" dirty="0">
                          <a:solidFill>
                            <a:schemeClr val="tx1"/>
                          </a:solidFill>
                          <a:latin typeface="+mn-lt" pitchFamily="34" charset="0"/>
                          <a:ea typeface="+mn-lt" pitchFamily="34" charset="-122"/>
                          <a:cs typeface="+mn-lt" pitchFamily="34" charset="-120"/>
                        </a:rPr>
                        <a:t>50</a:t>
                      </a:r>
                      <a:endParaRPr lang="en-US" sz="900" dirty="0">
                        <a:latin typeface="+mn-lt" charset="0"/>
                        <a:ea typeface="+mn-lt" charset="0"/>
                        <a:cs typeface="+mn-lt" charset="0"/>
                      </a:endParaRPr>
                    </a:p>
                  </a:txBody>
                  <a:tcPr marL="45720" marR="45720" marT="45720" marB="45720" anchor="t">
                    <a:lnL w="6350" cap="flat" cmpd="sng" algn="ctr">
                      <a:solidFill>
                        <a:srgbClr val="D9E0E8"/>
                      </a:solidFill>
                      <a:prstDash val="solid"/>
                      <a:round/>
                      <a:headEnd type="none" w="med" len="med"/>
                      <a:tailEnd type="none" w="med" len="med"/>
                    </a:lnL>
                    <a:lnR w="6350" cap="flat" cmpd="sng" algn="ctr">
                      <a:solidFill>
                        <a:srgbClr val="D9E0E8"/>
                      </a:solidFill>
                      <a:prstDash val="solid"/>
                      <a:round/>
                      <a:headEnd type="none" w="med" len="med"/>
                      <a:tailEnd type="none" w="med" len="med"/>
                    </a:lnR>
                    <a:lnT w="6350" cap="flat" cmpd="sng" algn="ctr">
                      <a:solidFill>
                        <a:srgbClr val="D9E0E8"/>
                      </a:solidFill>
                      <a:prstDash val="solid"/>
                      <a:round/>
                      <a:headEnd type="none" w="med" len="med"/>
                      <a:tailEnd type="none" w="med" len="med"/>
                    </a:lnT>
                    <a:lnB w="6350" cap="flat" cmpd="sng" algn="ctr">
                      <a:solidFill>
                        <a:srgbClr val="D9E0E8"/>
                      </a:solidFill>
                      <a:prstDash val="solid"/>
                      <a:round/>
                      <a:headEnd type="none" w="med" len="med"/>
                      <a:tailEnd type="none" w="med" len="med"/>
                    </a:lnB>
                    <a:solidFill>
                      <a:schemeClr val="bg2"/>
                    </a:solidFill>
                  </a:tcPr>
                </a:tc>
                <a:tc>
                  <a:txBody>
                    <a:bodyPr/>
                    <a:lstStyle/>
                    <a:p>
                      <a:pPr indent="0" marL="0">
                        <a:buNone/>
                      </a:pPr>
                      <a:r>
                        <a:rPr lang="en-US" sz="900" dirty="0">
                          <a:solidFill>
                            <a:schemeClr val="tx1"/>
                          </a:solidFill>
                          <a:latin typeface="+mn-lt" pitchFamily="34" charset="0"/>
                          <a:ea typeface="+mn-lt" pitchFamily="34" charset="-122"/>
                          <a:cs typeface="+mn-lt" pitchFamily="34" charset="-120"/>
                        </a:rPr>
                        <a:t>1.05 ± 0.52 / 1.14 ± 0.60</a:t>
                      </a:r>
                      <a:endParaRPr lang="en-US" sz="900" dirty="0">
                        <a:latin typeface="+mn-lt" charset="0"/>
                        <a:ea typeface="+mn-lt" charset="0"/>
                        <a:cs typeface="+mn-lt" charset="0"/>
                      </a:endParaRPr>
                    </a:p>
                  </a:txBody>
                  <a:tcPr marL="45720" marR="45720" marT="45720" marB="45720" anchor="t">
                    <a:lnL w="6350" cap="flat" cmpd="sng" algn="ctr">
                      <a:solidFill>
                        <a:srgbClr val="D9E0E8"/>
                      </a:solidFill>
                      <a:prstDash val="solid"/>
                      <a:round/>
                      <a:headEnd type="none" w="med" len="med"/>
                      <a:tailEnd type="none" w="med" len="med"/>
                    </a:lnL>
                    <a:lnR w="6350" cap="flat" cmpd="sng" algn="ctr">
                      <a:solidFill>
                        <a:srgbClr val="D9E0E8"/>
                      </a:solidFill>
                      <a:prstDash val="solid"/>
                      <a:round/>
                      <a:headEnd type="none" w="med" len="med"/>
                      <a:tailEnd type="none" w="med" len="med"/>
                    </a:lnR>
                    <a:lnT w="6350" cap="flat" cmpd="sng" algn="ctr">
                      <a:solidFill>
                        <a:srgbClr val="D9E0E8"/>
                      </a:solidFill>
                      <a:prstDash val="solid"/>
                      <a:round/>
                      <a:headEnd type="none" w="med" len="med"/>
                      <a:tailEnd type="none" w="med" len="med"/>
                    </a:lnT>
                    <a:lnB w="6350" cap="flat" cmpd="sng" algn="ctr">
                      <a:solidFill>
                        <a:srgbClr val="D9E0E8"/>
                      </a:solidFill>
                      <a:prstDash val="solid"/>
                      <a:round/>
                      <a:headEnd type="none" w="med" len="med"/>
                      <a:tailEnd type="none" w="med" len="med"/>
                    </a:lnB>
                    <a:solidFill>
                      <a:schemeClr val="bg2"/>
                    </a:solidFill>
                  </a:tcPr>
                </a:tc>
                <a:tc>
                  <a:txBody>
                    <a:bodyPr/>
                    <a:lstStyle/>
                    <a:p>
                      <a:pPr indent="0" marL="0">
                        <a:buNone/>
                      </a:pPr>
                      <a:r>
                        <a:rPr lang="en-US" sz="900" dirty="0">
                          <a:solidFill>
                            <a:schemeClr val="tx1"/>
                          </a:solidFill>
                          <a:latin typeface="+mn-lt" pitchFamily="34" charset="0"/>
                          <a:ea typeface="+mn-lt" pitchFamily="34" charset="-122"/>
                          <a:cs typeface="+mn-lt" pitchFamily="34" charset="-120"/>
                        </a:rPr>
                        <a:t>2.90 / 3.34</a:t>
                      </a:r>
                      <a:endParaRPr lang="en-US" sz="900" dirty="0">
                        <a:latin typeface="+mn-lt" charset="0"/>
                        <a:ea typeface="+mn-lt" charset="0"/>
                        <a:cs typeface="+mn-lt" charset="0"/>
                      </a:endParaRPr>
                    </a:p>
                  </a:txBody>
                  <a:tcPr marL="45720" marR="45720" marT="45720" marB="45720" anchor="t">
                    <a:lnL w="6350" cap="flat" cmpd="sng" algn="ctr">
                      <a:solidFill>
                        <a:srgbClr val="D9E0E8"/>
                      </a:solidFill>
                      <a:prstDash val="solid"/>
                      <a:round/>
                      <a:headEnd type="none" w="med" len="med"/>
                      <a:tailEnd type="none" w="med" len="med"/>
                    </a:lnL>
                    <a:lnR w="6350" cap="flat" cmpd="sng" algn="ctr">
                      <a:solidFill>
                        <a:srgbClr val="D9E0E8"/>
                      </a:solidFill>
                      <a:prstDash val="solid"/>
                      <a:round/>
                      <a:headEnd type="none" w="med" len="med"/>
                      <a:tailEnd type="none" w="med" len="med"/>
                    </a:lnR>
                    <a:lnT w="6350" cap="flat" cmpd="sng" algn="ctr">
                      <a:solidFill>
                        <a:srgbClr val="D9E0E8"/>
                      </a:solidFill>
                      <a:prstDash val="solid"/>
                      <a:round/>
                      <a:headEnd type="none" w="med" len="med"/>
                      <a:tailEnd type="none" w="med" len="med"/>
                    </a:lnT>
                    <a:lnB w="6350" cap="flat" cmpd="sng" algn="ctr">
                      <a:solidFill>
                        <a:srgbClr val="D9E0E8"/>
                      </a:solidFill>
                      <a:prstDash val="solid"/>
                      <a:round/>
                      <a:headEnd type="none" w="med" len="med"/>
                      <a:tailEnd type="none" w="med" len="med"/>
                    </a:lnB>
                    <a:solidFill>
                      <a:schemeClr val="bg2"/>
                    </a:solidFill>
                  </a:tcPr>
                </a:tc>
                <a:tc>
                  <a:txBody>
                    <a:bodyPr/>
                    <a:lstStyle/>
                    <a:p>
                      <a:pPr indent="0" marL="0">
                        <a:buNone/>
                      </a:pPr>
                      <a:r>
                        <a:rPr lang="en-US" sz="900" dirty="0">
                          <a:solidFill>
                            <a:schemeClr val="tx1"/>
                          </a:solidFill>
                          <a:latin typeface="+mn-lt" pitchFamily="34" charset="0"/>
                          <a:ea typeface="+mn-lt" pitchFamily="34" charset="-122"/>
                          <a:cs typeface="+mn-lt" pitchFamily="34" charset="-120"/>
                        </a:rPr>
                        <a:t>listed not reliable</a:t>
                      </a:r>
                      <a:endParaRPr lang="en-US" sz="900" dirty="0">
                        <a:latin typeface="+mn-lt" charset="0"/>
                        <a:ea typeface="+mn-lt" charset="0"/>
                        <a:cs typeface="+mn-lt" charset="0"/>
                      </a:endParaRPr>
                    </a:p>
                  </a:txBody>
                  <a:tcPr marL="45720" marR="45720" marT="45720" marB="45720" anchor="t">
                    <a:lnL w="6350" cap="flat" cmpd="sng" algn="ctr">
                      <a:solidFill>
                        <a:srgbClr val="D9E0E8"/>
                      </a:solidFill>
                      <a:prstDash val="solid"/>
                      <a:round/>
                      <a:headEnd type="none" w="med" len="med"/>
                      <a:tailEnd type="none" w="med" len="med"/>
                    </a:lnL>
                    <a:lnR w="6350" cap="flat" cmpd="sng" algn="ctr">
                      <a:solidFill>
                        <a:srgbClr val="D9E0E8"/>
                      </a:solidFill>
                      <a:prstDash val="solid"/>
                      <a:round/>
                      <a:headEnd type="none" w="med" len="med"/>
                      <a:tailEnd type="none" w="med" len="med"/>
                    </a:lnR>
                    <a:lnT w="6350" cap="flat" cmpd="sng" algn="ctr">
                      <a:solidFill>
                        <a:srgbClr val="D9E0E8"/>
                      </a:solidFill>
                      <a:prstDash val="solid"/>
                      <a:round/>
                      <a:headEnd type="none" w="med" len="med"/>
                      <a:tailEnd type="none" w="med" len="med"/>
                    </a:lnT>
                    <a:lnB w="6350" cap="flat" cmpd="sng" algn="ctr">
                      <a:solidFill>
                        <a:srgbClr val="D9E0E8"/>
                      </a:solidFill>
                      <a:prstDash val="solid"/>
                      <a:round/>
                      <a:headEnd type="none" w="med" len="med"/>
                      <a:tailEnd type="none" w="med" len="med"/>
                    </a:lnB>
                    <a:solidFill>
                      <a:schemeClr val="bg2"/>
                    </a:solidFill>
                  </a:tcPr>
                </a:tc>
              </a:tr>
              <a:tr h="0">
                <a:tc>
                  <a:txBody>
                    <a:bodyPr/>
                    <a:lstStyle/>
                    <a:p>
                      <a:pPr indent="0" marL="0">
                        <a:buNone/>
                      </a:pPr>
                      <a:r>
                        <a:rPr lang="en-US" sz="900" dirty="0">
                          <a:solidFill>
                            <a:schemeClr val="tx1"/>
                          </a:solidFill>
                          <a:latin typeface="+mn-lt" pitchFamily="34" charset="0"/>
                          <a:ea typeface="+mn-lt" pitchFamily="34" charset="-122"/>
                          <a:cs typeface="+mn-lt" pitchFamily="34" charset="-120"/>
                        </a:rPr>
                        <a:t>ANS, vertical / horizontal</a:t>
                      </a:r>
                      <a:endParaRPr lang="en-US" sz="900" dirty="0">
                        <a:latin typeface="+mn-lt" charset="0"/>
                        <a:ea typeface="+mn-lt" charset="0"/>
                        <a:cs typeface="+mn-lt" charset="0"/>
                      </a:endParaRPr>
                    </a:p>
                  </a:txBody>
                  <a:tcPr marL="45720" marR="45720" marT="45720" marB="45720" anchor="t">
                    <a:lnL w="6350" cap="flat" cmpd="sng" algn="ctr">
                      <a:solidFill>
                        <a:srgbClr val="D9E0E8"/>
                      </a:solidFill>
                      <a:prstDash val="solid"/>
                      <a:round/>
                      <a:headEnd type="none" w="med" len="med"/>
                      <a:tailEnd type="none" w="med" len="med"/>
                    </a:lnL>
                    <a:lnR w="6350" cap="flat" cmpd="sng" algn="ctr">
                      <a:solidFill>
                        <a:srgbClr val="D9E0E8"/>
                      </a:solidFill>
                      <a:prstDash val="solid"/>
                      <a:round/>
                      <a:headEnd type="none" w="med" len="med"/>
                      <a:tailEnd type="none" w="med" len="med"/>
                    </a:lnR>
                    <a:lnT w="6350" cap="flat" cmpd="sng" algn="ctr">
                      <a:solidFill>
                        <a:srgbClr val="D9E0E8"/>
                      </a:solidFill>
                      <a:prstDash val="solid"/>
                      <a:round/>
                      <a:headEnd type="none" w="med" len="med"/>
                      <a:tailEnd type="none" w="med" len="med"/>
                    </a:lnT>
                    <a:lnB w="6350" cap="flat" cmpd="sng" algn="ctr">
                      <a:solidFill>
                        <a:srgbClr val="D9E0E8"/>
                      </a:solidFill>
                      <a:prstDash val="solid"/>
                      <a:round/>
                      <a:headEnd type="none" w="med" len="med"/>
                      <a:tailEnd type="none" w="med" len="med"/>
                    </a:lnB>
                    <a:solidFill>
                      <a:schemeClr val="bg1"/>
                    </a:solidFill>
                  </a:tcPr>
                </a:tc>
                <a:tc>
                  <a:txBody>
                    <a:bodyPr/>
                    <a:lstStyle/>
                    <a:p>
                      <a:pPr indent="0" marL="0">
                        <a:buNone/>
                      </a:pPr>
                      <a:r>
                        <a:rPr lang="en-US" sz="900" dirty="0">
                          <a:solidFill>
                            <a:schemeClr val="tx1"/>
                          </a:solidFill>
                          <a:latin typeface="+mn-lt" pitchFamily="34" charset="0"/>
                          <a:ea typeface="+mn-lt" pitchFamily="34" charset="-122"/>
                          <a:cs typeface="+mn-lt" pitchFamily="34" charset="-120"/>
                        </a:rPr>
                        <a:t>50</a:t>
                      </a:r>
                      <a:endParaRPr lang="en-US" sz="900" dirty="0">
                        <a:latin typeface="+mn-lt" charset="0"/>
                        <a:ea typeface="+mn-lt" charset="0"/>
                        <a:cs typeface="+mn-lt" charset="0"/>
                      </a:endParaRPr>
                    </a:p>
                  </a:txBody>
                  <a:tcPr marL="45720" marR="45720" marT="45720" marB="45720" anchor="t">
                    <a:lnL w="6350" cap="flat" cmpd="sng" algn="ctr">
                      <a:solidFill>
                        <a:srgbClr val="D9E0E8"/>
                      </a:solidFill>
                      <a:prstDash val="solid"/>
                      <a:round/>
                      <a:headEnd type="none" w="med" len="med"/>
                      <a:tailEnd type="none" w="med" len="med"/>
                    </a:lnL>
                    <a:lnR w="6350" cap="flat" cmpd="sng" algn="ctr">
                      <a:solidFill>
                        <a:srgbClr val="D9E0E8"/>
                      </a:solidFill>
                      <a:prstDash val="solid"/>
                      <a:round/>
                      <a:headEnd type="none" w="med" len="med"/>
                      <a:tailEnd type="none" w="med" len="med"/>
                    </a:lnR>
                    <a:lnT w="6350" cap="flat" cmpd="sng" algn="ctr">
                      <a:solidFill>
                        <a:srgbClr val="D9E0E8"/>
                      </a:solidFill>
                      <a:prstDash val="solid"/>
                      <a:round/>
                      <a:headEnd type="none" w="med" len="med"/>
                      <a:tailEnd type="none" w="med" len="med"/>
                    </a:lnT>
                    <a:lnB w="6350" cap="flat" cmpd="sng" algn="ctr">
                      <a:solidFill>
                        <a:srgbClr val="D9E0E8"/>
                      </a:solidFill>
                      <a:prstDash val="solid"/>
                      <a:round/>
                      <a:headEnd type="none" w="med" len="med"/>
                      <a:tailEnd type="none" w="med" len="med"/>
                    </a:lnB>
                    <a:solidFill>
                      <a:schemeClr val="bg1"/>
                    </a:solidFill>
                  </a:tcPr>
                </a:tc>
                <a:tc>
                  <a:txBody>
                    <a:bodyPr/>
                    <a:lstStyle/>
                    <a:p>
                      <a:pPr indent="0" marL="0">
                        <a:buNone/>
                      </a:pPr>
                      <a:r>
                        <a:rPr lang="en-US" sz="900" dirty="0">
                          <a:solidFill>
                            <a:schemeClr val="tx1"/>
                          </a:solidFill>
                          <a:latin typeface="+mn-lt" pitchFamily="34" charset="0"/>
                          <a:ea typeface="+mn-lt" pitchFamily="34" charset="-122"/>
                          <a:cs typeface="+mn-lt" pitchFamily="34" charset="-120"/>
                        </a:rPr>
                        <a:t>1.29 ± 0.86 / 1.43 ± 1.14</a:t>
                      </a:r>
                      <a:endParaRPr lang="en-US" sz="900" dirty="0">
                        <a:latin typeface="+mn-lt" charset="0"/>
                        <a:ea typeface="+mn-lt" charset="0"/>
                        <a:cs typeface="+mn-lt" charset="0"/>
                      </a:endParaRPr>
                    </a:p>
                  </a:txBody>
                  <a:tcPr marL="45720" marR="45720" marT="45720" marB="45720" anchor="t">
                    <a:lnL w="6350" cap="flat" cmpd="sng" algn="ctr">
                      <a:solidFill>
                        <a:srgbClr val="D9E0E8"/>
                      </a:solidFill>
                      <a:prstDash val="solid"/>
                      <a:round/>
                      <a:headEnd type="none" w="med" len="med"/>
                      <a:tailEnd type="none" w="med" len="med"/>
                    </a:lnL>
                    <a:lnR w="6350" cap="flat" cmpd="sng" algn="ctr">
                      <a:solidFill>
                        <a:srgbClr val="D9E0E8"/>
                      </a:solidFill>
                      <a:prstDash val="solid"/>
                      <a:round/>
                      <a:headEnd type="none" w="med" len="med"/>
                      <a:tailEnd type="none" w="med" len="med"/>
                    </a:lnR>
                    <a:lnT w="6350" cap="flat" cmpd="sng" algn="ctr">
                      <a:solidFill>
                        <a:srgbClr val="D9E0E8"/>
                      </a:solidFill>
                      <a:prstDash val="solid"/>
                      <a:round/>
                      <a:headEnd type="none" w="med" len="med"/>
                      <a:tailEnd type="none" w="med" len="med"/>
                    </a:lnT>
                    <a:lnB w="6350" cap="flat" cmpd="sng" algn="ctr">
                      <a:solidFill>
                        <a:srgbClr val="D9E0E8"/>
                      </a:solidFill>
                      <a:prstDash val="solid"/>
                      <a:round/>
                      <a:headEnd type="none" w="med" len="med"/>
                      <a:tailEnd type="none" w="med" len="med"/>
                    </a:lnB>
                    <a:solidFill>
                      <a:schemeClr val="bg1"/>
                    </a:solidFill>
                  </a:tcPr>
                </a:tc>
                <a:tc>
                  <a:txBody>
                    <a:bodyPr/>
                    <a:lstStyle/>
                    <a:p>
                      <a:pPr indent="0" marL="0">
                        <a:buNone/>
                      </a:pPr>
                      <a:r>
                        <a:rPr lang="en-US" sz="900" dirty="0">
                          <a:solidFill>
                            <a:schemeClr val="tx1"/>
                          </a:solidFill>
                          <a:latin typeface="+mn-lt" pitchFamily="34" charset="0"/>
                          <a:ea typeface="+mn-lt" pitchFamily="34" charset="-122"/>
                          <a:cs typeface="+mn-lt" pitchFamily="34" charset="-120"/>
                        </a:rPr>
                        <a:t>4.82 / 5.09</a:t>
                      </a:r>
                      <a:endParaRPr lang="en-US" sz="900" dirty="0">
                        <a:latin typeface="+mn-lt" charset="0"/>
                        <a:ea typeface="+mn-lt" charset="0"/>
                        <a:cs typeface="+mn-lt" charset="0"/>
                      </a:endParaRPr>
                    </a:p>
                  </a:txBody>
                  <a:tcPr marL="45720" marR="45720" marT="45720" marB="45720" anchor="t">
                    <a:lnL w="6350" cap="flat" cmpd="sng" algn="ctr">
                      <a:solidFill>
                        <a:srgbClr val="D9E0E8"/>
                      </a:solidFill>
                      <a:prstDash val="solid"/>
                      <a:round/>
                      <a:headEnd type="none" w="med" len="med"/>
                      <a:tailEnd type="none" w="med" len="med"/>
                    </a:lnL>
                    <a:lnR w="6350" cap="flat" cmpd="sng" algn="ctr">
                      <a:solidFill>
                        <a:srgbClr val="D9E0E8"/>
                      </a:solidFill>
                      <a:prstDash val="solid"/>
                      <a:round/>
                      <a:headEnd type="none" w="med" len="med"/>
                      <a:tailEnd type="none" w="med" len="med"/>
                    </a:lnR>
                    <a:lnT w="6350" cap="flat" cmpd="sng" algn="ctr">
                      <a:solidFill>
                        <a:srgbClr val="D9E0E8"/>
                      </a:solidFill>
                      <a:prstDash val="solid"/>
                      <a:round/>
                      <a:headEnd type="none" w="med" len="med"/>
                      <a:tailEnd type="none" w="med" len="med"/>
                    </a:lnT>
                    <a:lnB w="6350" cap="flat" cmpd="sng" algn="ctr">
                      <a:solidFill>
                        <a:srgbClr val="D9E0E8"/>
                      </a:solidFill>
                      <a:prstDash val="solid"/>
                      <a:round/>
                      <a:headEnd type="none" w="med" len="med"/>
                      <a:tailEnd type="none" w="med" len="med"/>
                    </a:lnB>
                    <a:solidFill>
                      <a:schemeClr val="bg1"/>
                    </a:solidFill>
                  </a:tcPr>
                </a:tc>
                <a:tc>
                  <a:txBody>
                    <a:bodyPr/>
                    <a:lstStyle/>
                    <a:p>
                      <a:pPr indent="0" marL="0">
                        <a:buNone/>
                      </a:pPr>
                      <a:endParaRPr lang="en-US" sz="900" dirty="0">
                        <a:latin typeface="+mn-lt" charset="0"/>
                        <a:ea typeface="+mn-lt" charset="0"/>
                        <a:cs typeface="+mn-lt" charset="0"/>
                      </a:endParaRPr>
                    </a:p>
                  </a:txBody>
                  <a:tcPr marL="45720" marR="45720" marT="45720" marB="45720" anchor="t">
                    <a:lnL w="6350" cap="flat" cmpd="sng" algn="ctr">
                      <a:solidFill>
                        <a:srgbClr val="D9E0E8"/>
                      </a:solidFill>
                      <a:prstDash val="solid"/>
                      <a:round/>
                      <a:headEnd type="none" w="med" len="med"/>
                      <a:tailEnd type="none" w="med" len="med"/>
                    </a:lnL>
                    <a:lnR w="6350" cap="flat" cmpd="sng" algn="ctr">
                      <a:solidFill>
                        <a:srgbClr val="D9E0E8"/>
                      </a:solidFill>
                      <a:prstDash val="solid"/>
                      <a:round/>
                      <a:headEnd type="none" w="med" len="med"/>
                      <a:tailEnd type="none" w="med" len="med"/>
                    </a:lnR>
                    <a:lnT w="6350" cap="flat" cmpd="sng" algn="ctr">
                      <a:solidFill>
                        <a:srgbClr val="D9E0E8"/>
                      </a:solidFill>
                      <a:prstDash val="solid"/>
                      <a:round/>
                      <a:headEnd type="none" w="med" len="med"/>
                      <a:tailEnd type="none" w="med" len="med"/>
                    </a:lnT>
                    <a:lnB w="6350" cap="flat" cmpd="sng" algn="ctr">
                      <a:solidFill>
                        <a:srgbClr val="D9E0E8"/>
                      </a:solidFill>
                      <a:prstDash val="solid"/>
                      <a:round/>
                      <a:headEnd type="none" w="med" len="med"/>
                      <a:tailEnd type="none" w="med" len="med"/>
                    </a:lnB>
                    <a:solidFill>
                      <a:schemeClr val="bg1"/>
                    </a:solidFill>
                  </a:tcPr>
                </a:tc>
              </a:tr>
              <a:tr h="0">
                <a:tc>
                  <a:txBody>
                    <a:bodyPr/>
                    <a:lstStyle/>
                    <a:p>
                      <a:pPr indent="0" marL="0">
                        <a:buNone/>
                      </a:pPr>
                      <a:r>
                        <a:rPr lang="en-US" sz="900" dirty="0">
                          <a:solidFill>
                            <a:schemeClr val="tx1"/>
                          </a:solidFill>
                          <a:latin typeface="+mn-lt" pitchFamily="34" charset="0"/>
                          <a:ea typeface="+mn-lt" pitchFamily="34" charset="-122"/>
                          <a:cs typeface="+mn-lt" pitchFamily="34" charset="-120"/>
                        </a:rPr>
                        <a:t>Orbital floor</a:t>
                      </a:r>
                      <a:endParaRPr lang="en-US" sz="900" dirty="0">
                        <a:latin typeface="+mn-lt" charset="0"/>
                        <a:ea typeface="+mn-lt" charset="0"/>
                        <a:cs typeface="+mn-lt" charset="0"/>
                      </a:endParaRPr>
                    </a:p>
                  </a:txBody>
                  <a:tcPr marL="45720" marR="45720" marT="45720" marB="45720" anchor="t">
                    <a:lnL w="6350" cap="flat" cmpd="sng" algn="ctr">
                      <a:solidFill>
                        <a:srgbClr val="D9E0E8"/>
                      </a:solidFill>
                      <a:prstDash val="solid"/>
                      <a:round/>
                      <a:headEnd type="none" w="med" len="med"/>
                      <a:tailEnd type="none" w="med" len="med"/>
                    </a:lnL>
                    <a:lnR w="6350" cap="flat" cmpd="sng" algn="ctr">
                      <a:solidFill>
                        <a:srgbClr val="D9E0E8"/>
                      </a:solidFill>
                      <a:prstDash val="solid"/>
                      <a:round/>
                      <a:headEnd type="none" w="med" len="med"/>
                      <a:tailEnd type="none" w="med" len="med"/>
                    </a:lnR>
                    <a:lnT w="6350" cap="flat" cmpd="sng" algn="ctr">
                      <a:solidFill>
                        <a:srgbClr val="D9E0E8"/>
                      </a:solidFill>
                      <a:prstDash val="solid"/>
                      <a:round/>
                      <a:headEnd type="none" w="med" len="med"/>
                      <a:tailEnd type="none" w="med" len="med"/>
                    </a:lnT>
                    <a:lnB w="6350" cap="flat" cmpd="sng" algn="ctr">
                      <a:solidFill>
                        <a:srgbClr val="D9E0E8"/>
                      </a:solidFill>
                      <a:prstDash val="solid"/>
                      <a:round/>
                      <a:headEnd type="none" w="med" len="med"/>
                      <a:tailEnd type="none" w="med" len="med"/>
                    </a:lnB>
                    <a:solidFill>
                      <a:schemeClr val="bg2"/>
                    </a:solidFill>
                  </a:tcPr>
                </a:tc>
                <a:tc>
                  <a:txBody>
                    <a:bodyPr/>
                    <a:lstStyle/>
                    <a:p>
                      <a:pPr indent="0" marL="0">
                        <a:buNone/>
                      </a:pPr>
                      <a:r>
                        <a:rPr lang="en-US" sz="900" dirty="0">
                          <a:solidFill>
                            <a:schemeClr val="tx1"/>
                          </a:solidFill>
                          <a:latin typeface="+mn-lt" pitchFamily="34" charset="0"/>
                          <a:ea typeface="+mn-lt" pitchFamily="34" charset="-122"/>
                          <a:cs typeface="+mn-lt" pitchFamily="34" charset="-120"/>
                        </a:rPr>
                        <a:t>47</a:t>
                      </a:r>
                      <a:endParaRPr lang="en-US" sz="900" dirty="0">
                        <a:latin typeface="+mn-lt" charset="0"/>
                        <a:ea typeface="+mn-lt" charset="0"/>
                        <a:cs typeface="+mn-lt" charset="0"/>
                      </a:endParaRPr>
                    </a:p>
                  </a:txBody>
                  <a:tcPr marL="45720" marR="45720" marT="45720" marB="45720" anchor="t">
                    <a:lnL w="6350" cap="flat" cmpd="sng" algn="ctr">
                      <a:solidFill>
                        <a:srgbClr val="D9E0E8"/>
                      </a:solidFill>
                      <a:prstDash val="solid"/>
                      <a:round/>
                      <a:headEnd type="none" w="med" len="med"/>
                      <a:tailEnd type="none" w="med" len="med"/>
                    </a:lnL>
                    <a:lnR w="6350" cap="flat" cmpd="sng" algn="ctr">
                      <a:solidFill>
                        <a:srgbClr val="D9E0E8"/>
                      </a:solidFill>
                      <a:prstDash val="solid"/>
                      <a:round/>
                      <a:headEnd type="none" w="med" len="med"/>
                      <a:tailEnd type="none" w="med" len="med"/>
                    </a:lnR>
                    <a:lnT w="6350" cap="flat" cmpd="sng" algn="ctr">
                      <a:solidFill>
                        <a:srgbClr val="D9E0E8"/>
                      </a:solidFill>
                      <a:prstDash val="solid"/>
                      <a:round/>
                      <a:headEnd type="none" w="med" len="med"/>
                      <a:tailEnd type="none" w="med" len="med"/>
                    </a:lnT>
                    <a:lnB w="6350" cap="flat" cmpd="sng" algn="ctr">
                      <a:solidFill>
                        <a:srgbClr val="D9E0E8"/>
                      </a:solidFill>
                      <a:prstDash val="solid"/>
                      <a:round/>
                      <a:headEnd type="none" w="med" len="med"/>
                      <a:tailEnd type="none" w="med" len="med"/>
                    </a:lnB>
                    <a:solidFill>
                      <a:schemeClr val="bg2"/>
                    </a:solidFill>
                  </a:tcPr>
                </a:tc>
                <a:tc>
                  <a:txBody>
                    <a:bodyPr/>
                    <a:lstStyle/>
                    <a:p>
                      <a:pPr indent="0" marL="0">
                        <a:buNone/>
                      </a:pPr>
                      <a:r>
                        <a:rPr lang="en-US" sz="900" dirty="0">
                          <a:solidFill>
                            <a:schemeClr val="tx1"/>
                          </a:solidFill>
                          <a:latin typeface="+mn-lt" pitchFamily="34" charset="0"/>
                          <a:ea typeface="+mn-lt" pitchFamily="34" charset="-122"/>
                          <a:cs typeface="+mn-lt" pitchFamily="34" charset="-120"/>
                        </a:rPr>
                        <a:t>1.40 ± 0.98</a:t>
                      </a:r>
                      <a:endParaRPr lang="en-US" sz="900" dirty="0">
                        <a:latin typeface="+mn-lt" charset="0"/>
                        <a:ea typeface="+mn-lt" charset="0"/>
                        <a:cs typeface="+mn-lt" charset="0"/>
                      </a:endParaRPr>
                    </a:p>
                  </a:txBody>
                  <a:tcPr marL="45720" marR="45720" marT="45720" marB="45720" anchor="t">
                    <a:lnL w="6350" cap="flat" cmpd="sng" algn="ctr">
                      <a:solidFill>
                        <a:srgbClr val="D9E0E8"/>
                      </a:solidFill>
                      <a:prstDash val="solid"/>
                      <a:round/>
                      <a:headEnd type="none" w="med" len="med"/>
                      <a:tailEnd type="none" w="med" len="med"/>
                    </a:lnL>
                    <a:lnR w="6350" cap="flat" cmpd="sng" algn="ctr">
                      <a:solidFill>
                        <a:srgbClr val="D9E0E8"/>
                      </a:solidFill>
                      <a:prstDash val="solid"/>
                      <a:round/>
                      <a:headEnd type="none" w="med" len="med"/>
                      <a:tailEnd type="none" w="med" len="med"/>
                    </a:lnR>
                    <a:lnT w="6350" cap="flat" cmpd="sng" algn="ctr">
                      <a:solidFill>
                        <a:srgbClr val="D9E0E8"/>
                      </a:solidFill>
                      <a:prstDash val="solid"/>
                      <a:round/>
                      <a:headEnd type="none" w="med" len="med"/>
                      <a:tailEnd type="none" w="med" len="med"/>
                    </a:lnT>
                    <a:lnB w="6350" cap="flat" cmpd="sng" algn="ctr">
                      <a:solidFill>
                        <a:srgbClr val="D9E0E8"/>
                      </a:solidFill>
                      <a:prstDash val="solid"/>
                      <a:round/>
                      <a:headEnd type="none" w="med" len="med"/>
                      <a:tailEnd type="none" w="med" len="med"/>
                    </a:lnB>
                    <a:solidFill>
                      <a:schemeClr val="bg2"/>
                    </a:solidFill>
                  </a:tcPr>
                </a:tc>
                <a:tc>
                  <a:txBody>
                    <a:bodyPr/>
                    <a:lstStyle/>
                    <a:p>
                      <a:pPr indent="0" marL="0">
                        <a:buNone/>
                      </a:pPr>
                      <a:r>
                        <a:rPr lang="en-US" sz="900" dirty="0">
                          <a:solidFill>
                            <a:schemeClr val="tx1"/>
                          </a:solidFill>
                          <a:latin typeface="+mn-lt" pitchFamily="34" charset="0"/>
                          <a:ea typeface="+mn-lt" pitchFamily="34" charset="-122"/>
                          <a:cs typeface="+mn-lt" pitchFamily="34" charset="-120"/>
                        </a:rPr>
                        <a:t>4.39</a:t>
                      </a:r>
                      <a:endParaRPr lang="en-US" sz="900" dirty="0">
                        <a:latin typeface="+mn-lt" charset="0"/>
                        <a:ea typeface="+mn-lt" charset="0"/>
                        <a:cs typeface="+mn-lt" charset="0"/>
                      </a:endParaRPr>
                    </a:p>
                  </a:txBody>
                  <a:tcPr marL="45720" marR="45720" marT="45720" marB="45720" anchor="t">
                    <a:lnL w="6350" cap="flat" cmpd="sng" algn="ctr">
                      <a:solidFill>
                        <a:srgbClr val="D9E0E8"/>
                      </a:solidFill>
                      <a:prstDash val="solid"/>
                      <a:round/>
                      <a:headEnd type="none" w="med" len="med"/>
                      <a:tailEnd type="none" w="med" len="med"/>
                    </a:lnL>
                    <a:lnR w="6350" cap="flat" cmpd="sng" algn="ctr">
                      <a:solidFill>
                        <a:srgbClr val="D9E0E8"/>
                      </a:solidFill>
                      <a:prstDash val="solid"/>
                      <a:round/>
                      <a:headEnd type="none" w="med" len="med"/>
                      <a:tailEnd type="none" w="med" len="med"/>
                    </a:lnR>
                    <a:lnT w="6350" cap="flat" cmpd="sng" algn="ctr">
                      <a:solidFill>
                        <a:srgbClr val="D9E0E8"/>
                      </a:solidFill>
                      <a:prstDash val="solid"/>
                      <a:round/>
                      <a:headEnd type="none" w="med" len="med"/>
                      <a:tailEnd type="none" w="med" len="med"/>
                    </a:lnT>
                    <a:lnB w="6350" cap="flat" cmpd="sng" algn="ctr">
                      <a:solidFill>
                        <a:srgbClr val="D9E0E8"/>
                      </a:solidFill>
                      <a:prstDash val="solid"/>
                      <a:round/>
                      <a:headEnd type="none" w="med" len="med"/>
                      <a:tailEnd type="none" w="med" len="med"/>
                    </a:lnB>
                    <a:solidFill>
                      <a:schemeClr val="bg2"/>
                    </a:solidFill>
                  </a:tcPr>
                </a:tc>
                <a:tc>
                  <a:txBody>
                    <a:bodyPr/>
                    <a:lstStyle/>
                    <a:p>
                      <a:pPr indent="0" marL="0">
                        <a:buNone/>
                      </a:pPr>
                      <a:endParaRPr lang="en-US" sz="900" dirty="0">
                        <a:latin typeface="+mn-lt" charset="0"/>
                        <a:ea typeface="+mn-lt" charset="0"/>
                        <a:cs typeface="+mn-lt" charset="0"/>
                      </a:endParaRPr>
                    </a:p>
                  </a:txBody>
                  <a:tcPr marL="45720" marR="45720" marT="45720" marB="45720" anchor="t">
                    <a:lnL w="6350" cap="flat" cmpd="sng" algn="ctr">
                      <a:solidFill>
                        <a:srgbClr val="D9E0E8"/>
                      </a:solidFill>
                      <a:prstDash val="solid"/>
                      <a:round/>
                      <a:headEnd type="none" w="med" len="med"/>
                      <a:tailEnd type="none" w="med" len="med"/>
                    </a:lnL>
                    <a:lnR w="6350" cap="flat" cmpd="sng" algn="ctr">
                      <a:solidFill>
                        <a:srgbClr val="D9E0E8"/>
                      </a:solidFill>
                      <a:prstDash val="solid"/>
                      <a:round/>
                      <a:headEnd type="none" w="med" len="med"/>
                      <a:tailEnd type="none" w="med" len="med"/>
                    </a:lnR>
                    <a:lnT w="6350" cap="flat" cmpd="sng" algn="ctr">
                      <a:solidFill>
                        <a:srgbClr val="D9E0E8"/>
                      </a:solidFill>
                      <a:prstDash val="solid"/>
                      <a:round/>
                      <a:headEnd type="none" w="med" len="med"/>
                      <a:tailEnd type="none" w="med" len="med"/>
                    </a:lnT>
                    <a:lnB w="6350" cap="flat" cmpd="sng" algn="ctr">
                      <a:solidFill>
                        <a:srgbClr val="D9E0E8"/>
                      </a:solidFill>
                      <a:prstDash val="solid"/>
                      <a:round/>
                      <a:headEnd type="none" w="med" len="med"/>
                      <a:tailEnd type="none" w="med" len="med"/>
                    </a:lnB>
                    <a:solidFill>
                      <a:schemeClr val="bg2"/>
                    </a:solidFill>
                  </a:tcPr>
                </a:tc>
              </a:tr>
              <a:tr h="0">
                <a:tc>
                  <a:txBody>
                    <a:bodyPr/>
                    <a:lstStyle/>
                    <a:p>
                      <a:pPr indent="0" marL="0">
                        <a:buNone/>
                      </a:pPr>
                      <a:r>
                        <a:rPr lang="en-US" sz="900" dirty="0">
                          <a:solidFill>
                            <a:schemeClr val="tx1"/>
                          </a:solidFill>
                          <a:latin typeface="+mn-lt" pitchFamily="34" charset="0"/>
                          <a:ea typeface="+mn-lt" pitchFamily="34" charset="-122"/>
                          <a:cs typeface="+mn-lt" pitchFamily="34" charset="-120"/>
                        </a:rPr>
                        <a:t>Infraorbital foramen</a:t>
                      </a:r>
                      <a:endParaRPr lang="en-US" sz="900" dirty="0">
                        <a:latin typeface="+mn-lt" charset="0"/>
                        <a:ea typeface="+mn-lt" charset="0"/>
                        <a:cs typeface="+mn-lt" charset="0"/>
                      </a:endParaRPr>
                    </a:p>
                  </a:txBody>
                  <a:tcPr marL="45720" marR="45720" marT="45720" marB="45720" anchor="t">
                    <a:lnL w="6350" cap="flat" cmpd="sng" algn="ctr">
                      <a:solidFill>
                        <a:srgbClr val="D9E0E8"/>
                      </a:solidFill>
                      <a:prstDash val="solid"/>
                      <a:round/>
                      <a:headEnd type="none" w="med" len="med"/>
                      <a:tailEnd type="none" w="med" len="med"/>
                    </a:lnL>
                    <a:lnR w="6350" cap="flat" cmpd="sng" algn="ctr">
                      <a:solidFill>
                        <a:srgbClr val="D9E0E8"/>
                      </a:solidFill>
                      <a:prstDash val="solid"/>
                      <a:round/>
                      <a:headEnd type="none" w="med" len="med"/>
                      <a:tailEnd type="none" w="med" len="med"/>
                    </a:lnR>
                    <a:lnT w="6350" cap="flat" cmpd="sng" algn="ctr">
                      <a:solidFill>
                        <a:srgbClr val="D9E0E8"/>
                      </a:solidFill>
                      <a:prstDash val="solid"/>
                      <a:round/>
                      <a:headEnd type="none" w="med" len="med"/>
                      <a:tailEnd type="none" w="med" len="med"/>
                    </a:lnT>
                    <a:lnB w="6350" cap="flat" cmpd="sng" algn="ctr">
                      <a:solidFill>
                        <a:srgbClr val="D9E0E8"/>
                      </a:solidFill>
                      <a:prstDash val="solid"/>
                      <a:round/>
                      <a:headEnd type="none" w="med" len="med"/>
                      <a:tailEnd type="none" w="med" len="med"/>
                    </a:lnB>
                    <a:solidFill>
                      <a:schemeClr val="bg1"/>
                    </a:solidFill>
                  </a:tcPr>
                </a:tc>
                <a:tc>
                  <a:txBody>
                    <a:bodyPr/>
                    <a:lstStyle/>
                    <a:p>
                      <a:pPr indent="0" marL="0">
                        <a:buNone/>
                      </a:pPr>
                      <a:r>
                        <a:rPr lang="en-US" sz="900" dirty="0">
                          <a:solidFill>
                            <a:schemeClr val="tx1"/>
                          </a:solidFill>
                          <a:latin typeface="+mn-lt" pitchFamily="34" charset="0"/>
                          <a:ea typeface="+mn-lt" pitchFamily="34" charset="-122"/>
                          <a:cs typeface="+mn-lt" pitchFamily="34" charset="-120"/>
                        </a:rPr>
                        <a:t>34</a:t>
                      </a:r>
                      <a:endParaRPr lang="en-US" sz="900" dirty="0">
                        <a:latin typeface="+mn-lt" charset="0"/>
                        <a:ea typeface="+mn-lt" charset="0"/>
                        <a:cs typeface="+mn-lt" charset="0"/>
                      </a:endParaRPr>
                    </a:p>
                  </a:txBody>
                  <a:tcPr marL="45720" marR="45720" marT="45720" marB="45720" anchor="t">
                    <a:lnL w="6350" cap="flat" cmpd="sng" algn="ctr">
                      <a:solidFill>
                        <a:srgbClr val="D9E0E8"/>
                      </a:solidFill>
                      <a:prstDash val="solid"/>
                      <a:round/>
                      <a:headEnd type="none" w="med" len="med"/>
                      <a:tailEnd type="none" w="med" len="med"/>
                    </a:lnL>
                    <a:lnR w="6350" cap="flat" cmpd="sng" algn="ctr">
                      <a:solidFill>
                        <a:srgbClr val="D9E0E8"/>
                      </a:solidFill>
                      <a:prstDash val="solid"/>
                      <a:round/>
                      <a:headEnd type="none" w="med" len="med"/>
                      <a:tailEnd type="none" w="med" len="med"/>
                    </a:lnR>
                    <a:lnT w="6350" cap="flat" cmpd="sng" algn="ctr">
                      <a:solidFill>
                        <a:srgbClr val="D9E0E8"/>
                      </a:solidFill>
                      <a:prstDash val="solid"/>
                      <a:round/>
                      <a:headEnd type="none" w="med" len="med"/>
                      <a:tailEnd type="none" w="med" len="med"/>
                    </a:lnT>
                    <a:lnB w="6350" cap="flat" cmpd="sng" algn="ctr">
                      <a:solidFill>
                        <a:srgbClr val="D9E0E8"/>
                      </a:solidFill>
                      <a:prstDash val="solid"/>
                      <a:round/>
                      <a:headEnd type="none" w="med" len="med"/>
                      <a:tailEnd type="none" w="med" len="med"/>
                    </a:lnB>
                    <a:solidFill>
                      <a:schemeClr val="bg1"/>
                    </a:solidFill>
                  </a:tcPr>
                </a:tc>
                <a:tc>
                  <a:txBody>
                    <a:bodyPr/>
                    <a:lstStyle/>
                    <a:p>
                      <a:pPr indent="0" marL="0">
                        <a:buNone/>
                      </a:pPr>
                      <a:r>
                        <a:rPr lang="en-US" sz="900" dirty="0">
                          <a:solidFill>
                            <a:schemeClr val="tx1"/>
                          </a:solidFill>
                          <a:latin typeface="+mn-lt" pitchFamily="34" charset="0"/>
                          <a:ea typeface="+mn-lt" pitchFamily="34" charset="-122"/>
                          <a:cs typeface="+mn-lt" pitchFamily="34" charset="-120"/>
                        </a:rPr>
                        <a:t>1.67 ± 1.31</a:t>
                      </a:r>
                      <a:endParaRPr lang="en-US" sz="900" dirty="0">
                        <a:latin typeface="+mn-lt" charset="0"/>
                        <a:ea typeface="+mn-lt" charset="0"/>
                        <a:cs typeface="+mn-lt" charset="0"/>
                      </a:endParaRPr>
                    </a:p>
                  </a:txBody>
                  <a:tcPr marL="45720" marR="45720" marT="45720" marB="45720" anchor="t">
                    <a:lnL w="6350" cap="flat" cmpd="sng" algn="ctr">
                      <a:solidFill>
                        <a:srgbClr val="D9E0E8"/>
                      </a:solidFill>
                      <a:prstDash val="solid"/>
                      <a:round/>
                      <a:headEnd type="none" w="med" len="med"/>
                      <a:tailEnd type="none" w="med" len="med"/>
                    </a:lnL>
                    <a:lnR w="6350" cap="flat" cmpd="sng" algn="ctr">
                      <a:solidFill>
                        <a:srgbClr val="D9E0E8"/>
                      </a:solidFill>
                      <a:prstDash val="solid"/>
                      <a:round/>
                      <a:headEnd type="none" w="med" len="med"/>
                      <a:tailEnd type="none" w="med" len="med"/>
                    </a:lnR>
                    <a:lnT w="6350" cap="flat" cmpd="sng" algn="ctr">
                      <a:solidFill>
                        <a:srgbClr val="D9E0E8"/>
                      </a:solidFill>
                      <a:prstDash val="solid"/>
                      <a:round/>
                      <a:headEnd type="none" w="med" len="med"/>
                      <a:tailEnd type="none" w="med" len="med"/>
                    </a:lnT>
                    <a:lnB w="6350" cap="flat" cmpd="sng" algn="ctr">
                      <a:solidFill>
                        <a:srgbClr val="D9E0E8"/>
                      </a:solidFill>
                      <a:prstDash val="solid"/>
                      <a:round/>
                      <a:headEnd type="none" w="med" len="med"/>
                      <a:tailEnd type="none" w="med" len="med"/>
                    </a:lnB>
                    <a:solidFill>
                      <a:schemeClr val="bg1"/>
                    </a:solidFill>
                  </a:tcPr>
                </a:tc>
                <a:tc>
                  <a:txBody>
                    <a:bodyPr/>
                    <a:lstStyle/>
                    <a:p>
                      <a:pPr indent="0" marL="0">
                        <a:buNone/>
                      </a:pPr>
                      <a:r>
                        <a:rPr lang="en-US" sz="900" dirty="0">
                          <a:solidFill>
                            <a:schemeClr val="tx1"/>
                          </a:solidFill>
                          <a:latin typeface="+mn-lt" pitchFamily="34" charset="0"/>
                          <a:ea typeface="+mn-lt" pitchFamily="34" charset="-122"/>
                          <a:cs typeface="+mn-lt" pitchFamily="34" charset="-120"/>
                        </a:rPr>
                        <a:t>5.79</a:t>
                      </a:r>
                      <a:endParaRPr lang="en-US" sz="900" dirty="0">
                        <a:latin typeface="+mn-lt" charset="0"/>
                        <a:ea typeface="+mn-lt" charset="0"/>
                        <a:cs typeface="+mn-lt" charset="0"/>
                      </a:endParaRPr>
                    </a:p>
                  </a:txBody>
                  <a:tcPr marL="45720" marR="45720" marT="45720" marB="45720" anchor="t">
                    <a:lnL w="6350" cap="flat" cmpd="sng" algn="ctr">
                      <a:solidFill>
                        <a:srgbClr val="D9E0E8"/>
                      </a:solidFill>
                      <a:prstDash val="solid"/>
                      <a:round/>
                      <a:headEnd type="none" w="med" len="med"/>
                      <a:tailEnd type="none" w="med" len="med"/>
                    </a:lnL>
                    <a:lnR w="6350" cap="flat" cmpd="sng" algn="ctr">
                      <a:solidFill>
                        <a:srgbClr val="D9E0E8"/>
                      </a:solidFill>
                      <a:prstDash val="solid"/>
                      <a:round/>
                      <a:headEnd type="none" w="med" len="med"/>
                      <a:tailEnd type="none" w="med" len="med"/>
                    </a:lnR>
                    <a:lnT w="6350" cap="flat" cmpd="sng" algn="ctr">
                      <a:solidFill>
                        <a:srgbClr val="D9E0E8"/>
                      </a:solidFill>
                      <a:prstDash val="solid"/>
                      <a:round/>
                      <a:headEnd type="none" w="med" len="med"/>
                      <a:tailEnd type="none" w="med" len="med"/>
                    </a:lnT>
                    <a:lnB w="6350" cap="flat" cmpd="sng" algn="ctr">
                      <a:solidFill>
                        <a:srgbClr val="D9E0E8"/>
                      </a:solidFill>
                      <a:prstDash val="solid"/>
                      <a:round/>
                      <a:headEnd type="none" w="med" len="med"/>
                      <a:tailEnd type="none" w="med" len="med"/>
                    </a:lnB>
                    <a:solidFill>
                      <a:schemeClr val="bg1"/>
                    </a:solidFill>
                  </a:tcPr>
                </a:tc>
                <a:tc>
                  <a:txBody>
                    <a:bodyPr/>
                    <a:lstStyle/>
                    <a:p>
                      <a:pPr indent="0" marL="0">
                        <a:buNone/>
                      </a:pPr>
                      <a:r>
                        <a:rPr lang="en-US" sz="900" dirty="0">
                          <a:solidFill>
                            <a:schemeClr val="tx1"/>
                          </a:solidFill>
                          <a:latin typeface="+mn-lt" pitchFamily="34" charset="0"/>
                          <a:ea typeface="+mn-lt" pitchFamily="34" charset="-122"/>
                          <a:cs typeface="+mn-lt" pitchFamily="34" charset="-120"/>
                        </a:rPr>
                        <a:t>text says traced in 32 %</a:t>
                      </a:r>
                      <a:endParaRPr lang="en-US" sz="900" dirty="0">
                        <a:latin typeface="+mn-lt" charset="0"/>
                        <a:ea typeface="+mn-lt" charset="0"/>
                        <a:cs typeface="+mn-lt" charset="0"/>
                      </a:endParaRPr>
                    </a:p>
                  </a:txBody>
                  <a:tcPr marL="45720" marR="45720" marT="45720" marB="45720" anchor="t">
                    <a:lnL w="6350" cap="flat" cmpd="sng" algn="ctr">
                      <a:solidFill>
                        <a:srgbClr val="D9E0E8"/>
                      </a:solidFill>
                      <a:prstDash val="solid"/>
                      <a:round/>
                      <a:headEnd type="none" w="med" len="med"/>
                      <a:tailEnd type="none" w="med" len="med"/>
                    </a:lnL>
                    <a:lnR w="6350" cap="flat" cmpd="sng" algn="ctr">
                      <a:solidFill>
                        <a:srgbClr val="D9E0E8"/>
                      </a:solidFill>
                      <a:prstDash val="solid"/>
                      <a:round/>
                      <a:headEnd type="none" w="med" len="med"/>
                      <a:tailEnd type="none" w="med" len="med"/>
                    </a:lnR>
                    <a:lnT w="6350" cap="flat" cmpd="sng" algn="ctr">
                      <a:solidFill>
                        <a:srgbClr val="D9E0E8"/>
                      </a:solidFill>
                      <a:prstDash val="solid"/>
                      <a:round/>
                      <a:headEnd type="none" w="med" len="med"/>
                      <a:tailEnd type="none" w="med" len="med"/>
                    </a:lnT>
                    <a:lnB w="6350" cap="flat" cmpd="sng" algn="ctr">
                      <a:solidFill>
                        <a:srgbClr val="D9E0E8"/>
                      </a:solidFill>
                      <a:prstDash val="solid"/>
                      <a:round/>
                      <a:headEnd type="none" w="med" len="med"/>
                      <a:tailEnd type="none" w="med" len="med"/>
                    </a:lnB>
                    <a:solidFill>
                      <a:schemeClr val="bg1"/>
                    </a:solidFill>
                  </a:tcPr>
                </a:tc>
              </a:tr>
              <a:tr h="0">
                <a:tc>
                  <a:txBody>
                    <a:bodyPr/>
                    <a:lstStyle/>
                    <a:p>
                      <a:pPr indent="0" marL="0">
                        <a:buNone/>
                      </a:pPr>
                      <a:r>
                        <a:rPr lang="en-US" sz="900" dirty="0">
                          <a:solidFill>
                            <a:schemeClr val="tx1"/>
                          </a:solidFill>
                          <a:latin typeface="+mn-lt" pitchFamily="34" charset="0"/>
                          <a:ea typeface="+mn-lt" pitchFamily="34" charset="-122"/>
                          <a:cs typeface="+mn-lt" pitchFamily="34" charset="-120"/>
                        </a:rPr>
                        <a:t>A point</a:t>
                      </a:r>
                      <a:endParaRPr lang="en-US" sz="900" dirty="0">
                        <a:latin typeface="+mn-lt" charset="0"/>
                        <a:ea typeface="+mn-lt" charset="0"/>
                        <a:cs typeface="+mn-lt" charset="0"/>
                      </a:endParaRPr>
                    </a:p>
                  </a:txBody>
                  <a:tcPr marL="45720" marR="45720" marT="45720" marB="45720" anchor="t">
                    <a:lnL w="6350" cap="flat" cmpd="sng" algn="ctr">
                      <a:solidFill>
                        <a:srgbClr val="D9E0E8"/>
                      </a:solidFill>
                      <a:prstDash val="solid"/>
                      <a:round/>
                      <a:headEnd type="none" w="med" len="med"/>
                      <a:tailEnd type="none" w="med" len="med"/>
                    </a:lnL>
                    <a:lnR w="6350" cap="flat" cmpd="sng" algn="ctr">
                      <a:solidFill>
                        <a:srgbClr val="D9E0E8"/>
                      </a:solidFill>
                      <a:prstDash val="solid"/>
                      <a:round/>
                      <a:headEnd type="none" w="med" len="med"/>
                      <a:tailEnd type="none" w="med" len="med"/>
                    </a:lnR>
                    <a:lnT w="6350" cap="flat" cmpd="sng" algn="ctr">
                      <a:solidFill>
                        <a:srgbClr val="D9E0E8"/>
                      </a:solidFill>
                      <a:prstDash val="solid"/>
                      <a:round/>
                      <a:headEnd type="none" w="med" len="med"/>
                      <a:tailEnd type="none" w="med" len="med"/>
                    </a:lnT>
                    <a:lnB w="6350" cap="flat" cmpd="sng" algn="ctr">
                      <a:solidFill>
                        <a:srgbClr val="D9E0E8"/>
                      </a:solidFill>
                      <a:prstDash val="solid"/>
                      <a:round/>
                      <a:headEnd type="none" w="med" len="med"/>
                      <a:tailEnd type="none" w="med" len="med"/>
                    </a:lnB>
                    <a:solidFill>
                      <a:schemeClr val="bg2"/>
                    </a:solidFill>
                  </a:tcPr>
                </a:tc>
                <a:tc>
                  <a:txBody>
                    <a:bodyPr/>
                    <a:lstStyle/>
                    <a:p>
                      <a:pPr indent="0" marL="0">
                        <a:buNone/>
                      </a:pPr>
                      <a:r>
                        <a:rPr lang="en-US" sz="900" dirty="0">
                          <a:solidFill>
                            <a:schemeClr val="tx1"/>
                          </a:solidFill>
                          <a:latin typeface="+mn-lt" pitchFamily="34" charset="0"/>
                          <a:ea typeface="+mn-lt" pitchFamily="34" charset="-122"/>
                          <a:cs typeface="+mn-lt" pitchFamily="34" charset="-120"/>
                        </a:rPr>
                        <a:t>50</a:t>
                      </a:r>
                      <a:endParaRPr lang="en-US" sz="900" dirty="0">
                        <a:latin typeface="+mn-lt" charset="0"/>
                        <a:ea typeface="+mn-lt" charset="0"/>
                        <a:cs typeface="+mn-lt" charset="0"/>
                      </a:endParaRPr>
                    </a:p>
                  </a:txBody>
                  <a:tcPr marL="45720" marR="45720" marT="45720" marB="45720" anchor="t">
                    <a:lnL w="6350" cap="flat" cmpd="sng" algn="ctr">
                      <a:solidFill>
                        <a:srgbClr val="D9E0E8"/>
                      </a:solidFill>
                      <a:prstDash val="solid"/>
                      <a:round/>
                      <a:headEnd type="none" w="med" len="med"/>
                      <a:tailEnd type="none" w="med" len="med"/>
                    </a:lnL>
                    <a:lnR w="6350" cap="flat" cmpd="sng" algn="ctr">
                      <a:solidFill>
                        <a:srgbClr val="D9E0E8"/>
                      </a:solidFill>
                      <a:prstDash val="solid"/>
                      <a:round/>
                      <a:headEnd type="none" w="med" len="med"/>
                      <a:tailEnd type="none" w="med" len="med"/>
                    </a:lnR>
                    <a:lnT w="6350" cap="flat" cmpd="sng" algn="ctr">
                      <a:solidFill>
                        <a:srgbClr val="D9E0E8"/>
                      </a:solidFill>
                      <a:prstDash val="solid"/>
                      <a:round/>
                      <a:headEnd type="none" w="med" len="med"/>
                      <a:tailEnd type="none" w="med" len="med"/>
                    </a:lnT>
                    <a:lnB w="6350" cap="flat" cmpd="sng" algn="ctr">
                      <a:solidFill>
                        <a:srgbClr val="D9E0E8"/>
                      </a:solidFill>
                      <a:prstDash val="solid"/>
                      <a:round/>
                      <a:headEnd type="none" w="med" len="med"/>
                      <a:tailEnd type="none" w="med" len="med"/>
                    </a:lnB>
                    <a:solidFill>
                      <a:schemeClr val="bg2"/>
                    </a:solidFill>
                  </a:tcPr>
                </a:tc>
                <a:tc>
                  <a:txBody>
                    <a:bodyPr/>
                    <a:lstStyle/>
                    <a:p>
                      <a:pPr indent="0" marL="0">
                        <a:buNone/>
                      </a:pPr>
                      <a:r>
                        <a:rPr lang="en-US" sz="900" dirty="0">
                          <a:solidFill>
                            <a:schemeClr val="tx1"/>
                          </a:solidFill>
                          <a:latin typeface="+mn-lt" pitchFamily="34" charset="0"/>
                          <a:ea typeface="+mn-lt" pitchFamily="34" charset="-122"/>
                          <a:cs typeface="+mn-lt" pitchFamily="34" charset="-120"/>
                        </a:rPr>
                        <a:t>2.13 ± 1.63</a:t>
                      </a:r>
                      <a:endParaRPr lang="en-US" sz="900" dirty="0">
                        <a:latin typeface="+mn-lt" charset="0"/>
                        <a:ea typeface="+mn-lt" charset="0"/>
                        <a:cs typeface="+mn-lt" charset="0"/>
                      </a:endParaRPr>
                    </a:p>
                  </a:txBody>
                  <a:tcPr marL="45720" marR="45720" marT="45720" marB="45720" anchor="t">
                    <a:lnL w="6350" cap="flat" cmpd="sng" algn="ctr">
                      <a:solidFill>
                        <a:srgbClr val="D9E0E8"/>
                      </a:solidFill>
                      <a:prstDash val="solid"/>
                      <a:round/>
                      <a:headEnd type="none" w="med" len="med"/>
                      <a:tailEnd type="none" w="med" len="med"/>
                    </a:lnL>
                    <a:lnR w="6350" cap="flat" cmpd="sng" algn="ctr">
                      <a:solidFill>
                        <a:srgbClr val="D9E0E8"/>
                      </a:solidFill>
                      <a:prstDash val="solid"/>
                      <a:round/>
                      <a:headEnd type="none" w="med" len="med"/>
                      <a:tailEnd type="none" w="med" len="med"/>
                    </a:lnR>
                    <a:lnT w="6350" cap="flat" cmpd="sng" algn="ctr">
                      <a:solidFill>
                        <a:srgbClr val="D9E0E8"/>
                      </a:solidFill>
                      <a:prstDash val="solid"/>
                      <a:round/>
                      <a:headEnd type="none" w="med" len="med"/>
                      <a:tailEnd type="none" w="med" len="med"/>
                    </a:lnT>
                    <a:lnB w="6350" cap="flat" cmpd="sng" algn="ctr">
                      <a:solidFill>
                        <a:srgbClr val="D9E0E8"/>
                      </a:solidFill>
                      <a:prstDash val="solid"/>
                      <a:round/>
                      <a:headEnd type="none" w="med" len="med"/>
                      <a:tailEnd type="none" w="med" len="med"/>
                    </a:lnB>
                    <a:solidFill>
                      <a:schemeClr val="bg2"/>
                    </a:solidFill>
                  </a:tcPr>
                </a:tc>
                <a:tc>
                  <a:txBody>
                    <a:bodyPr/>
                    <a:lstStyle/>
                    <a:p>
                      <a:pPr indent="0" marL="0">
                        <a:buNone/>
                      </a:pPr>
                      <a:r>
                        <a:rPr lang="en-US" sz="900" dirty="0">
                          <a:solidFill>
                            <a:schemeClr val="tx1"/>
                          </a:solidFill>
                          <a:latin typeface="+mn-lt" pitchFamily="34" charset="0"/>
                          <a:ea typeface="+mn-lt" pitchFamily="34" charset="-122"/>
                          <a:cs typeface="+mn-lt" pitchFamily="34" charset="-120"/>
                        </a:rPr>
                        <a:t>6.55</a:t>
                      </a:r>
                      <a:endParaRPr lang="en-US" sz="900" dirty="0">
                        <a:latin typeface="+mn-lt" charset="0"/>
                        <a:ea typeface="+mn-lt" charset="0"/>
                        <a:cs typeface="+mn-lt" charset="0"/>
                      </a:endParaRPr>
                    </a:p>
                  </a:txBody>
                  <a:tcPr marL="45720" marR="45720" marT="45720" marB="45720" anchor="t">
                    <a:lnL w="6350" cap="flat" cmpd="sng" algn="ctr">
                      <a:solidFill>
                        <a:srgbClr val="D9E0E8"/>
                      </a:solidFill>
                      <a:prstDash val="solid"/>
                      <a:round/>
                      <a:headEnd type="none" w="med" len="med"/>
                      <a:tailEnd type="none" w="med" len="med"/>
                    </a:lnL>
                    <a:lnR w="6350" cap="flat" cmpd="sng" algn="ctr">
                      <a:solidFill>
                        <a:srgbClr val="D9E0E8"/>
                      </a:solidFill>
                      <a:prstDash val="solid"/>
                      <a:round/>
                      <a:headEnd type="none" w="med" len="med"/>
                      <a:tailEnd type="none" w="med" len="med"/>
                    </a:lnR>
                    <a:lnT w="6350" cap="flat" cmpd="sng" algn="ctr">
                      <a:solidFill>
                        <a:srgbClr val="D9E0E8"/>
                      </a:solidFill>
                      <a:prstDash val="solid"/>
                      <a:round/>
                      <a:headEnd type="none" w="med" len="med"/>
                      <a:tailEnd type="none" w="med" len="med"/>
                    </a:lnT>
                    <a:lnB w="6350" cap="flat" cmpd="sng" algn="ctr">
                      <a:solidFill>
                        <a:srgbClr val="D9E0E8"/>
                      </a:solidFill>
                      <a:prstDash val="solid"/>
                      <a:round/>
                      <a:headEnd type="none" w="med" len="med"/>
                      <a:tailEnd type="none" w="med" len="med"/>
                    </a:lnB>
                    <a:solidFill>
                      <a:schemeClr val="bg2"/>
                    </a:solidFill>
                  </a:tcPr>
                </a:tc>
                <a:tc>
                  <a:txBody>
                    <a:bodyPr/>
                    <a:lstStyle/>
                    <a:p>
                      <a:pPr indent="0" marL="0">
                        <a:buNone/>
                      </a:pPr>
                      <a:endParaRPr lang="en-US" sz="900" dirty="0">
                        <a:latin typeface="+mn-lt" charset="0"/>
                        <a:ea typeface="+mn-lt" charset="0"/>
                        <a:cs typeface="+mn-lt" charset="0"/>
                      </a:endParaRPr>
                    </a:p>
                  </a:txBody>
                  <a:tcPr marL="45720" marR="45720" marT="45720" marB="45720" anchor="t">
                    <a:lnL w="6350" cap="flat" cmpd="sng" algn="ctr">
                      <a:solidFill>
                        <a:srgbClr val="D9E0E8"/>
                      </a:solidFill>
                      <a:prstDash val="solid"/>
                      <a:round/>
                      <a:headEnd type="none" w="med" len="med"/>
                      <a:tailEnd type="none" w="med" len="med"/>
                    </a:lnL>
                    <a:lnR w="6350" cap="flat" cmpd="sng" algn="ctr">
                      <a:solidFill>
                        <a:srgbClr val="D9E0E8"/>
                      </a:solidFill>
                      <a:prstDash val="solid"/>
                      <a:round/>
                      <a:headEnd type="none" w="med" len="med"/>
                      <a:tailEnd type="none" w="med" len="med"/>
                    </a:lnR>
                    <a:lnT w="6350" cap="flat" cmpd="sng" algn="ctr">
                      <a:solidFill>
                        <a:srgbClr val="D9E0E8"/>
                      </a:solidFill>
                      <a:prstDash val="solid"/>
                      <a:round/>
                      <a:headEnd type="none" w="med" len="med"/>
                      <a:tailEnd type="none" w="med" len="med"/>
                    </a:lnT>
                    <a:lnB w="6350" cap="flat" cmpd="sng" algn="ctr">
                      <a:solidFill>
                        <a:srgbClr val="D9E0E8"/>
                      </a:solidFill>
                      <a:prstDash val="solid"/>
                      <a:round/>
                      <a:headEnd type="none" w="med" len="med"/>
                      <a:tailEnd type="none" w="med" len="med"/>
                    </a:lnB>
                    <a:solidFill>
                      <a:schemeClr val="bg2"/>
                    </a:solidFill>
                  </a:tcPr>
                </a:tc>
              </a:tr>
              <a:tr h="0">
                <a:tc>
                  <a:txBody>
                    <a:bodyPr/>
                    <a:lstStyle/>
                    <a:p>
                      <a:pPr indent="0" marL="0">
                        <a:buNone/>
                      </a:pPr>
                      <a:r>
                        <a:rPr lang="en-US" sz="900" dirty="0">
                          <a:solidFill>
                            <a:schemeClr val="tx1"/>
                          </a:solidFill>
                          <a:latin typeface="+mn-lt" pitchFamily="34" charset="0"/>
                          <a:ea typeface="+mn-lt" pitchFamily="34" charset="-122"/>
                          <a:cs typeface="+mn-lt" pitchFamily="34" charset="-120"/>
                        </a:rPr>
                        <a:t>PNS</a:t>
                      </a:r>
                      <a:endParaRPr lang="en-US" sz="900" dirty="0">
                        <a:latin typeface="+mn-lt" charset="0"/>
                        <a:ea typeface="+mn-lt" charset="0"/>
                        <a:cs typeface="+mn-lt" charset="0"/>
                      </a:endParaRPr>
                    </a:p>
                  </a:txBody>
                  <a:tcPr marL="45720" marR="45720" marT="45720" marB="45720" anchor="t">
                    <a:lnL w="6350" cap="flat" cmpd="sng" algn="ctr">
                      <a:solidFill>
                        <a:srgbClr val="D9E0E8"/>
                      </a:solidFill>
                      <a:prstDash val="solid"/>
                      <a:round/>
                      <a:headEnd type="none" w="med" len="med"/>
                      <a:tailEnd type="none" w="med" len="med"/>
                    </a:lnL>
                    <a:lnR w="6350" cap="flat" cmpd="sng" algn="ctr">
                      <a:solidFill>
                        <a:srgbClr val="D9E0E8"/>
                      </a:solidFill>
                      <a:prstDash val="solid"/>
                      <a:round/>
                      <a:headEnd type="none" w="med" len="med"/>
                      <a:tailEnd type="none" w="med" len="med"/>
                    </a:lnR>
                    <a:lnT w="6350" cap="flat" cmpd="sng" algn="ctr">
                      <a:solidFill>
                        <a:srgbClr val="D9E0E8"/>
                      </a:solidFill>
                      <a:prstDash val="solid"/>
                      <a:round/>
                      <a:headEnd type="none" w="med" len="med"/>
                      <a:tailEnd type="none" w="med" len="med"/>
                    </a:lnT>
                    <a:lnB w="6350" cap="flat" cmpd="sng" algn="ctr">
                      <a:solidFill>
                        <a:srgbClr val="D9E0E8"/>
                      </a:solidFill>
                      <a:prstDash val="solid"/>
                      <a:round/>
                      <a:headEnd type="none" w="med" len="med"/>
                      <a:tailEnd type="none" w="med" len="med"/>
                    </a:lnB>
                    <a:solidFill>
                      <a:schemeClr val="bg1"/>
                    </a:solidFill>
                  </a:tcPr>
                </a:tc>
                <a:tc>
                  <a:txBody>
                    <a:bodyPr/>
                    <a:lstStyle/>
                    <a:p>
                      <a:pPr indent="0" marL="0">
                        <a:buNone/>
                      </a:pPr>
                      <a:r>
                        <a:rPr lang="en-US" sz="900" dirty="0">
                          <a:solidFill>
                            <a:schemeClr val="tx1"/>
                          </a:solidFill>
                          <a:latin typeface="+mn-lt" pitchFamily="34" charset="0"/>
                          <a:ea typeface="+mn-lt" pitchFamily="34" charset="-122"/>
                          <a:cs typeface="+mn-lt" pitchFamily="34" charset="-120"/>
                        </a:rPr>
                        <a:t>27</a:t>
                      </a:r>
                      <a:endParaRPr lang="en-US" sz="900" dirty="0">
                        <a:latin typeface="+mn-lt" charset="0"/>
                        <a:ea typeface="+mn-lt" charset="0"/>
                        <a:cs typeface="+mn-lt" charset="0"/>
                      </a:endParaRPr>
                    </a:p>
                  </a:txBody>
                  <a:tcPr marL="45720" marR="45720" marT="45720" marB="45720" anchor="t">
                    <a:lnL w="6350" cap="flat" cmpd="sng" algn="ctr">
                      <a:solidFill>
                        <a:srgbClr val="D9E0E8"/>
                      </a:solidFill>
                      <a:prstDash val="solid"/>
                      <a:round/>
                      <a:headEnd type="none" w="med" len="med"/>
                      <a:tailEnd type="none" w="med" len="med"/>
                    </a:lnL>
                    <a:lnR w="6350" cap="flat" cmpd="sng" algn="ctr">
                      <a:solidFill>
                        <a:srgbClr val="D9E0E8"/>
                      </a:solidFill>
                      <a:prstDash val="solid"/>
                      <a:round/>
                      <a:headEnd type="none" w="med" len="med"/>
                      <a:tailEnd type="none" w="med" len="med"/>
                    </a:lnR>
                    <a:lnT w="6350" cap="flat" cmpd="sng" algn="ctr">
                      <a:solidFill>
                        <a:srgbClr val="D9E0E8"/>
                      </a:solidFill>
                      <a:prstDash val="solid"/>
                      <a:round/>
                      <a:headEnd type="none" w="med" len="med"/>
                      <a:tailEnd type="none" w="med" len="med"/>
                    </a:lnT>
                    <a:lnB w="6350" cap="flat" cmpd="sng" algn="ctr">
                      <a:solidFill>
                        <a:srgbClr val="D9E0E8"/>
                      </a:solidFill>
                      <a:prstDash val="solid"/>
                      <a:round/>
                      <a:headEnd type="none" w="med" len="med"/>
                      <a:tailEnd type="none" w="med" len="med"/>
                    </a:lnB>
                    <a:solidFill>
                      <a:schemeClr val="bg1"/>
                    </a:solidFill>
                  </a:tcPr>
                </a:tc>
                <a:tc>
                  <a:txBody>
                    <a:bodyPr/>
                    <a:lstStyle/>
                    <a:p>
                      <a:pPr indent="0" marL="0">
                        <a:buNone/>
                      </a:pPr>
                      <a:r>
                        <a:rPr lang="en-US" sz="900" dirty="0">
                          <a:solidFill>
                            <a:schemeClr val="tx1"/>
                          </a:solidFill>
                          <a:latin typeface="+mn-lt" pitchFamily="34" charset="0"/>
                          <a:ea typeface="+mn-lt" pitchFamily="34" charset="-122"/>
                          <a:cs typeface="+mn-lt" pitchFamily="34" charset="-120"/>
                        </a:rPr>
                        <a:t>2.27 ± 1.75</a:t>
                      </a:r>
                      <a:endParaRPr lang="en-US" sz="900" dirty="0">
                        <a:latin typeface="+mn-lt" charset="0"/>
                        <a:ea typeface="+mn-lt" charset="0"/>
                        <a:cs typeface="+mn-lt" charset="0"/>
                      </a:endParaRPr>
                    </a:p>
                  </a:txBody>
                  <a:tcPr marL="45720" marR="45720" marT="45720" marB="45720" anchor="t">
                    <a:lnL w="6350" cap="flat" cmpd="sng" algn="ctr">
                      <a:solidFill>
                        <a:srgbClr val="D9E0E8"/>
                      </a:solidFill>
                      <a:prstDash val="solid"/>
                      <a:round/>
                      <a:headEnd type="none" w="med" len="med"/>
                      <a:tailEnd type="none" w="med" len="med"/>
                    </a:lnL>
                    <a:lnR w="6350" cap="flat" cmpd="sng" algn="ctr">
                      <a:solidFill>
                        <a:srgbClr val="D9E0E8"/>
                      </a:solidFill>
                      <a:prstDash val="solid"/>
                      <a:round/>
                      <a:headEnd type="none" w="med" len="med"/>
                      <a:tailEnd type="none" w="med" len="med"/>
                    </a:lnR>
                    <a:lnT w="6350" cap="flat" cmpd="sng" algn="ctr">
                      <a:solidFill>
                        <a:srgbClr val="D9E0E8"/>
                      </a:solidFill>
                      <a:prstDash val="solid"/>
                      <a:round/>
                      <a:headEnd type="none" w="med" len="med"/>
                      <a:tailEnd type="none" w="med" len="med"/>
                    </a:lnT>
                    <a:lnB w="6350" cap="flat" cmpd="sng" algn="ctr">
                      <a:solidFill>
                        <a:srgbClr val="D9E0E8"/>
                      </a:solidFill>
                      <a:prstDash val="solid"/>
                      <a:round/>
                      <a:headEnd type="none" w="med" len="med"/>
                      <a:tailEnd type="none" w="med" len="med"/>
                    </a:lnB>
                    <a:solidFill>
                      <a:schemeClr val="bg1"/>
                    </a:solidFill>
                  </a:tcPr>
                </a:tc>
                <a:tc>
                  <a:txBody>
                    <a:bodyPr/>
                    <a:lstStyle/>
                    <a:p>
                      <a:pPr indent="0" marL="0">
                        <a:buNone/>
                      </a:pPr>
                      <a:r>
                        <a:rPr lang="en-US" sz="900" dirty="0">
                          <a:solidFill>
                            <a:schemeClr val="tx1"/>
                          </a:solidFill>
                          <a:latin typeface="+mn-lt" pitchFamily="34" charset="0"/>
                          <a:ea typeface="+mn-lt" pitchFamily="34" charset="-122"/>
                          <a:cs typeface="+mn-lt" pitchFamily="34" charset="-120"/>
                        </a:rPr>
                        <a:t>9.10</a:t>
                      </a:r>
                      <a:endParaRPr lang="en-US" sz="900" dirty="0">
                        <a:latin typeface="+mn-lt" charset="0"/>
                        <a:ea typeface="+mn-lt" charset="0"/>
                        <a:cs typeface="+mn-lt" charset="0"/>
                      </a:endParaRPr>
                    </a:p>
                  </a:txBody>
                  <a:tcPr marL="45720" marR="45720" marT="45720" marB="45720" anchor="t">
                    <a:lnL w="6350" cap="flat" cmpd="sng" algn="ctr">
                      <a:solidFill>
                        <a:srgbClr val="D9E0E8"/>
                      </a:solidFill>
                      <a:prstDash val="solid"/>
                      <a:round/>
                      <a:headEnd type="none" w="med" len="med"/>
                      <a:tailEnd type="none" w="med" len="med"/>
                    </a:lnL>
                    <a:lnR w="6350" cap="flat" cmpd="sng" algn="ctr">
                      <a:solidFill>
                        <a:srgbClr val="D9E0E8"/>
                      </a:solidFill>
                      <a:prstDash val="solid"/>
                      <a:round/>
                      <a:headEnd type="none" w="med" len="med"/>
                      <a:tailEnd type="none" w="med" len="med"/>
                    </a:lnR>
                    <a:lnT w="6350" cap="flat" cmpd="sng" algn="ctr">
                      <a:solidFill>
                        <a:srgbClr val="D9E0E8"/>
                      </a:solidFill>
                      <a:prstDash val="solid"/>
                      <a:round/>
                      <a:headEnd type="none" w="med" len="med"/>
                      <a:tailEnd type="none" w="med" len="med"/>
                    </a:lnT>
                    <a:lnB w="6350" cap="flat" cmpd="sng" algn="ctr">
                      <a:solidFill>
                        <a:srgbClr val="D9E0E8"/>
                      </a:solidFill>
                      <a:prstDash val="solid"/>
                      <a:round/>
                      <a:headEnd type="none" w="med" len="med"/>
                      <a:tailEnd type="none" w="med" len="med"/>
                    </a:lnB>
                    <a:solidFill>
                      <a:schemeClr val="bg1"/>
                    </a:solidFill>
                  </a:tcPr>
                </a:tc>
                <a:tc>
                  <a:txBody>
                    <a:bodyPr/>
                    <a:lstStyle/>
                    <a:p>
                      <a:pPr indent="0" marL="0">
                        <a:buNone/>
                      </a:pPr>
                      <a:r>
                        <a:rPr lang="en-US" sz="900" dirty="0">
                          <a:solidFill>
                            <a:schemeClr val="tx1"/>
                          </a:solidFill>
                          <a:latin typeface="+mn-lt" pitchFamily="34" charset="0"/>
                          <a:ea typeface="+mn-lt" pitchFamily="34" charset="-122"/>
                          <a:cs typeface="+mn-lt" pitchFamily="34" charset="-120"/>
                        </a:rPr>
                        <a:t>visible in 52 %</a:t>
                      </a:r>
                      <a:endParaRPr lang="en-US" sz="900" dirty="0">
                        <a:latin typeface="+mn-lt" charset="0"/>
                        <a:ea typeface="+mn-lt" charset="0"/>
                        <a:cs typeface="+mn-lt" charset="0"/>
                      </a:endParaRPr>
                    </a:p>
                  </a:txBody>
                  <a:tcPr marL="45720" marR="45720" marT="45720" marB="45720" anchor="t">
                    <a:lnL w="6350" cap="flat" cmpd="sng" algn="ctr">
                      <a:solidFill>
                        <a:srgbClr val="D9E0E8"/>
                      </a:solidFill>
                      <a:prstDash val="solid"/>
                      <a:round/>
                      <a:headEnd type="none" w="med" len="med"/>
                      <a:tailEnd type="none" w="med" len="med"/>
                    </a:lnL>
                    <a:lnR w="6350" cap="flat" cmpd="sng" algn="ctr">
                      <a:solidFill>
                        <a:srgbClr val="D9E0E8"/>
                      </a:solidFill>
                      <a:prstDash val="solid"/>
                      <a:round/>
                      <a:headEnd type="none" w="med" len="med"/>
                      <a:tailEnd type="none" w="med" len="med"/>
                    </a:lnR>
                    <a:lnT w="6350" cap="flat" cmpd="sng" algn="ctr">
                      <a:solidFill>
                        <a:srgbClr val="D9E0E8"/>
                      </a:solidFill>
                      <a:prstDash val="solid"/>
                      <a:round/>
                      <a:headEnd type="none" w="med" len="med"/>
                      <a:tailEnd type="none" w="med" len="med"/>
                    </a:lnT>
                    <a:lnB w="6350" cap="flat" cmpd="sng" algn="ctr">
                      <a:solidFill>
                        <a:srgbClr val="D9E0E8"/>
                      </a:solidFill>
                      <a:prstDash val="solid"/>
                      <a:round/>
                      <a:headEnd type="none" w="med" len="med"/>
                      <a:tailEnd type="none" w="med" len="med"/>
                    </a:lnB>
                    <a:solidFill>
                      <a:schemeClr val="bg1"/>
                    </a:solidFill>
                  </a:tcPr>
                </a:tc>
              </a:tr>
              <a:tr h="0">
                <a:tc>
                  <a:txBody>
                    <a:bodyPr/>
                    <a:lstStyle/>
                    <a:p>
                      <a:pPr indent="0" marL="0">
                        <a:buNone/>
                      </a:pPr>
                      <a:r>
                        <a:rPr lang="en-US" sz="900" dirty="0">
                          <a:solidFill>
                            <a:schemeClr val="tx1"/>
                          </a:solidFill>
                          <a:latin typeface="+mn-lt" pitchFamily="34" charset="0"/>
                          <a:ea typeface="+mn-lt" pitchFamily="34" charset="-122"/>
                          <a:cs typeface="+mn-lt" pitchFamily="34" charset="-120"/>
                        </a:rPr>
                        <a:t>PTM, vertical / horizontal</a:t>
                      </a:r>
                      <a:endParaRPr lang="en-US" sz="900" dirty="0">
                        <a:latin typeface="+mn-lt" charset="0"/>
                        <a:ea typeface="+mn-lt" charset="0"/>
                        <a:cs typeface="+mn-lt" charset="0"/>
                      </a:endParaRPr>
                    </a:p>
                  </a:txBody>
                  <a:tcPr marL="45720" marR="45720" marT="45720" marB="45720" anchor="t">
                    <a:lnL w="6350" cap="flat" cmpd="sng" algn="ctr">
                      <a:solidFill>
                        <a:srgbClr val="D9E0E8"/>
                      </a:solidFill>
                      <a:prstDash val="solid"/>
                      <a:round/>
                      <a:headEnd type="none" w="med" len="med"/>
                      <a:tailEnd type="none" w="med" len="med"/>
                    </a:lnL>
                    <a:lnR w="6350" cap="flat" cmpd="sng" algn="ctr">
                      <a:solidFill>
                        <a:srgbClr val="D9E0E8"/>
                      </a:solidFill>
                      <a:prstDash val="solid"/>
                      <a:round/>
                      <a:headEnd type="none" w="med" len="med"/>
                      <a:tailEnd type="none" w="med" len="med"/>
                    </a:lnR>
                    <a:lnT w="6350" cap="flat" cmpd="sng" algn="ctr">
                      <a:solidFill>
                        <a:srgbClr val="D9E0E8"/>
                      </a:solidFill>
                      <a:prstDash val="solid"/>
                      <a:round/>
                      <a:headEnd type="none" w="med" len="med"/>
                      <a:tailEnd type="none" w="med" len="med"/>
                    </a:lnT>
                    <a:lnB w="6350" cap="flat" cmpd="sng" algn="ctr">
                      <a:solidFill>
                        <a:srgbClr val="D9E0E8"/>
                      </a:solidFill>
                      <a:prstDash val="solid"/>
                      <a:round/>
                      <a:headEnd type="none" w="med" len="med"/>
                      <a:tailEnd type="none" w="med" len="med"/>
                    </a:lnB>
                    <a:solidFill>
                      <a:schemeClr val="bg2"/>
                    </a:solidFill>
                  </a:tcPr>
                </a:tc>
                <a:tc>
                  <a:txBody>
                    <a:bodyPr/>
                    <a:lstStyle/>
                    <a:p>
                      <a:pPr indent="0" marL="0">
                        <a:buNone/>
                      </a:pPr>
                      <a:r>
                        <a:rPr lang="en-US" sz="900" dirty="0">
                          <a:solidFill>
                            <a:schemeClr val="tx1"/>
                          </a:solidFill>
                          <a:latin typeface="+mn-lt" pitchFamily="34" charset="0"/>
                          <a:ea typeface="+mn-lt" pitchFamily="34" charset="-122"/>
                          <a:cs typeface="+mn-lt" pitchFamily="34" charset="-120"/>
                        </a:rPr>
                        <a:t>50</a:t>
                      </a:r>
                      <a:endParaRPr lang="en-US" sz="900" dirty="0">
                        <a:latin typeface="+mn-lt" charset="0"/>
                        <a:ea typeface="+mn-lt" charset="0"/>
                        <a:cs typeface="+mn-lt" charset="0"/>
                      </a:endParaRPr>
                    </a:p>
                  </a:txBody>
                  <a:tcPr marL="45720" marR="45720" marT="45720" marB="45720" anchor="t">
                    <a:lnL w="6350" cap="flat" cmpd="sng" algn="ctr">
                      <a:solidFill>
                        <a:srgbClr val="D9E0E8"/>
                      </a:solidFill>
                      <a:prstDash val="solid"/>
                      <a:round/>
                      <a:headEnd type="none" w="med" len="med"/>
                      <a:tailEnd type="none" w="med" len="med"/>
                    </a:lnL>
                    <a:lnR w="6350" cap="flat" cmpd="sng" algn="ctr">
                      <a:solidFill>
                        <a:srgbClr val="D9E0E8"/>
                      </a:solidFill>
                      <a:prstDash val="solid"/>
                      <a:round/>
                      <a:headEnd type="none" w="med" len="med"/>
                      <a:tailEnd type="none" w="med" len="med"/>
                    </a:lnR>
                    <a:lnT w="6350" cap="flat" cmpd="sng" algn="ctr">
                      <a:solidFill>
                        <a:srgbClr val="D9E0E8"/>
                      </a:solidFill>
                      <a:prstDash val="solid"/>
                      <a:round/>
                      <a:headEnd type="none" w="med" len="med"/>
                      <a:tailEnd type="none" w="med" len="med"/>
                    </a:lnT>
                    <a:lnB w="6350" cap="flat" cmpd="sng" algn="ctr">
                      <a:solidFill>
                        <a:srgbClr val="D9E0E8"/>
                      </a:solidFill>
                      <a:prstDash val="solid"/>
                      <a:round/>
                      <a:headEnd type="none" w="med" len="med"/>
                      <a:tailEnd type="none" w="med" len="med"/>
                    </a:lnB>
                    <a:solidFill>
                      <a:schemeClr val="bg2"/>
                    </a:solidFill>
                  </a:tcPr>
                </a:tc>
                <a:tc>
                  <a:txBody>
                    <a:bodyPr/>
                    <a:lstStyle/>
                    <a:p>
                      <a:pPr indent="0" marL="0">
                        <a:buNone/>
                      </a:pPr>
                      <a:r>
                        <a:rPr lang="en-US" sz="900" dirty="0">
                          <a:solidFill>
                            <a:schemeClr val="tx1"/>
                          </a:solidFill>
                          <a:latin typeface="+mn-lt" pitchFamily="34" charset="0"/>
                          <a:ea typeface="+mn-lt" pitchFamily="34" charset="-122"/>
                          <a:cs typeface="+mn-lt" pitchFamily="34" charset="-120"/>
                        </a:rPr>
                        <a:t>2.39 ± 1.69 / 1.52 ± 0.99</a:t>
                      </a:r>
                      <a:endParaRPr lang="en-US" sz="900" dirty="0">
                        <a:latin typeface="+mn-lt" charset="0"/>
                        <a:ea typeface="+mn-lt" charset="0"/>
                        <a:cs typeface="+mn-lt" charset="0"/>
                      </a:endParaRPr>
                    </a:p>
                  </a:txBody>
                  <a:tcPr marL="45720" marR="45720" marT="45720" marB="45720" anchor="t">
                    <a:lnL w="6350" cap="flat" cmpd="sng" algn="ctr">
                      <a:solidFill>
                        <a:srgbClr val="D9E0E8"/>
                      </a:solidFill>
                      <a:prstDash val="solid"/>
                      <a:round/>
                      <a:headEnd type="none" w="med" len="med"/>
                      <a:tailEnd type="none" w="med" len="med"/>
                    </a:lnL>
                    <a:lnR w="6350" cap="flat" cmpd="sng" algn="ctr">
                      <a:solidFill>
                        <a:srgbClr val="D9E0E8"/>
                      </a:solidFill>
                      <a:prstDash val="solid"/>
                      <a:round/>
                      <a:headEnd type="none" w="med" len="med"/>
                      <a:tailEnd type="none" w="med" len="med"/>
                    </a:lnR>
                    <a:lnT w="6350" cap="flat" cmpd="sng" algn="ctr">
                      <a:solidFill>
                        <a:srgbClr val="D9E0E8"/>
                      </a:solidFill>
                      <a:prstDash val="solid"/>
                      <a:round/>
                      <a:headEnd type="none" w="med" len="med"/>
                      <a:tailEnd type="none" w="med" len="med"/>
                    </a:lnT>
                    <a:lnB w="6350" cap="flat" cmpd="sng" algn="ctr">
                      <a:solidFill>
                        <a:srgbClr val="D9E0E8"/>
                      </a:solidFill>
                      <a:prstDash val="solid"/>
                      <a:round/>
                      <a:headEnd type="none" w="med" len="med"/>
                      <a:tailEnd type="none" w="med" len="med"/>
                    </a:lnB>
                    <a:solidFill>
                      <a:schemeClr val="bg2"/>
                    </a:solidFill>
                  </a:tcPr>
                </a:tc>
                <a:tc>
                  <a:txBody>
                    <a:bodyPr/>
                    <a:lstStyle/>
                    <a:p>
                      <a:pPr indent="0" marL="0">
                        <a:buNone/>
                      </a:pPr>
                      <a:r>
                        <a:rPr lang="en-US" sz="900" dirty="0">
                          <a:solidFill>
                            <a:schemeClr val="tx1"/>
                          </a:solidFill>
                          <a:latin typeface="+mn-lt" pitchFamily="34" charset="0"/>
                          <a:ea typeface="+mn-lt" pitchFamily="34" charset="-122"/>
                          <a:cs typeface="+mn-lt" pitchFamily="34" charset="-120"/>
                        </a:rPr>
                        <a:t>8.81 / 4.10</a:t>
                      </a:r>
                      <a:endParaRPr lang="en-US" sz="900" dirty="0">
                        <a:latin typeface="+mn-lt" charset="0"/>
                        <a:ea typeface="+mn-lt" charset="0"/>
                        <a:cs typeface="+mn-lt" charset="0"/>
                      </a:endParaRPr>
                    </a:p>
                  </a:txBody>
                  <a:tcPr marL="45720" marR="45720" marT="45720" marB="45720" anchor="t">
                    <a:lnL w="6350" cap="flat" cmpd="sng" algn="ctr">
                      <a:solidFill>
                        <a:srgbClr val="D9E0E8"/>
                      </a:solidFill>
                      <a:prstDash val="solid"/>
                      <a:round/>
                      <a:headEnd type="none" w="med" len="med"/>
                      <a:tailEnd type="none" w="med" len="med"/>
                    </a:lnL>
                    <a:lnR w="6350" cap="flat" cmpd="sng" algn="ctr">
                      <a:solidFill>
                        <a:srgbClr val="D9E0E8"/>
                      </a:solidFill>
                      <a:prstDash val="solid"/>
                      <a:round/>
                      <a:headEnd type="none" w="med" len="med"/>
                      <a:tailEnd type="none" w="med" len="med"/>
                    </a:lnR>
                    <a:lnT w="6350" cap="flat" cmpd="sng" algn="ctr">
                      <a:solidFill>
                        <a:srgbClr val="D9E0E8"/>
                      </a:solidFill>
                      <a:prstDash val="solid"/>
                      <a:round/>
                      <a:headEnd type="none" w="med" len="med"/>
                      <a:tailEnd type="none" w="med" len="med"/>
                    </a:lnT>
                    <a:lnB w="6350" cap="flat" cmpd="sng" algn="ctr">
                      <a:solidFill>
                        <a:srgbClr val="D9E0E8"/>
                      </a:solidFill>
                      <a:prstDash val="solid"/>
                      <a:round/>
                      <a:headEnd type="none" w="med" len="med"/>
                      <a:tailEnd type="none" w="med" len="med"/>
                    </a:lnB>
                    <a:solidFill>
                      <a:schemeClr val="bg2"/>
                    </a:solidFill>
                  </a:tcPr>
                </a:tc>
                <a:tc>
                  <a:txBody>
                    <a:bodyPr/>
                    <a:lstStyle/>
                    <a:p>
                      <a:pPr indent="0" marL="0">
                        <a:buNone/>
                      </a:pPr>
                      <a:endParaRPr lang="en-US" sz="900" dirty="0">
                        <a:latin typeface="+mn-lt" charset="0"/>
                        <a:ea typeface="+mn-lt" charset="0"/>
                        <a:cs typeface="+mn-lt" charset="0"/>
                      </a:endParaRPr>
                    </a:p>
                  </a:txBody>
                  <a:tcPr marL="45720" marR="45720" marT="45720" marB="45720" anchor="t">
                    <a:lnL w="6350" cap="flat" cmpd="sng" algn="ctr">
                      <a:solidFill>
                        <a:srgbClr val="D9E0E8"/>
                      </a:solidFill>
                      <a:prstDash val="solid"/>
                      <a:round/>
                      <a:headEnd type="none" w="med" len="med"/>
                      <a:tailEnd type="none" w="med" len="med"/>
                    </a:lnL>
                    <a:lnR w="6350" cap="flat" cmpd="sng" algn="ctr">
                      <a:solidFill>
                        <a:srgbClr val="D9E0E8"/>
                      </a:solidFill>
                      <a:prstDash val="solid"/>
                      <a:round/>
                      <a:headEnd type="none" w="med" len="med"/>
                      <a:tailEnd type="none" w="med" len="med"/>
                    </a:lnR>
                    <a:lnT w="6350" cap="flat" cmpd="sng" algn="ctr">
                      <a:solidFill>
                        <a:srgbClr val="D9E0E8"/>
                      </a:solidFill>
                      <a:prstDash val="solid"/>
                      <a:round/>
                      <a:headEnd type="none" w="med" len="med"/>
                      <a:tailEnd type="none" w="med" len="med"/>
                    </a:lnT>
                    <a:lnB w="6350" cap="flat" cmpd="sng" algn="ctr">
                      <a:solidFill>
                        <a:srgbClr val="D9E0E8"/>
                      </a:solidFill>
                      <a:prstDash val="solid"/>
                      <a:round/>
                      <a:headEnd type="none" w="med" len="med"/>
                      <a:tailEnd type="none" w="med" len="med"/>
                    </a:lnB>
                    <a:solidFill>
                      <a:schemeClr val="bg2"/>
                    </a:solidFill>
                  </a:tcPr>
                </a:tc>
              </a:tr>
              <a:tr h="0">
                <a:tc>
                  <a:txBody>
                    <a:bodyPr/>
                    <a:lstStyle/>
                    <a:p>
                      <a:pPr indent="0" marL="0">
                        <a:buNone/>
                      </a:pPr>
                      <a:r>
                        <a:rPr lang="en-US" sz="900" dirty="0">
                          <a:solidFill>
                            <a:schemeClr val="tx1"/>
                          </a:solidFill>
                          <a:latin typeface="+mn-lt" pitchFamily="34" charset="0"/>
                          <a:ea typeface="+mn-lt" pitchFamily="34" charset="-122"/>
                          <a:cs typeface="+mn-lt" pitchFamily="34" charset="-120"/>
                        </a:rPr>
                        <a:t>Cranial base rows (3)</a:t>
                      </a:r>
                      <a:endParaRPr lang="en-US" sz="900" dirty="0">
                        <a:latin typeface="+mn-lt" charset="0"/>
                        <a:ea typeface="+mn-lt" charset="0"/>
                        <a:cs typeface="+mn-lt" charset="0"/>
                      </a:endParaRPr>
                    </a:p>
                  </a:txBody>
                  <a:tcPr marL="45720" marR="45720" marT="45720" marB="45720" anchor="t">
                    <a:lnL w="6350" cap="flat" cmpd="sng" algn="ctr">
                      <a:solidFill>
                        <a:srgbClr val="D9E0E8"/>
                      </a:solidFill>
                      <a:prstDash val="solid"/>
                      <a:round/>
                      <a:headEnd type="none" w="med" len="med"/>
                      <a:tailEnd type="none" w="med" len="med"/>
                    </a:lnL>
                    <a:lnR w="6350" cap="flat" cmpd="sng" algn="ctr">
                      <a:solidFill>
                        <a:srgbClr val="D9E0E8"/>
                      </a:solidFill>
                      <a:prstDash val="solid"/>
                      <a:round/>
                      <a:headEnd type="none" w="med" len="med"/>
                      <a:tailEnd type="none" w="med" len="med"/>
                    </a:lnR>
                    <a:lnT w="6350" cap="flat" cmpd="sng" algn="ctr">
                      <a:solidFill>
                        <a:srgbClr val="D9E0E8"/>
                      </a:solidFill>
                      <a:prstDash val="solid"/>
                      <a:round/>
                      <a:headEnd type="none" w="med" len="med"/>
                      <a:tailEnd type="none" w="med" len="med"/>
                    </a:lnT>
                    <a:lnB w="6350" cap="flat" cmpd="sng" algn="ctr">
                      <a:solidFill>
                        <a:srgbClr val="D9E0E8"/>
                      </a:solidFill>
                      <a:prstDash val="solid"/>
                      <a:round/>
                      <a:headEnd type="none" w="med" len="med"/>
                      <a:tailEnd type="none" w="med" len="med"/>
                    </a:lnB>
                    <a:solidFill>
                      <a:schemeClr val="bg1"/>
                    </a:solidFill>
                  </a:tcPr>
                </a:tc>
                <a:tc>
                  <a:txBody>
                    <a:bodyPr/>
                    <a:lstStyle/>
                    <a:p>
                      <a:pPr indent="0" marL="0">
                        <a:buNone/>
                      </a:pPr>
                      <a:r>
                        <a:rPr lang="en-US" sz="900" dirty="0">
                          <a:solidFill>
                            <a:schemeClr val="tx1"/>
                          </a:solidFill>
                          <a:latin typeface="+mn-lt" pitchFamily="34" charset="0"/>
                          <a:ea typeface="+mn-lt" pitchFamily="34" charset="-122"/>
                          <a:cs typeface="+mn-lt" pitchFamily="34" charset="-120"/>
                        </a:rPr>
                        <a:t>50</a:t>
                      </a:r>
                      <a:endParaRPr lang="en-US" sz="900" dirty="0">
                        <a:latin typeface="+mn-lt" charset="0"/>
                        <a:ea typeface="+mn-lt" charset="0"/>
                        <a:cs typeface="+mn-lt" charset="0"/>
                      </a:endParaRPr>
                    </a:p>
                  </a:txBody>
                  <a:tcPr marL="45720" marR="45720" marT="45720" marB="45720" anchor="t">
                    <a:lnL w="6350" cap="flat" cmpd="sng" algn="ctr">
                      <a:solidFill>
                        <a:srgbClr val="D9E0E8"/>
                      </a:solidFill>
                      <a:prstDash val="solid"/>
                      <a:round/>
                      <a:headEnd type="none" w="med" len="med"/>
                      <a:tailEnd type="none" w="med" len="med"/>
                    </a:lnL>
                    <a:lnR w="6350" cap="flat" cmpd="sng" algn="ctr">
                      <a:solidFill>
                        <a:srgbClr val="D9E0E8"/>
                      </a:solidFill>
                      <a:prstDash val="solid"/>
                      <a:round/>
                      <a:headEnd type="none" w="med" len="med"/>
                      <a:tailEnd type="none" w="med" len="med"/>
                    </a:lnR>
                    <a:lnT w="6350" cap="flat" cmpd="sng" algn="ctr">
                      <a:solidFill>
                        <a:srgbClr val="D9E0E8"/>
                      </a:solidFill>
                      <a:prstDash val="solid"/>
                      <a:round/>
                      <a:headEnd type="none" w="med" len="med"/>
                      <a:tailEnd type="none" w="med" len="med"/>
                    </a:lnT>
                    <a:lnB w="6350" cap="flat" cmpd="sng" algn="ctr">
                      <a:solidFill>
                        <a:srgbClr val="D9E0E8"/>
                      </a:solidFill>
                      <a:prstDash val="solid"/>
                      <a:round/>
                      <a:headEnd type="none" w="med" len="med"/>
                      <a:tailEnd type="none" w="med" len="med"/>
                    </a:lnB>
                    <a:solidFill>
                      <a:schemeClr val="bg1"/>
                    </a:solidFill>
                  </a:tcPr>
                </a:tc>
                <a:tc>
                  <a:txBody>
                    <a:bodyPr/>
                    <a:lstStyle/>
                    <a:p>
                      <a:pPr indent="0" marL="0">
                        <a:buNone/>
                      </a:pPr>
                      <a:r>
                        <a:rPr lang="en-US" sz="900" dirty="0">
                          <a:solidFill>
                            <a:schemeClr val="tx1"/>
                          </a:solidFill>
                          <a:latin typeface="+mn-lt" pitchFamily="34" charset="0"/>
                          <a:ea typeface="+mn-lt" pitchFamily="34" charset="-122"/>
                          <a:cs typeface="+mn-lt" pitchFamily="34" charset="-120"/>
                        </a:rPr>
                        <a:t>2.52–2.64</a:t>
                      </a:r>
                      <a:endParaRPr lang="en-US" sz="900" dirty="0">
                        <a:latin typeface="+mn-lt" charset="0"/>
                        <a:ea typeface="+mn-lt" charset="0"/>
                        <a:cs typeface="+mn-lt" charset="0"/>
                      </a:endParaRPr>
                    </a:p>
                  </a:txBody>
                  <a:tcPr marL="45720" marR="45720" marT="45720" marB="45720" anchor="t">
                    <a:lnL w="6350" cap="flat" cmpd="sng" algn="ctr">
                      <a:solidFill>
                        <a:srgbClr val="D9E0E8"/>
                      </a:solidFill>
                      <a:prstDash val="solid"/>
                      <a:round/>
                      <a:headEnd type="none" w="med" len="med"/>
                      <a:tailEnd type="none" w="med" len="med"/>
                    </a:lnL>
                    <a:lnR w="6350" cap="flat" cmpd="sng" algn="ctr">
                      <a:solidFill>
                        <a:srgbClr val="D9E0E8"/>
                      </a:solidFill>
                      <a:prstDash val="solid"/>
                      <a:round/>
                      <a:headEnd type="none" w="med" len="med"/>
                      <a:tailEnd type="none" w="med" len="med"/>
                    </a:lnR>
                    <a:lnT w="6350" cap="flat" cmpd="sng" algn="ctr">
                      <a:solidFill>
                        <a:srgbClr val="D9E0E8"/>
                      </a:solidFill>
                      <a:prstDash val="solid"/>
                      <a:round/>
                      <a:headEnd type="none" w="med" len="med"/>
                      <a:tailEnd type="none" w="med" len="med"/>
                    </a:lnT>
                    <a:lnB w="6350" cap="flat" cmpd="sng" algn="ctr">
                      <a:solidFill>
                        <a:srgbClr val="D9E0E8"/>
                      </a:solidFill>
                      <a:prstDash val="solid"/>
                      <a:round/>
                      <a:headEnd type="none" w="med" len="med"/>
                      <a:tailEnd type="none" w="med" len="med"/>
                    </a:lnB>
                    <a:solidFill>
                      <a:schemeClr val="bg1"/>
                    </a:solidFill>
                  </a:tcPr>
                </a:tc>
                <a:tc>
                  <a:txBody>
                    <a:bodyPr/>
                    <a:lstStyle/>
                    <a:p>
                      <a:pPr indent="0" marL="0">
                        <a:buNone/>
                      </a:pPr>
                      <a:r>
                        <a:rPr lang="en-US" sz="900" dirty="0">
                          <a:solidFill>
                            <a:schemeClr val="tx1"/>
                          </a:solidFill>
                          <a:latin typeface="+mn-lt" pitchFamily="34" charset="0"/>
                          <a:ea typeface="+mn-lt" pitchFamily="34" charset="-122"/>
                          <a:cs typeface="+mn-lt" pitchFamily="34" charset="-120"/>
                        </a:rPr>
                        <a:t>up to 11.99</a:t>
                      </a:r>
                      <a:endParaRPr lang="en-US" sz="900" dirty="0">
                        <a:latin typeface="+mn-lt" charset="0"/>
                        <a:ea typeface="+mn-lt" charset="0"/>
                        <a:cs typeface="+mn-lt" charset="0"/>
                      </a:endParaRPr>
                    </a:p>
                  </a:txBody>
                  <a:tcPr marL="45720" marR="45720" marT="45720" marB="45720" anchor="t">
                    <a:lnL w="6350" cap="flat" cmpd="sng" algn="ctr">
                      <a:solidFill>
                        <a:srgbClr val="D9E0E8"/>
                      </a:solidFill>
                      <a:prstDash val="solid"/>
                      <a:round/>
                      <a:headEnd type="none" w="med" len="med"/>
                      <a:tailEnd type="none" w="med" len="med"/>
                    </a:lnL>
                    <a:lnR w="6350" cap="flat" cmpd="sng" algn="ctr">
                      <a:solidFill>
                        <a:srgbClr val="D9E0E8"/>
                      </a:solidFill>
                      <a:prstDash val="solid"/>
                      <a:round/>
                      <a:headEnd type="none" w="med" len="med"/>
                      <a:tailEnd type="none" w="med" len="med"/>
                    </a:lnR>
                    <a:lnT w="6350" cap="flat" cmpd="sng" algn="ctr">
                      <a:solidFill>
                        <a:srgbClr val="D9E0E8"/>
                      </a:solidFill>
                      <a:prstDash val="solid"/>
                      <a:round/>
                      <a:headEnd type="none" w="med" len="med"/>
                      <a:tailEnd type="none" w="med" len="med"/>
                    </a:lnT>
                    <a:lnB w="6350" cap="flat" cmpd="sng" algn="ctr">
                      <a:solidFill>
                        <a:srgbClr val="D9E0E8"/>
                      </a:solidFill>
                      <a:prstDash val="solid"/>
                      <a:round/>
                      <a:headEnd type="none" w="med" len="med"/>
                      <a:tailEnd type="none" w="med" len="med"/>
                    </a:lnB>
                    <a:solidFill>
                      <a:schemeClr val="bg1"/>
                    </a:solidFill>
                  </a:tcPr>
                </a:tc>
                <a:tc>
                  <a:txBody>
                    <a:bodyPr/>
                    <a:lstStyle/>
                    <a:p>
                      <a:pPr indent="0" marL="0">
                        <a:buNone/>
                      </a:pPr>
                      <a:r>
                        <a:rPr lang="en-US" sz="900" dirty="0">
                          <a:solidFill>
                            <a:schemeClr val="tx1"/>
                          </a:solidFill>
                          <a:latin typeface="+mn-lt" pitchFamily="34" charset="0"/>
                          <a:ea typeface="+mn-lt" pitchFamily="34" charset="-122"/>
                          <a:cs typeface="+mn-lt" pitchFamily="34" charset="-120"/>
                        </a:rPr>
                        <a:t>maxilla rotates vs base; lever-arm error (p. 167)</a:t>
                      </a:r>
                      <a:endParaRPr lang="en-US" sz="900" dirty="0">
                        <a:latin typeface="+mn-lt" charset="0"/>
                        <a:ea typeface="+mn-lt" charset="0"/>
                        <a:cs typeface="+mn-lt" charset="0"/>
                      </a:endParaRPr>
                    </a:p>
                  </a:txBody>
                  <a:tcPr marL="45720" marR="45720" marT="45720" marB="45720" anchor="t">
                    <a:lnL w="6350" cap="flat" cmpd="sng" algn="ctr">
                      <a:solidFill>
                        <a:srgbClr val="D9E0E8"/>
                      </a:solidFill>
                      <a:prstDash val="solid"/>
                      <a:round/>
                      <a:headEnd type="none" w="med" len="med"/>
                      <a:tailEnd type="none" w="med" len="med"/>
                    </a:lnL>
                    <a:lnR w="6350" cap="flat" cmpd="sng" algn="ctr">
                      <a:solidFill>
                        <a:srgbClr val="D9E0E8"/>
                      </a:solidFill>
                      <a:prstDash val="solid"/>
                      <a:round/>
                      <a:headEnd type="none" w="med" len="med"/>
                      <a:tailEnd type="none" w="med" len="med"/>
                    </a:lnR>
                    <a:lnT w="6350" cap="flat" cmpd="sng" algn="ctr">
                      <a:solidFill>
                        <a:srgbClr val="D9E0E8"/>
                      </a:solidFill>
                      <a:prstDash val="solid"/>
                      <a:round/>
                      <a:headEnd type="none" w="med" len="med"/>
                      <a:tailEnd type="none" w="med" len="med"/>
                    </a:lnT>
                    <a:lnB w="6350" cap="flat" cmpd="sng" algn="ctr">
                      <a:solidFill>
                        <a:srgbClr val="D9E0E8"/>
                      </a:solidFill>
                      <a:prstDash val="solid"/>
                      <a:round/>
                      <a:headEnd type="none" w="med" len="med"/>
                      <a:tailEnd type="none" w="med" len="med"/>
                    </a:lnB>
                    <a:solidFill>
                      <a:schemeClr val="bg1"/>
                    </a:solidFill>
                  </a:tcPr>
                </a:tc>
              </a:tr>
            </a:tbl>
          </a:graphicData>
        </a:graphic>
      </p:graphicFrame>
      <p:sp>
        <p:nvSpPr>
          <p:cNvPr id="25" name="Slide Number Placeholder 0"/>
          <p:cNvSpPr>
            <a:spLocks noGrp="1"/>
          </p:cNvSpPr>
          <p:nvPr>
            <p:ph type="sldNum" sz="quarter" idx="4294967295"/>
          </p:nvPr>
        </p:nvSpPr>
        <p:spPr>
          <a:xfrm>
            <a:off x="8321040" y="4754880"/>
            <a:ext cx="36576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l"/>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731520"/>
          </a:xfrm>
          <a:prstGeom prst="rect">
            <a:avLst/>
          </a:prstGeom>
          <a:noFill/>
          <a:ln/>
        </p:spPr>
        <p:txBody>
          <a:bodyPr wrap="square" lIns="0" tIns="0" rIns="0" bIns="0" rtlCol="0" anchor="ctr"/>
          <a:lstStyle/>
          <a:p>
            <a:pPr algn="l" indent="0" marL="0">
              <a:buNone/>
            </a:pPr>
            <a:r>
              <a:rPr lang="en-US" sz="2800" b="1" dirty="0">
                <a:solidFill>
                  <a:schemeClr val="tx2"/>
                </a:solidFill>
              </a:rPr>
              <a:t>Nguyen 2018: aim and method</a:t>
            </a:r>
            <a:endParaRPr lang="en-US" sz="2800" dirty="0"/>
          </a:p>
        </p:txBody>
      </p:sp>
      <p:sp>
        <p:nvSpPr>
          <p:cNvPr id="3" name="Text 0"/>
          <p:cNvSpPr/>
          <p:nvPr>
            <p:ph idx="101" type="body" hasCustomPrompt="1"/>
          </p:nvPr>
        </p:nvSpPr>
        <p:spPr>
          <a:xfrm>
            <a:off x="457200" y="1188720"/>
            <a:ext cx="8229600" cy="3429000"/>
          </a:xfrm>
          <a:prstGeom prst="rect">
            <a:avLst/>
          </a:prstGeom>
          <a:noFill/>
          <a:ln/>
        </p:spPr>
        <p:txBody>
          <a:bodyPr wrap="square" lIns="0" tIns="0" rIns="0" bIns="0" rtlCol="0" anchor="t"/>
          <a:lstStyle/>
          <a:p>
            <a:pPr marL="177800" indent="-177800">
              <a:spcAft>
                <a:spcPts val="600"/>
              </a:spcAft>
              <a:buSzPct val="100000"/>
              <a:buChar char="•"/>
            </a:pPr>
            <a:r>
              <a:rPr lang="en-US" sz="1600" dirty="0">
                <a:solidFill>
                  <a:schemeClr val="tx1"/>
                </a:solidFill>
              </a:rPr>
              <a:t>Aim 1: which Björk mandibular regions stay stable in 3D against bone plates?</a:t>
            </a:r>
            <a:endParaRPr lang="en-US" sz="1600" dirty="0"/>
          </a:p>
          <a:p>
            <a:pPr marL="177800" indent="-177800">
              <a:spcAft>
                <a:spcPts val="600"/>
              </a:spcAft>
              <a:buSzPct val="100000"/>
              <a:buChar char="•"/>
            </a:pPr>
            <a:r>
              <a:rPr lang="en-US" sz="1600" dirty="0">
                <a:solidFill>
                  <a:schemeClr val="tx1"/>
                </a:solidFill>
              </a:rPr>
              <a:t>Aim 1: 20 Class III bone-anchor patients, 12.1 ± 1.3 → 13.3 ± 1.1 y; plates at incisor apices.</a:t>
            </a:r>
            <a:endParaRPr lang="en-US" sz="1600" dirty="0"/>
          </a:p>
          <a:p>
            <a:pPr marL="177800" indent="-177800">
              <a:spcAft>
                <a:spcPts val="600"/>
              </a:spcAft>
              <a:buSzPct val="100000"/>
              <a:buChar char="•"/>
            </a:pPr>
            <a:r>
              <a:rPr lang="en-US" sz="1600" dirty="0">
                <a:solidFill>
                  <a:schemeClr val="tx1"/>
                </a:solidFill>
              </a:rPr>
              <a:t>Regions: chin (pogonion to B point), symphysis inner cortex, third-molar crypt; canal excluded a priori.</a:t>
            </a:r>
            <a:endParaRPr lang="en-US" sz="1600" dirty="0"/>
          </a:p>
          <a:p>
            <a:pPr marL="177800" indent="-177800">
              <a:spcAft>
                <a:spcPts val="600"/>
              </a:spcAft>
              <a:buSzPct val="100000"/>
              <a:buChar char="•"/>
            </a:pPr>
            <a:r>
              <a:rPr lang="en-US" sz="1600" dirty="0">
                <a:solidFill>
                  <a:schemeClr val="tx1"/>
                </a:solidFill>
              </a:rPr>
              <a:t>Voxel registration (Slicer CMF, ITK-SNAP); i-CAT or NewTom 3G; 0.3 mm voxels; absolute mean surface error.</a:t>
            </a:r>
            <a:endParaRPr lang="en-US" sz="1600" dirty="0"/>
          </a:p>
          <a:p>
            <a:pPr marL="177800" indent="-177800">
              <a:spcAft>
                <a:spcPts val="600"/>
              </a:spcAft>
              <a:buSzPct val="100000"/>
              <a:buChar char="•"/>
            </a:pPr>
            <a:r>
              <a:rPr lang="en-US" sz="1600" dirty="0">
                <a:solidFill>
                  <a:schemeClr val="tx1"/>
                </a:solidFill>
              </a:rPr>
              <a:t>Aim 2: 25 patients, 12.7 ± 1.4 y, CVM 2–5, 12.6 ± 0.9 months; two observers; ICC.</a:t>
            </a:r>
            <a:endParaRPr lang="en-US" sz="1600" dirty="0"/>
          </a:p>
        </p:txBody>
      </p:sp>
      <p:sp>
        <p:nvSpPr>
          <p:cNvPr id="25" name="Slide Number Placeholder 0"/>
          <p:cNvSpPr>
            <a:spLocks noGrp="1"/>
          </p:cNvSpPr>
          <p:nvPr>
            <p:ph type="sldNum" sz="quarter" idx="4294967295"/>
          </p:nvPr>
        </p:nvSpPr>
        <p:spPr>
          <a:xfrm>
            <a:off x="8321040" y="4754880"/>
            <a:ext cx="36576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l"/>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731520"/>
          </a:xfrm>
          <a:prstGeom prst="rect">
            <a:avLst/>
          </a:prstGeom>
          <a:noFill/>
          <a:ln/>
        </p:spPr>
        <p:txBody>
          <a:bodyPr wrap="square" lIns="0" tIns="0" rIns="0" bIns="0" rtlCol="0" anchor="ctr"/>
          <a:lstStyle/>
          <a:p>
            <a:pPr algn="l" indent="0" marL="0">
              <a:buNone/>
            </a:pPr>
            <a:r>
              <a:rPr lang="en-US" sz="2800" b="1" dirty="0">
                <a:solidFill>
                  <a:schemeClr val="tx2"/>
                </a:solidFill>
              </a:rPr>
              <a:t>Nguyen 2018: results and take-home</a:t>
            </a:r>
            <a:endParaRPr lang="en-US" sz="2800" dirty="0"/>
          </a:p>
        </p:txBody>
      </p:sp>
      <p:graphicFrame>
        <p:nvGraphicFramePr>
          <p:cNvPr id="10" name="table"/>
          <p:cNvGraphicFramePr>
            <a:graphicFrameLocks noGrp="1"/>
          </p:cNvGraphicFramePr>
          <p:nvPr>
            <p:extLst>
              <p:ext uri="{D42A27DB-BD31-4B8C-83A1-F6EECF244321}">
                <p14:modId xmlns:p14="http://schemas.microsoft.com/office/powerpoint/2010/main" val="1579011935"/>
              </p:ext>
            </p:extLst>
          </p:nvPr>
        </p:nvGraphicFramePr>
        <p:xfrm>
          <a:off x="457200" y="1188720"/>
          <a:ext cx="8229600" cy="914400"/>
        </p:xfrm>
        <a:graphic>
          <a:graphicData uri="http://schemas.openxmlformats.org/drawingml/2006/table">
            <a:tbl>
              <a:tblPr/>
              <a:tblGrid>
                <a:gridCol w="2139696"/>
                <a:gridCol w="3044952"/>
                <a:gridCol w="3044952"/>
              </a:tblGrid>
              <a:tr h="0">
                <a:tc>
                  <a:txBody>
                    <a:bodyPr/>
                    <a:lstStyle/>
                    <a:p>
                      <a:pPr indent="0" marL="0">
                        <a:buNone/>
                      </a:pPr>
                      <a:r>
                        <a:rPr lang="en-US" sz="1200" b="1" dirty="0">
                          <a:solidFill>
                            <a:schemeClr val="bg1"/>
                          </a:solidFill>
                          <a:latin typeface="+mn-lt" pitchFamily="34" charset="0"/>
                          <a:ea typeface="+mn-lt" pitchFamily="34" charset="-122"/>
                          <a:cs typeface="+mn-lt" pitchFamily="34" charset="-120"/>
                        </a:rPr>
                        <a:t>Region</a:t>
                      </a:r>
                      <a:endParaRPr lang="en-US" sz="1200" dirty="0">
                        <a:latin typeface="+mn-lt" charset="0"/>
                        <a:ea typeface="+mn-lt" charset="0"/>
                        <a:cs typeface="+mn-lt" charset="0"/>
                      </a:endParaRPr>
                    </a:p>
                  </a:txBody>
                  <a:tcPr marL="45720" marR="45720" marT="45720" marB="45720" anchor="t">
                    <a:lnL w="6350" cap="flat" cmpd="sng" algn="ctr">
                      <a:solidFill>
                        <a:srgbClr val="D9E0E8"/>
                      </a:solidFill>
                      <a:prstDash val="solid"/>
                      <a:round/>
                      <a:headEnd type="none" w="med" len="med"/>
                      <a:tailEnd type="none" w="med" len="med"/>
                    </a:lnL>
                    <a:lnR w="6350" cap="flat" cmpd="sng" algn="ctr">
                      <a:solidFill>
                        <a:srgbClr val="D9E0E8"/>
                      </a:solidFill>
                      <a:prstDash val="solid"/>
                      <a:round/>
                      <a:headEnd type="none" w="med" len="med"/>
                      <a:tailEnd type="none" w="med" len="med"/>
                    </a:lnR>
                    <a:lnT w="6350" cap="flat" cmpd="sng" algn="ctr">
                      <a:solidFill>
                        <a:srgbClr val="D9E0E8"/>
                      </a:solidFill>
                      <a:prstDash val="solid"/>
                      <a:round/>
                      <a:headEnd type="none" w="med" len="med"/>
                      <a:tailEnd type="none" w="med" len="med"/>
                    </a:lnT>
                    <a:lnB w="6350" cap="flat" cmpd="sng" algn="ctr">
                      <a:solidFill>
                        <a:srgbClr val="D9E0E8"/>
                      </a:solidFill>
                      <a:prstDash val="solid"/>
                      <a:round/>
                      <a:headEnd type="none" w="med" len="med"/>
                      <a:tailEnd type="none" w="med" len="med"/>
                    </a:lnB>
                    <a:solidFill>
                      <a:schemeClr val="tx2"/>
                    </a:solidFill>
                  </a:tcPr>
                </a:tc>
                <a:tc>
                  <a:txBody>
                    <a:bodyPr/>
                    <a:lstStyle/>
                    <a:p>
                      <a:pPr indent="0" marL="0">
                        <a:buNone/>
                      </a:pPr>
                      <a:r>
                        <a:rPr lang="en-US" sz="1200" b="1" dirty="0">
                          <a:solidFill>
                            <a:schemeClr val="bg1"/>
                          </a:solidFill>
                          <a:latin typeface="+mn-lt" pitchFamily="34" charset="0"/>
                          <a:ea typeface="+mn-lt" pitchFamily="34" charset="-122"/>
                          <a:cs typeface="+mn-lt" pitchFamily="34" charset="-120"/>
                        </a:rPr>
                        <a:t>Error, mm</a:t>
                      </a:r>
                      <a:endParaRPr lang="en-US" sz="1200" dirty="0">
                        <a:latin typeface="+mn-lt" charset="0"/>
                        <a:ea typeface="+mn-lt" charset="0"/>
                        <a:cs typeface="+mn-lt" charset="0"/>
                      </a:endParaRPr>
                    </a:p>
                  </a:txBody>
                  <a:tcPr marL="45720" marR="45720" marT="45720" marB="45720" anchor="t">
                    <a:lnL w="6350" cap="flat" cmpd="sng" algn="ctr">
                      <a:solidFill>
                        <a:srgbClr val="D9E0E8"/>
                      </a:solidFill>
                      <a:prstDash val="solid"/>
                      <a:round/>
                      <a:headEnd type="none" w="med" len="med"/>
                      <a:tailEnd type="none" w="med" len="med"/>
                    </a:lnL>
                    <a:lnR w="6350" cap="flat" cmpd="sng" algn="ctr">
                      <a:solidFill>
                        <a:srgbClr val="D9E0E8"/>
                      </a:solidFill>
                      <a:prstDash val="solid"/>
                      <a:round/>
                      <a:headEnd type="none" w="med" len="med"/>
                      <a:tailEnd type="none" w="med" len="med"/>
                    </a:lnR>
                    <a:lnT w="6350" cap="flat" cmpd="sng" algn="ctr">
                      <a:solidFill>
                        <a:srgbClr val="D9E0E8"/>
                      </a:solidFill>
                      <a:prstDash val="solid"/>
                      <a:round/>
                      <a:headEnd type="none" w="med" len="med"/>
                      <a:tailEnd type="none" w="med" len="med"/>
                    </a:lnT>
                    <a:lnB w="6350" cap="flat" cmpd="sng" algn="ctr">
                      <a:solidFill>
                        <a:srgbClr val="D9E0E8"/>
                      </a:solidFill>
                      <a:prstDash val="solid"/>
                      <a:round/>
                      <a:headEnd type="none" w="med" len="med"/>
                      <a:tailEnd type="none" w="med" len="med"/>
                    </a:lnB>
                    <a:solidFill>
                      <a:schemeClr val="tx2"/>
                    </a:solidFill>
                  </a:tcPr>
                </a:tc>
                <a:tc>
                  <a:txBody>
                    <a:bodyPr/>
                    <a:lstStyle/>
                    <a:p>
                      <a:pPr indent="0" marL="0">
                        <a:buNone/>
                      </a:pPr>
                      <a:r>
                        <a:rPr lang="en-US" sz="1200" b="1" dirty="0">
                          <a:solidFill>
                            <a:schemeClr val="bg1"/>
                          </a:solidFill>
                          <a:latin typeface="+mn-lt" pitchFamily="34" charset="0"/>
                          <a:ea typeface="+mn-lt" pitchFamily="34" charset="-122"/>
                          <a:cs typeface="+mn-lt" pitchFamily="34" charset="-120"/>
                        </a:rPr>
                        <a:t>P</a:t>
                      </a:r>
                      <a:endParaRPr lang="en-US" sz="1200" dirty="0">
                        <a:latin typeface="+mn-lt" charset="0"/>
                        <a:ea typeface="+mn-lt" charset="0"/>
                        <a:cs typeface="+mn-lt" charset="0"/>
                      </a:endParaRPr>
                    </a:p>
                  </a:txBody>
                  <a:tcPr marL="45720" marR="45720" marT="45720" marB="45720" anchor="t">
                    <a:lnL w="6350" cap="flat" cmpd="sng" algn="ctr">
                      <a:solidFill>
                        <a:srgbClr val="D9E0E8"/>
                      </a:solidFill>
                      <a:prstDash val="solid"/>
                      <a:round/>
                      <a:headEnd type="none" w="med" len="med"/>
                      <a:tailEnd type="none" w="med" len="med"/>
                    </a:lnL>
                    <a:lnR w="6350" cap="flat" cmpd="sng" algn="ctr">
                      <a:solidFill>
                        <a:srgbClr val="D9E0E8"/>
                      </a:solidFill>
                      <a:prstDash val="solid"/>
                      <a:round/>
                      <a:headEnd type="none" w="med" len="med"/>
                      <a:tailEnd type="none" w="med" len="med"/>
                    </a:lnR>
                    <a:lnT w="6350" cap="flat" cmpd="sng" algn="ctr">
                      <a:solidFill>
                        <a:srgbClr val="D9E0E8"/>
                      </a:solidFill>
                      <a:prstDash val="solid"/>
                      <a:round/>
                      <a:headEnd type="none" w="med" len="med"/>
                      <a:tailEnd type="none" w="med" len="med"/>
                    </a:lnT>
                    <a:lnB w="6350" cap="flat" cmpd="sng" algn="ctr">
                      <a:solidFill>
                        <a:srgbClr val="D9E0E8"/>
                      </a:solidFill>
                      <a:prstDash val="solid"/>
                      <a:round/>
                      <a:headEnd type="none" w="med" len="med"/>
                      <a:tailEnd type="none" w="med" len="med"/>
                    </a:lnB>
                    <a:solidFill>
                      <a:schemeClr val="tx2"/>
                    </a:solidFill>
                  </a:tcPr>
                </a:tc>
              </a:tr>
              <a:tr h="0">
                <a:tc>
                  <a:txBody>
                    <a:bodyPr/>
                    <a:lstStyle/>
                    <a:p>
                      <a:pPr indent="0" marL="0">
                        <a:buNone/>
                      </a:pPr>
                      <a:r>
                        <a:rPr lang="en-US" sz="1200" dirty="0">
                          <a:solidFill>
                            <a:schemeClr val="tx1"/>
                          </a:solidFill>
                          <a:latin typeface="+mn-lt" pitchFamily="34" charset="0"/>
                          <a:ea typeface="+mn-lt" pitchFamily="34" charset="-122"/>
                          <a:cs typeface="+mn-lt" pitchFamily="34" charset="-120"/>
                        </a:rPr>
                        <a:t>Chin (pogonion to B point)</a:t>
                      </a:r>
                      <a:endParaRPr lang="en-US" sz="1200" dirty="0">
                        <a:latin typeface="+mn-lt" charset="0"/>
                        <a:ea typeface="+mn-lt" charset="0"/>
                        <a:cs typeface="+mn-lt" charset="0"/>
                      </a:endParaRPr>
                    </a:p>
                  </a:txBody>
                  <a:tcPr marL="45720" marR="45720" marT="45720" marB="45720" anchor="t">
                    <a:lnL w="6350" cap="flat" cmpd="sng" algn="ctr">
                      <a:solidFill>
                        <a:srgbClr val="D9E0E8"/>
                      </a:solidFill>
                      <a:prstDash val="solid"/>
                      <a:round/>
                      <a:headEnd type="none" w="med" len="med"/>
                      <a:tailEnd type="none" w="med" len="med"/>
                    </a:lnL>
                    <a:lnR w="6350" cap="flat" cmpd="sng" algn="ctr">
                      <a:solidFill>
                        <a:srgbClr val="D9E0E8"/>
                      </a:solidFill>
                      <a:prstDash val="solid"/>
                      <a:round/>
                      <a:headEnd type="none" w="med" len="med"/>
                      <a:tailEnd type="none" w="med" len="med"/>
                    </a:lnR>
                    <a:lnT w="6350" cap="flat" cmpd="sng" algn="ctr">
                      <a:solidFill>
                        <a:srgbClr val="D9E0E8"/>
                      </a:solidFill>
                      <a:prstDash val="solid"/>
                      <a:round/>
                      <a:headEnd type="none" w="med" len="med"/>
                      <a:tailEnd type="none" w="med" len="med"/>
                    </a:lnT>
                    <a:lnB w="6350" cap="flat" cmpd="sng" algn="ctr">
                      <a:solidFill>
                        <a:srgbClr val="D9E0E8"/>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latin typeface="+mn-lt" pitchFamily="34" charset="0"/>
                          <a:ea typeface="+mn-lt" pitchFamily="34" charset="-122"/>
                          <a:cs typeface="+mn-lt" pitchFamily="34" charset="-120"/>
                        </a:rPr>
                        <a:t>0.37 ± 0.16</a:t>
                      </a:r>
                      <a:endParaRPr lang="en-US" sz="1200" dirty="0">
                        <a:latin typeface="+mn-lt" charset="0"/>
                        <a:ea typeface="+mn-lt" charset="0"/>
                        <a:cs typeface="+mn-lt" charset="0"/>
                      </a:endParaRPr>
                    </a:p>
                  </a:txBody>
                  <a:tcPr marL="45720" marR="45720" marT="45720" marB="45720" anchor="t">
                    <a:lnL w="6350" cap="flat" cmpd="sng" algn="ctr">
                      <a:solidFill>
                        <a:srgbClr val="D9E0E8"/>
                      </a:solidFill>
                      <a:prstDash val="solid"/>
                      <a:round/>
                      <a:headEnd type="none" w="med" len="med"/>
                      <a:tailEnd type="none" w="med" len="med"/>
                    </a:lnL>
                    <a:lnR w="6350" cap="flat" cmpd="sng" algn="ctr">
                      <a:solidFill>
                        <a:srgbClr val="D9E0E8"/>
                      </a:solidFill>
                      <a:prstDash val="solid"/>
                      <a:round/>
                      <a:headEnd type="none" w="med" len="med"/>
                      <a:tailEnd type="none" w="med" len="med"/>
                    </a:lnR>
                    <a:lnT w="6350" cap="flat" cmpd="sng" algn="ctr">
                      <a:solidFill>
                        <a:srgbClr val="D9E0E8"/>
                      </a:solidFill>
                      <a:prstDash val="solid"/>
                      <a:round/>
                      <a:headEnd type="none" w="med" len="med"/>
                      <a:tailEnd type="none" w="med" len="med"/>
                    </a:lnT>
                    <a:lnB w="6350" cap="flat" cmpd="sng" algn="ctr">
                      <a:solidFill>
                        <a:srgbClr val="D9E0E8"/>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latin typeface="+mn-lt" pitchFamily="34" charset="0"/>
                          <a:ea typeface="+mn-lt" pitchFamily="34" charset="-122"/>
                          <a:cs typeface="+mn-lt" pitchFamily="34" charset="-120"/>
                        </a:rPr>
                        <a:t>.765</a:t>
                      </a:r>
                      <a:endParaRPr lang="en-US" sz="1200" dirty="0">
                        <a:latin typeface="+mn-lt" charset="0"/>
                        <a:ea typeface="+mn-lt" charset="0"/>
                        <a:cs typeface="+mn-lt" charset="0"/>
                      </a:endParaRPr>
                    </a:p>
                  </a:txBody>
                  <a:tcPr marL="45720" marR="45720" marT="45720" marB="45720" anchor="t">
                    <a:lnL w="6350" cap="flat" cmpd="sng" algn="ctr">
                      <a:solidFill>
                        <a:srgbClr val="D9E0E8"/>
                      </a:solidFill>
                      <a:prstDash val="solid"/>
                      <a:round/>
                      <a:headEnd type="none" w="med" len="med"/>
                      <a:tailEnd type="none" w="med" len="med"/>
                    </a:lnL>
                    <a:lnR w="6350" cap="flat" cmpd="sng" algn="ctr">
                      <a:solidFill>
                        <a:srgbClr val="D9E0E8"/>
                      </a:solidFill>
                      <a:prstDash val="solid"/>
                      <a:round/>
                      <a:headEnd type="none" w="med" len="med"/>
                      <a:tailEnd type="none" w="med" len="med"/>
                    </a:lnR>
                    <a:lnT w="6350" cap="flat" cmpd="sng" algn="ctr">
                      <a:solidFill>
                        <a:srgbClr val="D9E0E8"/>
                      </a:solidFill>
                      <a:prstDash val="solid"/>
                      <a:round/>
                      <a:headEnd type="none" w="med" len="med"/>
                      <a:tailEnd type="none" w="med" len="med"/>
                    </a:lnT>
                    <a:lnB w="6350" cap="flat" cmpd="sng" algn="ctr">
                      <a:solidFill>
                        <a:srgbClr val="D9E0E8"/>
                      </a:solidFill>
                      <a:prstDash val="solid"/>
                      <a:round/>
                      <a:headEnd type="none" w="med" len="med"/>
                      <a:tailEnd type="none" w="med" len="med"/>
                    </a:lnB>
                    <a:solidFill>
                      <a:schemeClr val="bg1"/>
                    </a:solidFill>
                  </a:tcPr>
                </a:tc>
              </a:tr>
              <a:tr h="0">
                <a:tc>
                  <a:txBody>
                    <a:bodyPr/>
                    <a:lstStyle/>
                    <a:p>
                      <a:pPr indent="0" marL="0">
                        <a:buNone/>
                      </a:pPr>
                      <a:r>
                        <a:rPr lang="en-US" sz="1200" dirty="0">
                          <a:solidFill>
                            <a:schemeClr val="tx1"/>
                          </a:solidFill>
                          <a:latin typeface="+mn-lt" pitchFamily="34" charset="0"/>
                          <a:ea typeface="+mn-lt" pitchFamily="34" charset="-122"/>
                          <a:cs typeface="+mn-lt" pitchFamily="34" charset="-120"/>
                        </a:rPr>
                        <a:t>Symphysis, inner cortex</a:t>
                      </a:r>
                      <a:endParaRPr lang="en-US" sz="1200" dirty="0">
                        <a:latin typeface="+mn-lt" charset="0"/>
                        <a:ea typeface="+mn-lt" charset="0"/>
                        <a:cs typeface="+mn-lt" charset="0"/>
                      </a:endParaRPr>
                    </a:p>
                  </a:txBody>
                  <a:tcPr marL="45720" marR="45720" marT="45720" marB="45720" anchor="t">
                    <a:lnL w="6350" cap="flat" cmpd="sng" algn="ctr">
                      <a:solidFill>
                        <a:srgbClr val="D9E0E8"/>
                      </a:solidFill>
                      <a:prstDash val="solid"/>
                      <a:round/>
                      <a:headEnd type="none" w="med" len="med"/>
                      <a:tailEnd type="none" w="med" len="med"/>
                    </a:lnL>
                    <a:lnR w="6350" cap="flat" cmpd="sng" algn="ctr">
                      <a:solidFill>
                        <a:srgbClr val="D9E0E8"/>
                      </a:solidFill>
                      <a:prstDash val="solid"/>
                      <a:round/>
                      <a:headEnd type="none" w="med" len="med"/>
                      <a:tailEnd type="none" w="med" len="med"/>
                    </a:lnR>
                    <a:lnT w="6350" cap="flat" cmpd="sng" algn="ctr">
                      <a:solidFill>
                        <a:srgbClr val="D9E0E8"/>
                      </a:solidFill>
                      <a:prstDash val="solid"/>
                      <a:round/>
                      <a:headEnd type="none" w="med" len="med"/>
                      <a:tailEnd type="none" w="med" len="med"/>
                    </a:lnT>
                    <a:lnB w="6350" cap="flat" cmpd="sng" algn="ctr">
                      <a:solidFill>
                        <a:srgbClr val="D9E0E8"/>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latin typeface="+mn-lt" pitchFamily="34" charset="0"/>
                          <a:ea typeface="+mn-lt" pitchFamily="34" charset="-122"/>
                          <a:cs typeface="+mn-lt" pitchFamily="34" charset="-120"/>
                        </a:rPr>
                        <a:t>0.40 ± 0.14 (abstract ± 0.15)</a:t>
                      </a:r>
                      <a:endParaRPr lang="en-US" sz="1200" dirty="0">
                        <a:latin typeface="+mn-lt" charset="0"/>
                        <a:ea typeface="+mn-lt" charset="0"/>
                        <a:cs typeface="+mn-lt" charset="0"/>
                      </a:endParaRPr>
                    </a:p>
                  </a:txBody>
                  <a:tcPr marL="45720" marR="45720" marT="45720" marB="45720" anchor="t">
                    <a:lnL w="6350" cap="flat" cmpd="sng" algn="ctr">
                      <a:solidFill>
                        <a:srgbClr val="D9E0E8"/>
                      </a:solidFill>
                      <a:prstDash val="solid"/>
                      <a:round/>
                      <a:headEnd type="none" w="med" len="med"/>
                      <a:tailEnd type="none" w="med" len="med"/>
                    </a:lnL>
                    <a:lnR w="6350" cap="flat" cmpd="sng" algn="ctr">
                      <a:solidFill>
                        <a:srgbClr val="D9E0E8"/>
                      </a:solidFill>
                      <a:prstDash val="solid"/>
                      <a:round/>
                      <a:headEnd type="none" w="med" len="med"/>
                      <a:tailEnd type="none" w="med" len="med"/>
                    </a:lnR>
                    <a:lnT w="6350" cap="flat" cmpd="sng" algn="ctr">
                      <a:solidFill>
                        <a:srgbClr val="D9E0E8"/>
                      </a:solidFill>
                      <a:prstDash val="solid"/>
                      <a:round/>
                      <a:headEnd type="none" w="med" len="med"/>
                      <a:tailEnd type="none" w="med" len="med"/>
                    </a:lnT>
                    <a:lnB w="6350" cap="flat" cmpd="sng" algn="ctr">
                      <a:solidFill>
                        <a:srgbClr val="D9E0E8"/>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latin typeface="+mn-lt" pitchFamily="34" charset="0"/>
                          <a:ea typeface="+mn-lt" pitchFamily="34" charset="-122"/>
                          <a:cs typeface="+mn-lt" pitchFamily="34" charset="-120"/>
                        </a:rPr>
                        <a:t>.698</a:t>
                      </a:r>
                      <a:endParaRPr lang="en-US" sz="1200" dirty="0">
                        <a:latin typeface="+mn-lt" charset="0"/>
                        <a:ea typeface="+mn-lt" charset="0"/>
                        <a:cs typeface="+mn-lt" charset="0"/>
                      </a:endParaRPr>
                    </a:p>
                  </a:txBody>
                  <a:tcPr marL="45720" marR="45720" marT="45720" marB="45720" anchor="t">
                    <a:lnL w="6350" cap="flat" cmpd="sng" algn="ctr">
                      <a:solidFill>
                        <a:srgbClr val="D9E0E8"/>
                      </a:solidFill>
                      <a:prstDash val="solid"/>
                      <a:round/>
                      <a:headEnd type="none" w="med" len="med"/>
                      <a:tailEnd type="none" w="med" len="med"/>
                    </a:lnL>
                    <a:lnR w="6350" cap="flat" cmpd="sng" algn="ctr">
                      <a:solidFill>
                        <a:srgbClr val="D9E0E8"/>
                      </a:solidFill>
                      <a:prstDash val="solid"/>
                      <a:round/>
                      <a:headEnd type="none" w="med" len="med"/>
                      <a:tailEnd type="none" w="med" len="med"/>
                    </a:lnR>
                    <a:lnT w="6350" cap="flat" cmpd="sng" algn="ctr">
                      <a:solidFill>
                        <a:srgbClr val="D9E0E8"/>
                      </a:solidFill>
                      <a:prstDash val="solid"/>
                      <a:round/>
                      <a:headEnd type="none" w="med" len="med"/>
                      <a:tailEnd type="none" w="med" len="med"/>
                    </a:lnT>
                    <a:lnB w="6350" cap="flat" cmpd="sng" algn="ctr">
                      <a:solidFill>
                        <a:srgbClr val="D9E0E8"/>
                      </a:solidFill>
                      <a:prstDash val="solid"/>
                      <a:round/>
                      <a:headEnd type="none" w="med" len="med"/>
                      <a:tailEnd type="none" w="med" len="med"/>
                    </a:lnB>
                    <a:solidFill>
                      <a:schemeClr val="bg2"/>
                    </a:solidFill>
                  </a:tcPr>
                </a:tc>
              </a:tr>
              <a:tr h="0">
                <a:tc>
                  <a:txBody>
                    <a:bodyPr/>
                    <a:lstStyle/>
                    <a:p>
                      <a:pPr indent="0" marL="0">
                        <a:buNone/>
                      </a:pPr>
                      <a:r>
                        <a:rPr lang="en-US" sz="1200" dirty="0">
                          <a:solidFill>
                            <a:schemeClr val="tx1"/>
                          </a:solidFill>
                          <a:latin typeface="+mn-lt" pitchFamily="34" charset="0"/>
                          <a:ea typeface="+mn-lt" pitchFamily="34" charset="-122"/>
                          <a:cs typeface="+mn-lt" pitchFamily="34" charset="-120"/>
                        </a:rPr>
                        <a:t>Third-molar crypt</a:t>
                      </a:r>
                      <a:endParaRPr lang="en-US" sz="1200" dirty="0">
                        <a:latin typeface="+mn-lt" charset="0"/>
                        <a:ea typeface="+mn-lt" charset="0"/>
                        <a:cs typeface="+mn-lt" charset="0"/>
                      </a:endParaRPr>
                    </a:p>
                  </a:txBody>
                  <a:tcPr marL="45720" marR="45720" marT="45720" marB="45720" anchor="t">
                    <a:lnL w="6350" cap="flat" cmpd="sng" algn="ctr">
                      <a:solidFill>
                        <a:srgbClr val="D9E0E8"/>
                      </a:solidFill>
                      <a:prstDash val="solid"/>
                      <a:round/>
                      <a:headEnd type="none" w="med" len="med"/>
                      <a:tailEnd type="none" w="med" len="med"/>
                    </a:lnL>
                    <a:lnR w="6350" cap="flat" cmpd="sng" algn="ctr">
                      <a:solidFill>
                        <a:srgbClr val="D9E0E8"/>
                      </a:solidFill>
                      <a:prstDash val="solid"/>
                      <a:round/>
                      <a:headEnd type="none" w="med" len="med"/>
                      <a:tailEnd type="none" w="med" len="med"/>
                    </a:lnR>
                    <a:lnT w="6350" cap="flat" cmpd="sng" algn="ctr">
                      <a:solidFill>
                        <a:srgbClr val="D9E0E8"/>
                      </a:solidFill>
                      <a:prstDash val="solid"/>
                      <a:round/>
                      <a:headEnd type="none" w="med" len="med"/>
                      <a:tailEnd type="none" w="med" len="med"/>
                    </a:lnT>
                    <a:lnB w="6350" cap="flat" cmpd="sng" algn="ctr">
                      <a:solidFill>
                        <a:srgbClr val="D9E0E8"/>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latin typeface="+mn-lt" pitchFamily="34" charset="0"/>
                          <a:ea typeface="+mn-lt" pitchFamily="34" charset="-122"/>
                          <a:cs typeface="+mn-lt" pitchFamily="34" charset="-120"/>
                        </a:rPr>
                        <a:t>1.94 ± 0.06</a:t>
                      </a:r>
                      <a:endParaRPr lang="en-US" sz="1200" dirty="0">
                        <a:latin typeface="+mn-lt" charset="0"/>
                        <a:ea typeface="+mn-lt" charset="0"/>
                        <a:cs typeface="+mn-lt" charset="0"/>
                      </a:endParaRPr>
                    </a:p>
                  </a:txBody>
                  <a:tcPr marL="45720" marR="45720" marT="45720" marB="45720" anchor="t">
                    <a:lnL w="6350" cap="flat" cmpd="sng" algn="ctr">
                      <a:solidFill>
                        <a:srgbClr val="D9E0E8"/>
                      </a:solidFill>
                      <a:prstDash val="solid"/>
                      <a:round/>
                      <a:headEnd type="none" w="med" len="med"/>
                      <a:tailEnd type="none" w="med" len="med"/>
                    </a:lnL>
                    <a:lnR w="6350" cap="flat" cmpd="sng" algn="ctr">
                      <a:solidFill>
                        <a:srgbClr val="D9E0E8"/>
                      </a:solidFill>
                      <a:prstDash val="solid"/>
                      <a:round/>
                      <a:headEnd type="none" w="med" len="med"/>
                      <a:tailEnd type="none" w="med" len="med"/>
                    </a:lnR>
                    <a:lnT w="6350" cap="flat" cmpd="sng" algn="ctr">
                      <a:solidFill>
                        <a:srgbClr val="D9E0E8"/>
                      </a:solidFill>
                      <a:prstDash val="solid"/>
                      <a:round/>
                      <a:headEnd type="none" w="med" len="med"/>
                      <a:tailEnd type="none" w="med" len="med"/>
                    </a:lnT>
                    <a:lnB w="6350" cap="flat" cmpd="sng" algn="ctr">
                      <a:solidFill>
                        <a:srgbClr val="D9E0E8"/>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latin typeface="+mn-lt" pitchFamily="34" charset="0"/>
                          <a:ea typeface="+mn-lt" pitchFamily="34" charset="-122"/>
                          <a:cs typeface="+mn-lt" pitchFamily="34" charset="-120"/>
                        </a:rPr>
                        <a:t>.0025</a:t>
                      </a:r>
                      <a:endParaRPr lang="en-US" sz="1200" dirty="0">
                        <a:latin typeface="+mn-lt" charset="0"/>
                        <a:ea typeface="+mn-lt" charset="0"/>
                        <a:cs typeface="+mn-lt" charset="0"/>
                      </a:endParaRPr>
                    </a:p>
                  </a:txBody>
                  <a:tcPr marL="45720" marR="45720" marT="45720" marB="45720" anchor="t">
                    <a:lnL w="6350" cap="flat" cmpd="sng" algn="ctr">
                      <a:solidFill>
                        <a:srgbClr val="D9E0E8"/>
                      </a:solidFill>
                      <a:prstDash val="solid"/>
                      <a:round/>
                      <a:headEnd type="none" w="med" len="med"/>
                      <a:tailEnd type="none" w="med" len="med"/>
                    </a:lnL>
                    <a:lnR w="6350" cap="flat" cmpd="sng" algn="ctr">
                      <a:solidFill>
                        <a:srgbClr val="D9E0E8"/>
                      </a:solidFill>
                      <a:prstDash val="solid"/>
                      <a:round/>
                      <a:headEnd type="none" w="med" len="med"/>
                      <a:tailEnd type="none" w="med" len="med"/>
                    </a:lnR>
                    <a:lnT w="6350" cap="flat" cmpd="sng" algn="ctr">
                      <a:solidFill>
                        <a:srgbClr val="D9E0E8"/>
                      </a:solidFill>
                      <a:prstDash val="solid"/>
                      <a:round/>
                      <a:headEnd type="none" w="med" len="med"/>
                      <a:tailEnd type="none" w="med" len="med"/>
                    </a:lnT>
                    <a:lnB w="6350" cap="flat" cmpd="sng" algn="ctr">
                      <a:solidFill>
                        <a:srgbClr val="D9E0E8"/>
                      </a:solidFill>
                      <a:prstDash val="solid"/>
                      <a:round/>
                      <a:headEnd type="none" w="med" len="med"/>
                      <a:tailEnd type="none" w="med" len="med"/>
                    </a:lnB>
                    <a:solidFill>
                      <a:schemeClr val="bg1"/>
                    </a:solidFill>
                  </a:tcPr>
                </a:tc>
              </a:tr>
            </a:tbl>
          </a:graphicData>
        </a:graphic>
      </p:graphicFrame>
      <p:sp>
        <p:nvSpPr>
          <p:cNvPr id="4" name="table-note"/>
          <p:cNvSpPr txBox="1"/>
          <p:nvPr/>
        </p:nvSpPr>
        <p:spPr>
          <a:xfrm>
            <a:off x="457200" y="2871216"/>
            <a:ext cx="8229600" cy="548640"/>
          </a:xfrm>
          <a:prstGeom prst="rect">
            <a:avLst/>
          </a:prstGeom>
          <a:noFill/>
          <a:ln/>
        </p:spPr>
        <p:txBody>
          <a:bodyPr wrap="square" lIns="0" tIns="0" rIns="0" bIns="0" rtlCol="0" anchor="t"/>
          <a:lstStyle/>
          <a:p>
            <a:pPr marL="177800" indent="-177800">
              <a:spcAft>
                <a:spcPts val="600"/>
              </a:spcAft>
              <a:buSzPct val="100000"/>
              <a:buChar char="•"/>
            </a:pPr>
            <a:r>
              <a:rPr lang="en-US" sz="1100" dirty="0">
                <a:solidFill>
                  <a:srgbClr val="000000"/>
                </a:solidFill>
              </a:rPr>
              <a:t>absolute mean surface error against the bone-plate registration (Table; Results)</a:t>
            </a:r>
            <a:endParaRPr lang="en-US" sz="1100" dirty="0"/>
          </a:p>
          <a:p>
            <a:pPr marL="177800" indent="-177800">
              <a:spcAft>
                <a:spcPts val="600"/>
              </a:spcAft>
              <a:buSzPct val="100000"/>
              <a:buChar char="•"/>
            </a:pPr>
            <a:r>
              <a:rPr lang="en-US" sz="1100" dirty="0">
                <a:solidFill>
                  <a:srgbClr val="000000"/>
                </a:solidFill>
              </a:rPr>
              <a:t>Interobserver error, chin + symphysis: 0.12 ± 0.11 mm (abstract misprints ± 1.1); voxel 0.3 mm.</a:t>
            </a:r>
            <a:endParaRPr lang="en-US" sz="1100" dirty="0"/>
          </a:p>
        </p:txBody>
      </p:sp>
      <p:sp>
        <p:nvSpPr>
          <p:cNvPr id="25" name="Slide Number Placeholder 0"/>
          <p:cNvSpPr>
            <a:spLocks noGrp="1"/>
          </p:cNvSpPr>
          <p:nvPr>
            <p:ph type="sldNum" sz="quarter" idx="4294967295"/>
          </p:nvPr>
        </p:nvSpPr>
        <p:spPr>
          <a:xfrm>
            <a:off x="8321040" y="4754880"/>
            <a:ext cx="36576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l"/>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731520"/>
          </a:xfrm>
          <a:prstGeom prst="rect">
            <a:avLst/>
          </a:prstGeom>
          <a:noFill/>
          <a:ln/>
        </p:spPr>
        <p:txBody>
          <a:bodyPr wrap="square" lIns="0" tIns="0" rIns="0" bIns="0" rtlCol="0" anchor="ctr"/>
          <a:lstStyle/>
          <a:p>
            <a:pPr algn="l" indent="0" marL="0">
              <a:buNone/>
            </a:pPr>
            <a:r>
              <a:rPr lang="en-US" sz="2800" b="1" dirty="0">
                <a:solidFill>
                  <a:schemeClr val="tx2"/>
                </a:solidFill>
              </a:rPr>
              <a:t>What the three agree on</a:t>
            </a:r>
            <a:endParaRPr lang="en-US" sz="2800" dirty="0"/>
          </a:p>
        </p:txBody>
      </p:sp>
      <p:sp>
        <p:nvSpPr>
          <p:cNvPr id="3" name="left-text"/>
          <p:cNvSpPr txBox="1"/>
          <p:nvPr/>
        </p:nvSpPr>
        <p:spPr>
          <a:xfrm>
            <a:off x="457200" y="1188720"/>
            <a:ext cx="3566160" cy="3383280"/>
          </a:xfrm>
          <a:prstGeom prst="rect">
            <a:avLst/>
          </a:prstGeom>
          <a:noFill/>
          <a:ln/>
        </p:spPr>
        <p:txBody>
          <a:bodyPr wrap="square" lIns="0" tIns="0" rIns="0" bIns="0" rtlCol="0" anchor="t"/>
          <a:lstStyle/>
          <a:p>
            <a:pPr marL="177800" indent="-177800">
              <a:spcAft>
                <a:spcPts val="600"/>
              </a:spcAft>
              <a:buSzPct val="100000"/>
              <a:buChar char="•"/>
            </a:pPr>
            <a:r>
              <a:rPr lang="en-US" sz="1200" dirty="0">
                <a:solidFill>
                  <a:srgbClr val="000000"/>
                </a:solidFill>
              </a:rPr>
              <a:t>Implants or plates are the truth; every anatomic method is a proxy with measurable bias.</a:t>
            </a:r>
            <a:endParaRPr lang="en-US" sz="1200" dirty="0"/>
          </a:p>
          <a:p>
            <a:pPr marL="177800" indent="-177800">
              <a:spcAft>
                <a:spcPts val="600"/>
              </a:spcAft>
              <a:buSzPct val="100000"/>
              <a:buChar char="•"/>
            </a:pPr>
            <a:r>
              <a:rPr lang="en-US" sz="1200" dirty="0">
                <a:solidFill>
                  <a:srgbClr val="000000"/>
                </a:solidFill>
              </a:rPr>
              <a:t>ANS, PNS, PTM, A point never registration points (Doppel 1.3–2.4 mm; Nielsen under-read 1.1–2.2 mm).</a:t>
            </a:r>
            <a:endParaRPr lang="en-US" sz="1200" dirty="0"/>
          </a:p>
          <a:p>
            <a:pPr marL="177800" indent="-177800">
              <a:spcAft>
                <a:spcPts val="600"/>
              </a:spcAft>
              <a:buSzPct val="100000"/>
              <a:buChar char="•"/>
            </a:pPr>
            <a:r>
              <a:rPr lang="en-US" sz="1200" dirty="0">
                <a:solidFill>
                  <a:srgbClr val="000000"/>
                </a:solidFill>
              </a:rPr>
              <a:t>Anterior zygomatic surface is the maxillary reference (Nielsen's method; Doppel 0.95 ± 0.57 mm).</a:t>
            </a:r>
            <a:endParaRPr lang="en-US" sz="1200" dirty="0"/>
          </a:p>
          <a:p>
            <a:pPr marL="177800" indent="-177800">
              <a:spcAft>
                <a:spcPts val="600"/>
              </a:spcAft>
              <a:buSzPct val="100000"/>
              <a:buChar char="•"/>
            </a:pPr>
            <a:r>
              <a:rPr lang="en-US" sz="1200" dirty="0">
                <a:solidFill>
                  <a:srgbClr val="000000"/>
                </a:solidFill>
              </a:rPr>
              <a:t>Same ratio: Björk &amp; Skieller 3 : 2, Doppel 1.5 : 1, ABO 3/5 : 2/5 (literature, UNVERIFIED).</a:t>
            </a:r>
            <a:endParaRPr lang="en-US" sz="1200" dirty="0"/>
          </a:p>
          <a:p>
            <a:pPr marL="177800" indent="-177800">
              <a:spcAft>
                <a:spcPts val="600"/>
              </a:spcAft>
              <a:buSzPct val="100000"/>
              <a:buChar char="•"/>
            </a:pPr>
            <a:r>
              <a:rPr lang="en-US" sz="1200" dirty="0">
                <a:solidFill>
                  <a:srgbClr val="000000"/>
                </a:solidFill>
              </a:rPr>
              <a:t>Scatter comes from locating landmarks (Nielsen, Discussion); Björk's chin and symphysis survive 3D (Nguyen).</a:t>
            </a:r>
            <a:endParaRPr lang="en-US" sz="1200" dirty="0"/>
          </a:p>
        </p:txBody>
      </p:sp>
      <p:pic>
        <p:nvPicPr>
          <p:cNvPr id="4" name="figure" descr="H:\DRIVE\SBO\R2 Articles\topics\01-superimposition-methods\figures\method-errors.png">    </p:cNvPr>
          <p:cNvPicPr>
            <a:picLocks noChangeAspect="1"/>
          </p:cNvPicPr>
          <p:nvPr/>
        </p:nvPicPr>
        <p:blipFill>
          <a:blip r:embed="rId1"/>
          <a:stretch>
            <a:fillRect/>
          </a:stretch>
        </p:blipFill>
        <p:spPr>
          <a:xfrm>
            <a:off x="4206240" y="2065147"/>
            <a:ext cx="4480560" cy="1630426"/>
          </a:xfrm>
          <a:prstGeom prst="rect">
            <a:avLst/>
          </a:prstGeom>
        </p:spPr>
      </p:pic>
      <p:sp>
        <p:nvSpPr>
          <p:cNvPr id="25" name="Slide Number Placeholder 0"/>
          <p:cNvSpPr>
            <a:spLocks noGrp="1"/>
          </p:cNvSpPr>
          <p:nvPr>
            <p:ph type="sldNum" sz="quarter" idx="4294967295"/>
          </p:nvPr>
        </p:nvSpPr>
        <p:spPr>
          <a:xfrm>
            <a:off x="8321040" y="4754880"/>
            <a:ext cx="36576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l"/>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731520"/>
          </a:xfrm>
          <a:prstGeom prst="rect">
            <a:avLst/>
          </a:prstGeom>
          <a:noFill/>
          <a:ln/>
        </p:spPr>
        <p:txBody>
          <a:bodyPr wrap="square" lIns="0" tIns="0" rIns="0" bIns="0" rtlCol="0" anchor="ctr"/>
          <a:lstStyle/>
          <a:p>
            <a:pPr algn="l" indent="0" marL="0">
              <a:buNone/>
            </a:pPr>
            <a:r>
              <a:rPr lang="en-US" sz="2800" b="1" dirty="0">
                <a:solidFill>
                  <a:schemeClr val="tx2"/>
                </a:solidFill>
              </a:rPr>
              <a:t>Where they differ</a:t>
            </a:r>
            <a:endParaRPr lang="en-US" sz="2800" dirty="0"/>
          </a:p>
        </p:txBody>
      </p:sp>
      <p:graphicFrame>
        <p:nvGraphicFramePr>
          <p:cNvPr id="12" name="table"/>
          <p:cNvGraphicFramePr>
            <a:graphicFrameLocks noGrp="1"/>
          </p:cNvGraphicFramePr>
          <p:nvPr>
            <p:extLst>
              <p:ext uri="{D42A27DB-BD31-4B8C-83A1-F6EECF244321}">
                <p14:modId xmlns:p14="http://schemas.microsoft.com/office/powerpoint/2010/main" val="1579011935"/>
              </p:ext>
            </p:extLst>
          </p:nvPr>
        </p:nvGraphicFramePr>
        <p:xfrm>
          <a:off x="457200" y="1188720"/>
          <a:ext cx="8229600" cy="914400"/>
        </p:xfrm>
        <a:graphic>
          <a:graphicData uri="http://schemas.openxmlformats.org/drawingml/2006/table">
            <a:tbl>
              <a:tblPr/>
              <a:tblGrid>
                <a:gridCol w="2139696"/>
                <a:gridCol w="2029968"/>
                <a:gridCol w="2029968"/>
                <a:gridCol w="2029968"/>
              </a:tblGrid>
              <a:tr h="0">
                <a:tc>
                  <a:txBody>
                    <a:bodyPr/>
                    <a:lstStyle/>
                    <a:p>
                      <a:pPr indent="0" marL="0">
                        <a:buNone/>
                      </a:pPr>
                      <a:r>
                        <a:rPr lang="en-US" sz="1100" b="1" dirty="0">
                          <a:solidFill>
                            <a:schemeClr val="bg1"/>
                          </a:solidFill>
                          <a:latin typeface="+mn-lt" pitchFamily="34" charset="0"/>
                          <a:ea typeface="+mn-lt" pitchFamily="34" charset="-122"/>
                          <a:cs typeface="+mn-lt" pitchFamily="34" charset="-120"/>
                        </a:rPr>
                        <a:t>Issue</a:t>
                      </a:r>
                      <a:endParaRPr lang="en-US" sz="1100" dirty="0">
                        <a:latin typeface="+mn-lt" charset="0"/>
                        <a:ea typeface="+mn-lt" charset="0"/>
                        <a:cs typeface="+mn-lt" charset="0"/>
                      </a:endParaRPr>
                    </a:p>
                  </a:txBody>
                  <a:tcPr marL="45720" marR="45720" marT="45720" marB="45720" anchor="t">
                    <a:lnL w="6350" cap="flat" cmpd="sng" algn="ctr">
                      <a:solidFill>
                        <a:srgbClr val="D9E0E8"/>
                      </a:solidFill>
                      <a:prstDash val="solid"/>
                      <a:round/>
                      <a:headEnd type="none" w="med" len="med"/>
                      <a:tailEnd type="none" w="med" len="med"/>
                    </a:lnL>
                    <a:lnR w="6350" cap="flat" cmpd="sng" algn="ctr">
                      <a:solidFill>
                        <a:srgbClr val="D9E0E8"/>
                      </a:solidFill>
                      <a:prstDash val="solid"/>
                      <a:round/>
                      <a:headEnd type="none" w="med" len="med"/>
                      <a:tailEnd type="none" w="med" len="med"/>
                    </a:lnR>
                    <a:lnT w="6350" cap="flat" cmpd="sng" algn="ctr">
                      <a:solidFill>
                        <a:srgbClr val="D9E0E8"/>
                      </a:solidFill>
                      <a:prstDash val="solid"/>
                      <a:round/>
                      <a:headEnd type="none" w="med" len="med"/>
                      <a:tailEnd type="none" w="med" len="med"/>
                    </a:lnT>
                    <a:lnB w="6350" cap="flat" cmpd="sng" algn="ctr">
                      <a:solidFill>
                        <a:srgbClr val="D9E0E8"/>
                      </a:solidFill>
                      <a:prstDash val="solid"/>
                      <a:round/>
                      <a:headEnd type="none" w="med" len="med"/>
                      <a:tailEnd type="none" w="med" len="med"/>
                    </a:lnB>
                    <a:solidFill>
                      <a:schemeClr val="tx2"/>
                    </a:solidFill>
                  </a:tcPr>
                </a:tc>
                <a:tc>
                  <a:txBody>
                    <a:bodyPr/>
                    <a:lstStyle/>
                    <a:p>
                      <a:pPr indent="0" marL="0">
                        <a:buNone/>
                      </a:pPr>
                      <a:r>
                        <a:rPr lang="en-US" sz="1100" b="1" dirty="0">
                          <a:solidFill>
                            <a:schemeClr val="bg1"/>
                          </a:solidFill>
                          <a:latin typeface="+mn-lt" pitchFamily="34" charset="0"/>
                          <a:ea typeface="+mn-lt" pitchFamily="34" charset="-122"/>
                          <a:cs typeface="+mn-lt" pitchFamily="34" charset="-120"/>
                        </a:rPr>
                        <a:t>Nielsen 1989</a:t>
                      </a:r>
                      <a:endParaRPr lang="en-US" sz="1100" dirty="0">
                        <a:latin typeface="+mn-lt" charset="0"/>
                        <a:ea typeface="+mn-lt" charset="0"/>
                        <a:cs typeface="+mn-lt" charset="0"/>
                      </a:endParaRPr>
                    </a:p>
                  </a:txBody>
                  <a:tcPr marL="45720" marR="45720" marT="45720" marB="45720" anchor="t">
                    <a:lnL w="6350" cap="flat" cmpd="sng" algn="ctr">
                      <a:solidFill>
                        <a:srgbClr val="D9E0E8"/>
                      </a:solidFill>
                      <a:prstDash val="solid"/>
                      <a:round/>
                      <a:headEnd type="none" w="med" len="med"/>
                      <a:tailEnd type="none" w="med" len="med"/>
                    </a:lnL>
                    <a:lnR w="6350" cap="flat" cmpd="sng" algn="ctr">
                      <a:solidFill>
                        <a:srgbClr val="D9E0E8"/>
                      </a:solidFill>
                      <a:prstDash val="solid"/>
                      <a:round/>
                      <a:headEnd type="none" w="med" len="med"/>
                      <a:tailEnd type="none" w="med" len="med"/>
                    </a:lnR>
                    <a:lnT w="6350" cap="flat" cmpd="sng" algn="ctr">
                      <a:solidFill>
                        <a:srgbClr val="D9E0E8"/>
                      </a:solidFill>
                      <a:prstDash val="solid"/>
                      <a:round/>
                      <a:headEnd type="none" w="med" len="med"/>
                      <a:tailEnd type="none" w="med" len="med"/>
                    </a:lnT>
                    <a:lnB w="6350" cap="flat" cmpd="sng" algn="ctr">
                      <a:solidFill>
                        <a:srgbClr val="D9E0E8"/>
                      </a:solidFill>
                      <a:prstDash val="solid"/>
                      <a:round/>
                      <a:headEnd type="none" w="med" len="med"/>
                      <a:tailEnd type="none" w="med" len="med"/>
                    </a:lnB>
                    <a:solidFill>
                      <a:schemeClr val="tx2"/>
                    </a:solidFill>
                  </a:tcPr>
                </a:tc>
                <a:tc>
                  <a:txBody>
                    <a:bodyPr/>
                    <a:lstStyle/>
                    <a:p>
                      <a:pPr indent="0" marL="0">
                        <a:buNone/>
                      </a:pPr>
                      <a:r>
                        <a:rPr lang="en-US" sz="1100" b="1" dirty="0">
                          <a:solidFill>
                            <a:schemeClr val="bg1"/>
                          </a:solidFill>
                          <a:latin typeface="+mn-lt" pitchFamily="34" charset="0"/>
                          <a:ea typeface="+mn-lt" pitchFamily="34" charset="-122"/>
                          <a:cs typeface="+mn-lt" pitchFamily="34" charset="-120"/>
                        </a:rPr>
                        <a:t>Doppel 1994</a:t>
                      </a:r>
                      <a:endParaRPr lang="en-US" sz="1100" dirty="0">
                        <a:latin typeface="+mn-lt" charset="0"/>
                        <a:ea typeface="+mn-lt" charset="0"/>
                        <a:cs typeface="+mn-lt" charset="0"/>
                      </a:endParaRPr>
                    </a:p>
                  </a:txBody>
                  <a:tcPr marL="45720" marR="45720" marT="45720" marB="45720" anchor="t">
                    <a:lnL w="6350" cap="flat" cmpd="sng" algn="ctr">
                      <a:solidFill>
                        <a:srgbClr val="D9E0E8"/>
                      </a:solidFill>
                      <a:prstDash val="solid"/>
                      <a:round/>
                      <a:headEnd type="none" w="med" len="med"/>
                      <a:tailEnd type="none" w="med" len="med"/>
                    </a:lnL>
                    <a:lnR w="6350" cap="flat" cmpd="sng" algn="ctr">
                      <a:solidFill>
                        <a:srgbClr val="D9E0E8"/>
                      </a:solidFill>
                      <a:prstDash val="solid"/>
                      <a:round/>
                      <a:headEnd type="none" w="med" len="med"/>
                      <a:tailEnd type="none" w="med" len="med"/>
                    </a:lnR>
                    <a:lnT w="6350" cap="flat" cmpd="sng" algn="ctr">
                      <a:solidFill>
                        <a:srgbClr val="D9E0E8"/>
                      </a:solidFill>
                      <a:prstDash val="solid"/>
                      <a:round/>
                      <a:headEnd type="none" w="med" len="med"/>
                      <a:tailEnd type="none" w="med" len="med"/>
                    </a:lnT>
                    <a:lnB w="6350" cap="flat" cmpd="sng" algn="ctr">
                      <a:solidFill>
                        <a:srgbClr val="D9E0E8"/>
                      </a:solidFill>
                      <a:prstDash val="solid"/>
                      <a:round/>
                      <a:headEnd type="none" w="med" len="med"/>
                      <a:tailEnd type="none" w="med" len="med"/>
                    </a:lnB>
                    <a:solidFill>
                      <a:schemeClr val="tx2"/>
                    </a:solidFill>
                  </a:tcPr>
                </a:tc>
                <a:tc>
                  <a:txBody>
                    <a:bodyPr/>
                    <a:lstStyle/>
                    <a:p>
                      <a:pPr indent="0" marL="0">
                        <a:buNone/>
                      </a:pPr>
                      <a:r>
                        <a:rPr lang="en-US" sz="1100" b="1" dirty="0">
                          <a:solidFill>
                            <a:schemeClr val="bg1"/>
                          </a:solidFill>
                          <a:latin typeface="+mn-lt" pitchFamily="34" charset="0"/>
                          <a:ea typeface="+mn-lt" pitchFamily="34" charset="-122"/>
                          <a:cs typeface="+mn-lt" pitchFamily="34" charset="-120"/>
                        </a:rPr>
                        <a:t>Nguyen 2018</a:t>
                      </a:r>
                      <a:endParaRPr lang="en-US" sz="1100" dirty="0">
                        <a:latin typeface="+mn-lt" charset="0"/>
                        <a:ea typeface="+mn-lt" charset="0"/>
                        <a:cs typeface="+mn-lt" charset="0"/>
                      </a:endParaRPr>
                    </a:p>
                  </a:txBody>
                  <a:tcPr marL="45720" marR="45720" marT="45720" marB="45720" anchor="t">
                    <a:lnL w="6350" cap="flat" cmpd="sng" algn="ctr">
                      <a:solidFill>
                        <a:srgbClr val="D9E0E8"/>
                      </a:solidFill>
                      <a:prstDash val="solid"/>
                      <a:round/>
                      <a:headEnd type="none" w="med" len="med"/>
                      <a:tailEnd type="none" w="med" len="med"/>
                    </a:lnL>
                    <a:lnR w="6350" cap="flat" cmpd="sng" algn="ctr">
                      <a:solidFill>
                        <a:srgbClr val="D9E0E8"/>
                      </a:solidFill>
                      <a:prstDash val="solid"/>
                      <a:round/>
                      <a:headEnd type="none" w="med" len="med"/>
                      <a:tailEnd type="none" w="med" len="med"/>
                    </a:lnR>
                    <a:lnT w="6350" cap="flat" cmpd="sng" algn="ctr">
                      <a:solidFill>
                        <a:srgbClr val="D9E0E8"/>
                      </a:solidFill>
                      <a:prstDash val="solid"/>
                      <a:round/>
                      <a:headEnd type="none" w="med" len="med"/>
                      <a:tailEnd type="none" w="med" len="med"/>
                    </a:lnT>
                    <a:lnB w="6350" cap="flat" cmpd="sng" algn="ctr">
                      <a:solidFill>
                        <a:srgbClr val="D9E0E8"/>
                      </a:solidFill>
                      <a:prstDash val="solid"/>
                      <a:round/>
                      <a:headEnd type="none" w="med" len="med"/>
                      <a:tailEnd type="none" w="med" len="med"/>
                    </a:lnB>
                    <a:solidFill>
                      <a:schemeClr val="tx2"/>
                    </a:solidFill>
                  </a:tcPr>
                </a:tc>
              </a:tr>
              <a:tr h="0">
                <a:tc>
                  <a:txBody>
                    <a:bodyPr/>
                    <a:lstStyle/>
                    <a:p>
                      <a:pPr indent="0" marL="0">
                        <a:buNone/>
                      </a:pPr>
                      <a:r>
                        <a:rPr lang="en-US" sz="1100" dirty="0">
                          <a:solidFill>
                            <a:schemeClr val="tx1"/>
                          </a:solidFill>
                          <a:latin typeface="+mn-lt" pitchFamily="34" charset="0"/>
                          <a:ea typeface="+mn-lt" pitchFamily="34" charset="-122"/>
                          <a:cs typeface="+mn-lt" pitchFamily="34" charset="-120"/>
                        </a:rPr>
                        <a:t>Anterior zygomatic surface</a:t>
                      </a:r>
                      <a:endParaRPr lang="en-US" sz="1100" dirty="0">
                        <a:latin typeface="+mn-lt" charset="0"/>
                        <a:ea typeface="+mn-lt" charset="0"/>
                        <a:cs typeface="+mn-lt" charset="0"/>
                      </a:endParaRPr>
                    </a:p>
                  </a:txBody>
                  <a:tcPr marL="45720" marR="45720" marT="45720" marB="45720" anchor="t">
                    <a:lnL w="6350" cap="flat" cmpd="sng" algn="ctr">
                      <a:solidFill>
                        <a:srgbClr val="D9E0E8"/>
                      </a:solidFill>
                      <a:prstDash val="solid"/>
                      <a:round/>
                      <a:headEnd type="none" w="med" len="med"/>
                      <a:tailEnd type="none" w="med" len="med"/>
                    </a:lnL>
                    <a:lnR w="6350" cap="flat" cmpd="sng" algn="ctr">
                      <a:solidFill>
                        <a:srgbClr val="D9E0E8"/>
                      </a:solidFill>
                      <a:prstDash val="solid"/>
                      <a:round/>
                      <a:headEnd type="none" w="med" len="med"/>
                      <a:tailEnd type="none" w="med" len="med"/>
                    </a:lnR>
                    <a:lnT w="6350" cap="flat" cmpd="sng" algn="ctr">
                      <a:solidFill>
                        <a:srgbClr val="D9E0E8"/>
                      </a:solidFill>
                      <a:prstDash val="solid"/>
                      <a:round/>
                      <a:headEnd type="none" w="med" len="med"/>
                      <a:tailEnd type="none" w="med" len="med"/>
                    </a:lnT>
                    <a:lnB w="6350" cap="flat" cmpd="sng" algn="ctr">
                      <a:solidFill>
                        <a:srgbClr val="D9E0E8"/>
                      </a:solidFill>
                      <a:prstDash val="solid"/>
                      <a:round/>
                      <a:headEnd type="none" w="med" len="med"/>
                      <a:tailEnd type="none" w="med" len="med"/>
                    </a:lnB>
                    <a:solidFill>
                      <a:schemeClr val="bg1"/>
                    </a:solidFill>
                  </a:tcPr>
                </a:tc>
                <a:tc>
                  <a:txBody>
                    <a:bodyPr/>
                    <a:lstStyle/>
                    <a:p>
                      <a:pPr indent="0" marL="0">
                        <a:buNone/>
                      </a:pPr>
                      <a:r>
                        <a:rPr lang="en-US" sz="1100" dirty="0">
                          <a:solidFill>
                            <a:schemeClr val="tx1"/>
                          </a:solidFill>
                          <a:latin typeface="+mn-lt" pitchFamily="34" charset="0"/>
                          <a:ea typeface="+mn-lt" pitchFamily="34" charset="-122"/>
                          <a:cs typeface="+mn-lt" pitchFamily="34" charset="-120"/>
                        </a:rPr>
                        <a:t>No resorptive remodelling seen (n = 18, Discussion)</a:t>
                      </a:r>
                      <a:endParaRPr lang="en-US" sz="1100" dirty="0">
                        <a:latin typeface="+mn-lt" charset="0"/>
                        <a:ea typeface="+mn-lt" charset="0"/>
                        <a:cs typeface="+mn-lt" charset="0"/>
                      </a:endParaRPr>
                    </a:p>
                  </a:txBody>
                  <a:tcPr marL="45720" marR="45720" marT="45720" marB="45720" anchor="t">
                    <a:lnL w="6350" cap="flat" cmpd="sng" algn="ctr">
                      <a:solidFill>
                        <a:srgbClr val="D9E0E8"/>
                      </a:solidFill>
                      <a:prstDash val="solid"/>
                      <a:round/>
                      <a:headEnd type="none" w="med" len="med"/>
                      <a:tailEnd type="none" w="med" len="med"/>
                    </a:lnL>
                    <a:lnR w="6350" cap="flat" cmpd="sng" algn="ctr">
                      <a:solidFill>
                        <a:srgbClr val="D9E0E8"/>
                      </a:solidFill>
                      <a:prstDash val="solid"/>
                      <a:round/>
                      <a:headEnd type="none" w="med" len="med"/>
                      <a:tailEnd type="none" w="med" len="med"/>
                    </a:lnR>
                    <a:lnT w="6350" cap="flat" cmpd="sng" algn="ctr">
                      <a:solidFill>
                        <a:srgbClr val="D9E0E8"/>
                      </a:solidFill>
                      <a:prstDash val="solid"/>
                      <a:round/>
                      <a:headEnd type="none" w="med" len="med"/>
                      <a:tailEnd type="none" w="med" len="med"/>
                    </a:lnT>
                    <a:lnB w="6350" cap="flat" cmpd="sng" algn="ctr">
                      <a:solidFill>
                        <a:srgbClr val="D9E0E8"/>
                      </a:solidFill>
                      <a:prstDash val="solid"/>
                      <a:round/>
                      <a:headEnd type="none" w="med" len="med"/>
                      <a:tailEnd type="none" w="med" len="med"/>
                    </a:lnB>
                    <a:solidFill>
                      <a:schemeClr val="bg1"/>
                    </a:solidFill>
                  </a:tcPr>
                </a:tc>
                <a:tc>
                  <a:txBody>
                    <a:bodyPr/>
                    <a:lstStyle/>
                    <a:p>
                      <a:pPr indent="0" marL="0">
                        <a:buNone/>
                      </a:pPr>
                      <a:r>
                        <a:rPr lang="en-US" sz="1100" dirty="0">
                          <a:solidFill>
                            <a:schemeClr val="tx1"/>
                          </a:solidFill>
                          <a:latin typeface="+mn-lt" pitchFamily="34" charset="0"/>
                          <a:ea typeface="+mn-lt" pitchFamily="34" charset="-122"/>
                          <a:cs typeface="+mn-lt" pitchFamily="34" charset="-120"/>
                        </a:rPr>
                        <a:t>Direction variable: 27.5 % anterior, 35 % posterior, 37.5 % none</a:t>
                      </a:r>
                      <a:endParaRPr lang="en-US" sz="1100" dirty="0">
                        <a:latin typeface="+mn-lt" charset="0"/>
                        <a:ea typeface="+mn-lt" charset="0"/>
                        <a:cs typeface="+mn-lt" charset="0"/>
                      </a:endParaRPr>
                    </a:p>
                  </a:txBody>
                  <a:tcPr marL="45720" marR="45720" marT="45720" marB="45720" anchor="t">
                    <a:lnL w="6350" cap="flat" cmpd="sng" algn="ctr">
                      <a:solidFill>
                        <a:srgbClr val="D9E0E8"/>
                      </a:solidFill>
                      <a:prstDash val="solid"/>
                      <a:round/>
                      <a:headEnd type="none" w="med" len="med"/>
                      <a:tailEnd type="none" w="med" len="med"/>
                    </a:lnL>
                    <a:lnR w="6350" cap="flat" cmpd="sng" algn="ctr">
                      <a:solidFill>
                        <a:srgbClr val="D9E0E8"/>
                      </a:solidFill>
                      <a:prstDash val="solid"/>
                      <a:round/>
                      <a:headEnd type="none" w="med" len="med"/>
                      <a:tailEnd type="none" w="med" len="med"/>
                    </a:lnR>
                    <a:lnT w="6350" cap="flat" cmpd="sng" algn="ctr">
                      <a:solidFill>
                        <a:srgbClr val="D9E0E8"/>
                      </a:solidFill>
                      <a:prstDash val="solid"/>
                      <a:round/>
                      <a:headEnd type="none" w="med" len="med"/>
                      <a:tailEnd type="none" w="med" len="med"/>
                    </a:lnT>
                    <a:lnB w="6350" cap="flat" cmpd="sng" algn="ctr">
                      <a:solidFill>
                        <a:srgbClr val="D9E0E8"/>
                      </a:solidFill>
                      <a:prstDash val="solid"/>
                      <a:round/>
                      <a:headEnd type="none" w="med" len="med"/>
                      <a:tailEnd type="none" w="med" len="med"/>
                    </a:lnB>
                    <a:solidFill>
                      <a:schemeClr val="bg1"/>
                    </a:solidFill>
                  </a:tcPr>
                </a:tc>
                <a:tc>
                  <a:txBody>
                    <a:bodyPr/>
                    <a:lstStyle/>
                    <a:p>
                      <a:pPr indent="0" marL="0">
                        <a:buNone/>
                      </a:pPr>
                      <a:r>
                        <a:rPr lang="en-US" sz="1100" dirty="0">
                          <a:solidFill>
                            <a:schemeClr val="tx1"/>
                          </a:solidFill>
                          <a:latin typeface="+mn-lt" pitchFamily="34" charset="0"/>
                          <a:ea typeface="+mn-lt" pitchFamily="34" charset="-122"/>
                          <a:cs typeface="+mn-lt" pitchFamily="34" charset="-120"/>
                        </a:rPr>
                        <a:t>—</a:t>
                      </a:r>
                      <a:endParaRPr lang="en-US" sz="1100" dirty="0">
                        <a:latin typeface="+mn-lt" charset="0"/>
                        <a:ea typeface="+mn-lt" charset="0"/>
                        <a:cs typeface="+mn-lt" charset="0"/>
                      </a:endParaRPr>
                    </a:p>
                  </a:txBody>
                  <a:tcPr marL="45720" marR="45720" marT="45720" marB="45720" anchor="t">
                    <a:lnL w="6350" cap="flat" cmpd="sng" algn="ctr">
                      <a:solidFill>
                        <a:srgbClr val="D9E0E8"/>
                      </a:solidFill>
                      <a:prstDash val="solid"/>
                      <a:round/>
                      <a:headEnd type="none" w="med" len="med"/>
                      <a:tailEnd type="none" w="med" len="med"/>
                    </a:lnL>
                    <a:lnR w="6350" cap="flat" cmpd="sng" algn="ctr">
                      <a:solidFill>
                        <a:srgbClr val="D9E0E8"/>
                      </a:solidFill>
                      <a:prstDash val="solid"/>
                      <a:round/>
                      <a:headEnd type="none" w="med" len="med"/>
                      <a:tailEnd type="none" w="med" len="med"/>
                    </a:lnR>
                    <a:lnT w="6350" cap="flat" cmpd="sng" algn="ctr">
                      <a:solidFill>
                        <a:srgbClr val="D9E0E8"/>
                      </a:solidFill>
                      <a:prstDash val="solid"/>
                      <a:round/>
                      <a:headEnd type="none" w="med" len="med"/>
                      <a:tailEnd type="none" w="med" len="med"/>
                    </a:lnT>
                    <a:lnB w="6350" cap="flat" cmpd="sng" algn="ctr">
                      <a:solidFill>
                        <a:srgbClr val="D9E0E8"/>
                      </a:solidFill>
                      <a:prstDash val="solid"/>
                      <a:round/>
                      <a:headEnd type="none" w="med" len="med"/>
                      <a:tailEnd type="none" w="med" len="med"/>
                    </a:lnB>
                    <a:solidFill>
                      <a:schemeClr val="bg1"/>
                    </a:solidFill>
                  </a:tcPr>
                </a:tc>
              </a:tr>
              <a:tr h="0">
                <a:tc>
                  <a:txBody>
                    <a:bodyPr/>
                    <a:lstStyle/>
                    <a:p>
                      <a:pPr indent="0" marL="0">
                        <a:buNone/>
                      </a:pPr>
                      <a:r>
                        <a:rPr lang="en-US" sz="1100" dirty="0">
                          <a:solidFill>
                            <a:schemeClr val="tx1"/>
                          </a:solidFill>
                          <a:latin typeface="+mn-lt" pitchFamily="34" charset="0"/>
                          <a:ea typeface="+mn-lt" pitchFamily="34" charset="-122"/>
                          <a:cs typeface="+mn-lt" pitchFamily="34" charset="-120"/>
                        </a:rPr>
                        <a:t>Vertical ratio</a:t>
                      </a:r>
                      <a:endParaRPr lang="en-US" sz="1100" dirty="0">
                        <a:latin typeface="+mn-lt" charset="0"/>
                        <a:ea typeface="+mn-lt" charset="0"/>
                        <a:cs typeface="+mn-lt" charset="0"/>
                      </a:endParaRPr>
                    </a:p>
                  </a:txBody>
                  <a:tcPr marL="45720" marR="45720" marT="45720" marB="45720" anchor="t">
                    <a:lnL w="6350" cap="flat" cmpd="sng" algn="ctr">
                      <a:solidFill>
                        <a:srgbClr val="D9E0E8"/>
                      </a:solidFill>
                      <a:prstDash val="solid"/>
                      <a:round/>
                      <a:headEnd type="none" w="med" len="med"/>
                      <a:tailEnd type="none" w="med" len="med"/>
                    </a:lnL>
                    <a:lnR w="6350" cap="flat" cmpd="sng" algn="ctr">
                      <a:solidFill>
                        <a:srgbClr val="D9E0E8"/>
                      </a:solidFill>
                      <a:prstDash val="solid"/>
                      <a:round/>
                      <a:headEnd type="none" w="med" len="med"/>
                      <a:tailEnd type="none" w="med" len="med"/>
                    </a:lnR>
                    <a:lnT w="6350" cap="flat" cmpd="sng" algn="ctr">
                      <a:solidFill>
                        <a:srgbClr val="D9E0E8"/>
                      </a:solidFill>
                      <a:prstDash val="solid"/>
                      <a:round/>
                      <a:headEnd type="none" w="med" len="med"/>
                      <a:tailEnd type="none" w="med" len="med"/>
                    </a:lnT>
                    <a:lnB w="6350" cap="flat" cmpd="sng" algn="ctr">
                      <a:solidFill>
                        <a:srgbClr val="D9E0E8"/>
                      </a:solidFill>
                      <a:prstDash val="solid"/>
                      <a:round/>
                      <a:headEnd type="none" w="med" len="med"/>
                      <a:tailEnd type="none" w="med" len="med"/>
                    </a:lnB>
                    <a:solidFill>
                      <a:schemeClr val="bg2"/>
                    </a:solidFill>
                  </a:tcPr>
                </a:tc>
                <a:tc>
                  <a:txBody>
                    <a:bodyPr/>
                    <a:lstStyle/>
                    <a:p>
                      <a:pPr indent="0" marL="0">
                        <a:buNone/>
                      </a:pPr>
                      <a:r>
                        <a:rPr lang="en-US" sz="1100" dirty="0">
                          <a:solidFill>
                            <a:schemeClr val="tx1"/>
                          </a:solidFill>
                          <a:latin typeface="+mn-lt" pitchFamily="34" charset="0"/>
                          <a:ea typeface="+mn-lt" pitchFamily="34" charset="-122"/>
                          <a:cs typeface="+mn-lt" pitchFamily="34" charset="-120"/>
                        </a:rPr>
                        <a:t>1 : 1 executed; 3 : 2 cited (Fig 2)</a:t>
                      </a:r>
                      <a:endParaRPr lang="en-US" sz="1100" dirty="0">
                        <a:latin typeface="+mn-lt" charset="0"/>
                        <a:ea typeface="+mn-lt" charset="0"/>
                        <a:cs typeface="+mn-lt" charset="0"/>
                      </a:endParaRPr>
                    </a:p>
                  </a:txBody>
                  <a:tcPr marL="45720" marR="45720" marT="45720" marB="45720" anchor="t">
                    <a:lnL w="6350" cap="flat" cmpd="sng" algn="ctr">
                      <a:solidFill>
                        <a:srgbClr val="D9E0E8"/>
                      </a:solidFill>
                      <a:prstDash val="solid"/>
                      <a:round/>
                      <a:headEnd type="none" w="med" len="med"/>
                      <a:tailEnd type="none" w="med" len="med"/>
                    </a:lnL>
                    <a:lnR w="6350" cap="flat" cmpd="sng" algn="ctr">
                      <a:solidFill>
                        <a:srgbClr val="D9E0E8"/>
                      </a:solidFill>
                      <a:prstDash val="solid"/>
                      <a:round/>
                      <a:headEnd type="none" w="med" len="med"/>
                      <a:tailEnd type="none" w="med" len="med"/>
                    </a:lnR>
                    <a:lnT w="6350" cap="flat" cmpd="sng" algn="ctr">
                      <a:solidFill>
                        <a:srgbClr val="D9E0E8"/>
                      </a:solidFill>
                      <a:prstDash val="solid"/>
                      <a:round/>
                      <a:headEnd type="none" w="med" len="med"/>
                      <a:tailEnd type="none" w="med" len="med"/>
                    </a:lnT>
                    <a:lnB w="6350" cap="flat" cmpd="sng" algn="ctr">
                      <a:solidFill>
                        <a:srgbClr val="D9E0E8"/>
                      </a:solidFill>
                      <a:prstDash val="solid"/>
                      <a:round/>
                      <a:headEnd type="none" w="med" len="med"/>
                      <a:tailEnd type="none" w="med" len="med"/>
                    </a:lnB>
                    <a:solidFill>
                      <a:schemeClr val="bg2"/>
                    </a:solidFill>
                  </a:tcPr>
                </a:tc>
                <a:tc>
                  <a:txBody>
                    <a:bodyPr/>
                    <a:lstStyle/>
                    <a:p>
                      <a:pPr indent="0" marL="0">
                        <a:buNone/>
                      </a:pPr>
                      <a:r>
                        <a:rPr lang="en-US" sz="1100" dirty="0">
                          <a:solidFill>
                            <a:schemeClr val="tx1"/>
                          </a:solidFill>
                          <a:latin typeface="+mn-lt" pitchFamily="34" charset="0"/>
                          <a:ea typeface="+mn-lt" pitchFamily="34" charset="-122"/>
                          <a:cs typeface="+mn-lt" pitchFamily="34" charset="-120"/>
                        </a:rPr>
                        <a:t>1.5 : 1 recommended; cites Nielsen as agreeing</a:t>
                      </a:r>
                      <a:endParaRPr lang="en-US" sz="1100" dirty="0">
                        <a:latin typeface="+mn-lt" charset="0"/>
                        <a:ea typeface="+mn-lt" charset="0"/>
                        <a:cs typeface="+mn-lt" charset="0"/>
                      </a:endParaRPr>
                    </a:p>
                  </a:txBody>
                  <a:tcPr marL="45720" marR="45720" marT="45720" marB="45720" anchor="t">
                    <a:lnL w="6350" cap="flat" cmpd="sng" algn="ctr">
                      <a:solidFill>
                        <a:srgbClr val="D9E0E8"/>
                      </a:solidFill>
                      <a:prstDash val="solid"/>
                      <a:round/>
                      <a:headEnd type="none" w="med" len="med"/>
                      <a:tailEnd type="none" w="med" len="med"/>
                    </a:lnL>
                    <a:lnR w="6350" cap="flat" cmpd="sng" algn="ctr">
                      <a:solidFill>
                        <a:srgbClr val="D9E0E8"/>
                      </a:solidFill>
                      <a:prstDash val="solid"/>
                      <a:round/>
                      <a:headEnd type="none" w="med" len="med"/>
                      <a:tailEnd type="none" w="med" len="med"/>
                    </a:lnR>
                    <a:lnT w="6350" cap="flat" cmpd="sng" algn="ctr">
                      <a:solidFill>
                        <a:srgbClr val="D9E0E8"/>
                      </a:solidFill>
                      <a:prstDash val="solid"/>
                      <a:round/>
                      <a:headEnd type="none" w="med" len="med"/>
                      <a:tailEnd type="none" w="med" len="med"/>
                    </a:lnT>
                    <a:lnB w="6350" cap="flat" cmpd="sng" algn="ctr">
                      <a:solidFill>
                        <a:srgbClr val="D9E0E8"/>
                      </a:solidFill>
                      <a:prstDash val="solid"/>
                      <a:round/>
                      <a:headEnd type="none" w="med" len="med"/>
                      <a:tailEnd type="none" w="med" len="med"/>
                    </a:lnB>
                    <a:solidFill>
                      <a:schemeClr val="bg2"/>
                    </a:solidFill>
                  </a:tcPr>
                </a:tc>
                <a:tc>
                  <a:txBody>
                    <a:bodyPr/>
                    <a:lstStyle/>
                    <a:p>
                      <a:pPr indent="0" marL="0">
                        <a:buNone/>
                      </a:pPr>
                      <a:r>
                        <a:rPr lang="en-US" sz="1100" dirty="0">
                          <a:solidFill>
                            <a:schemeClr val="tx1"/>
                          </a:solidFill>
                          <a:latin typeface="+mn-lt" pitchFamily="34" charset="0"/>
                          <a:ea typeface="+mn-lt" pitchFamily="34" charset="-122"/>
                          <a:cs typeface="+mn-lt" pitchFamily="34" charset="-120"/>
                        </a:rPr>
                        <a:t>—</a:t>
                      </a:r>
                      <a:endParaRPr lang="en-US" sz="1100" dirty="0">
                        <a:latin typeface="+mn-lt" charset="0"/>
                        <a:ea typeface="+mn-lt" charset="0"/>
                        <a:cs typeface="+mn-lt" charset="0"/>
                      </a:endParaRPr>
                    </a:p>
                  </a:txBody>
                  <a:tcPr marL="45720" marR="45720" marT="45720" marB="45720" anchor="t">
                    <a:lnL w="6350" cap="flat" cmpd="sng" algn="ctr">
                      <a:solidFill>
                        <a:srgbClr val="D9E0E8"/>
                      </a:solidFill>
                      <a:prstDash val="solid"/>
                      <a:round/>
                      <a:headEnd type="none" w="med" len="med"/>
                      <a:tailEnd type="none" w="med" len="med"/>
                    </a:lnL>
                    <a:lnR w="6350" cap="flat" cmpd="sng" algn="ctr">
                      <a:solidFill>
                        <a:srgbClr val="D9E0E8"/>
                      </a:solidFill>
                      <a:prstDash val="solid"/>
                      <a:round/>
                      <a:headEnd type="none" w="med" len="med"/>
                      <a:tailEnd type="none" w="med" len="med"/>
                    </a:lnR>
                    <a:lnT w="6350" cap="flat" cmpd="sng" algn="ctr">
                      <a:solidFill>
                        <a:srgbClr val="D9E0E8"/>
                      </a:solidFill>
                      <a:prstDash val="solid"/>
                      <a:round/>
                      <a:headEnd type="none" w="med" len="med"/>
                      <a:tailEnd type="none" w="med" len="med"/>
                    </a:lnT>
                    <a:lnB w="6350" cap="flat" cmpd="sng" algn="ctr">
                      <a:solidFill>
                        <a:srgbClr val="D9E0E8"/>
                      </a:solidFill>
                      <a:prstDash val="solid"/>
                      <a:round/>
                      <a:headEnd type="none" w="med" len="med"/>
                      <a:tailEnd type="none" w="med" len="med"/>
                    </a:lnB>
                    <a:solidFill>
                      <a:schemeClr val="bg2"/>
                    </a:solidFill>
                  </a:tcPr>
                </a:tc>
              </a:tr>
              <a:tr h="0">
                <a:tc>
                  <a:txBody>
                    <a:bodyPr/>
                    <a:lstStyle/>
                    <a:p>
                      <a:pPr indent="0" marL="0">
                        <a:buNone/>
                      </a:pPr>
                      <a:r>
                        <a:rPr lang="en-US" sz="1100" dirty="0">
                          <a:solidFill>
                            <a:schemeClr val="tx1"/>
                          </a:solidFill>
                          <a:latin typeface="+mn-lt" pitchFamily="34" charset="0"/>
                          <a:ea typeface="+mn-lt" pitchFamily="34" charset="-122"/>
                          <a:cs typeface="+mn-lt" pitchFamily="34" charset="-120"/>
                        </a:rPr>
                        <a:t>Posterior zygomatic contour</a:t>
                      </a:r>
                      <a:endParaRPr lang="en-US" sz="1100" dirty="0">
                        <a:latin typeface="+mn-lt" charset="0"/>
                        <a:ea typeface="+mn-lt" charset="0"/>
                        <a:cs typeface="+mn-lt" charset="0"/>
                      </a:endParaRPr>
                    </a:p>
                  </a:txBody>
                  <a:tcPr marL="45720" marR="45720" marT="45720" marB="45720" anchor="t">
                    <a:lnL w="6350" cap="flat" cmpd="sng" algn="ctr">
                      <a:solidFill>
                        <a:srgbClr val="D9E0E8"/>
                      </a:solidFill>
                      <a:prstDash val="solid"/>
                      <a:round/>
                      <a:headEnd type="none" w="med" len="med"/>
                      <a:tailEnd type="none" w="med" len="med"/>
                    </a:lnL>
                    <a:lnR w="6350" cap="flat" cmpd="sng" algn="ctr">
                      <a:solidFill>
                        <a:srgbClr val="D9E0E8"/>
                      </a:solidFill>
                      <a:prstDash val="solid"/>
                      <a:round/>
                      <a:headEnd type="none" w="med" len="med"/>
                      <a:tailEnd type="none" w="med" len="med"/>
                    </a:lnR>
                    <a:lnT w="6350" cap="flat" cmpd="sng" algn="ctr">
                      <a:solidFill>
                        <a:srgbClr val="D9E0E8"/>
                      </a:solidFill>
                      <a:prstDash val="solid"/>
                      <a:round/>
                      <a:headEnd type="none" w="med" len="med"/>
                      <a:tailEnd type="none" w="med" len="med"/>
                    </a:lnT>
                    <a:lnB w="6350" cap="flat" cmpd="sng" algn="ctr">
                      <a:solidFill>
                        <a:srgbClr val="D9E0E8"/>
                      </a:solidFill>
                      <a:prstDash val="solid"/>
                      <a:round/>
                      <a:headEnd type="none" w="med" len="med"/>
                      <a:tailEnd type="none" w="med" len="med"/>
                    </a:lnB>
                    <a:solidFill>
                      <a:schemeClr val="bg1"/>
                    </a:solidFill>
                  </a:tcPr>
                </a:tc>
                <a:tc>
                  <a:txBody>
                    <a:bodyPr/>
                    <a:lstStyle/>
                    <a:p>
                      <a:pPr indent="0" marL="0">
                        <a:buNone/>
                      </a:pPr>
                      <a:r>
                        <a:rPr lang="en-US" sz="1100" dirty="0">
                          <a:solidFill>
                            <a:schemeClr val="tx1"/>
                          </a:solidFill>
                          <a:latin typeface="+mn-lt" pitchFamily="34" charset="0"/>
                          <a:ea typeface="+mn-lt" pitchFamily="34" charset="-122"/>
                          <a:cs typeface="+mn-lt" pitchFamily="34" charset="-120"/>
                        </a:rPr>
                        <a:t>Reject: appositional (Riedel's method)</a:t>
                      </a:r>
                      <a:endParaRPr lang="en-US" sz="1100" dirty="0">
                        <a:latin typeface="+mn-lt" charset="0"/>
                        <a:ea typeface="+mn-lt" charset="0"/>
                        <a:cs typeface="+mn-lt" charset="0"/>
                      </a:endParaRPr>
                    </a:p>
                  </a:txBody>
                  <a:tcPr marL="45720" marR="45720" marT="45720" marB="45720" anchor="t">
                    <a:lnL w="6350" cap="flat" cmpd="sng" algn="ctr">
                      <a:solidFill>
                        <a:srgbClr val="D9E0E8"/>
                      </a:solidFill>
                      <a:prstDash val="solid"/>
                      <a:round/>
                      <a:headEnd type="none" w="med" len="med"/>
                      <a:tailEnd type="none" w="med" len="med"/>
                    </a:lnL>
                    <a:lnR w="6350" cap="flat" cmpd="sng" algn="ctr">
                      <a:solidFill>
                        <a:srgbClr val="D9E0E8"/>
                      </a:solidFill>
                      <a:prstDash val="solid"/>
                      <a:round/>
                      <a:headEnd type="none" w="med" len="med"/>
                      <a:tailEnd type="none" w="med" len="med"/>
                    </a:lnR>
                    <a:lnT w="6350" cap="flat" cmpd="sng" algn="ctr">
                      <a:solidFill>
                        <a:srgbClr val="D9E0E8"/>
                      </a:solidFill>
                      <a:prstDash val="solid"/>
                      <a:round/>
                      <a:headEnd type="none" w="med" len="med"/>
                      <a:tailEnd type="none" w="med" len="med"/>
                    </a:lnT>
                    <a:lnB w="6350" cap="flat" cmpd="sng" algn="ctr">
                      <a:solidFill>
                        <a:srgbClr val="D9E0E8"/>
                      </a:solidFill>
                      <a:prstDash val="solid"/>
                      <a:round/>
                      <a:headEnd type="none" w="med" len="med"/>
                      <a:tailEnd type="none" w="med" len="med"/>
                    </a:lnB>
                    <a:solidFill>
                      <a:schemeClr val="bg1"/>
                    </a:solidFill>
                  </a:tcPr>
                </a:tc>
                <a:tc>
                  <a:txBody>
                    <a:bodyPr/>
                    <a:lstStyle/>
                    <a:p>
                      <a:pPr indent="0" marL="0">
                        <a:buNone/>
                      </a:pPr>
                      <a:r>
                        <a:rPr lang="en-US" sz="1100" dirty="0">
                          <a:solidFill>
                            <a:schemeClr val="tx1"/>
                          </a:solidFill>
                          <a:latin typeface="+mn-lt" pitchFamily="34" charset="0"/>
                          <a:ea typeface="+mn-lt" pitchFamily="34" charset="-122"/>
                          <a:cs typeface="+mn-lt" pitchFamily="34" charset="-120"/>
                        </a:rPr>
                        <a:t>Keep as "most reliable" though posterior drift in 50 of 50</a:t>
                      </a:r>
                      <a:endParaRPr lang="en-US" sz="1100" dirty="0">
                        <a:latin typeface="+mn-lt" charset="0"/>
                        <a:ea typeface="+mn-lt" charset="0"/>
                        <a:cs typeface="+mn-lt" charset="0"/>
                      </a:endParaRPr>
                    </a:p>
                  </a:txBody>
                  <a:tcPr marL="45720" marR="45720" marT="45720" marB="45720" anchor="t">
                    <a:lnL w="6350" cap="flat" cmpd="sng" algn="ctr">
                      <a:solidFill>
                        <a:srgbClr val="D9E0E8"/>
                      </a:solidFill>
                      <a:prstDash val="solid"/>
                      <a:round/>
                      <a:headEnd type="none" w="med" len="med"/>
                      <a:tailEnd type="none" w="med" len="med"/>
                    </a:lnL>
                    <a:lnR w="6350" cap="flat" cmpd="sng" algn="ctr">
                      <a:solidFill>
                        <a:srgbClr val="D9E0E8"/>
                      </a:solidFill>
                      <a:prstDash val="solid"/>
                      <a:round/>
                      <a:headEnd type="none" w="med" len="med"/>
                      <a:tailEnd type="none" w="med" len="med"/>
                    </a:lnR>
                    <a:lnT w="6350" cap="flat" cmpd="sng" algn="ctr">
                      <a:solidFill>
                        <a:srgbClr val="D9E0E8"/>
                      </a:solidFill>
                      <a:prstDash val="solid"/>
                      <a:round/>
                      <a:headEnd type="none" w="med" len="med"/>
                      <a:tailEnd type="none" w="med" len="med"/>
                    </a:lnT>
                    <a:lnB w="6350" cap="flat" cmpd="sng" algn="ctr">
                      <a:solidFill>
                        <a:srgbClr val="D9E0E8"/>
                      </a:solidFill>
                      <a:prstDash val="solid"/>
                      <a:round/>
                      <a:headEnd type="none" w="med" len="med"/>
                      <a:tailEnd type="none" w="med" len="med"/>
                    </a:lnB>
                    <a:solidFill>
                      <a:schemeClr val="bg1"/>
                    </a:solidFill>
                  </a:tcPr>
                </a:tc>
                <a:tc>
                  <a:txBody>
                    <a:bodyPr/>
                    <a:lstStyle/>
                    <a:p>
                      <a:pPr indent="0" marL="0">
                        <a:buNone/>
                      </a:pPr>
                      <a:r>
                        <a:rPr lang="en-US" sz="1100" dirty="0">
                          <a:solidFill>
                            <a:schemeClr val="tx1"/>
                          </a:solidFill>
                          <a:latin typeface="+mn-lt" pitchFamily="34" charset="0"/>
                          <a:ea typeface="+mn-lt" pitchFamily="34" charset="-122"/>
                          <a:cs typeface="+mn-lt" pitchFamily="34" charset="-120"/>
                        </a:rPr>
                        <a:t>—</a:t>
                      </a:r>
                      <a:endParaRPr lang="en-US" sz="1100" dirty="0">
                        <a:latin typeface="+mn-lt" charset="0"/>
                        <a:ea typeface="+mn-lt" charset="0"/>
                        <a:cs typeface="+mn-lt" charset="0"/>
                      </a:endParaRPr>
                    </a:p>
                  </a:txBody>
                  <a:tcPr marL="45720" marR="45720" marT="45720" marB="45720" anchor="t">
                    <a:lnL w="6350" cap="flat" cmpd="sng" algn="ctr">
                      <a:solidFill>
                        <a:srgbClr val="D9E0E8"/>
                      </a:solidFill>
                      <a:prstDash val="solid"/>
                      <a:round/>
                      <a:headEnd type="none" w="med" len="med"/>
                      <a:tailEnd type="none" w="med" len="med"/>
                    </a:lnL>
                    <a:lnR w="6350" cap="flat" cmpd="sng" algn="ctr">
                      <a:solidFill>
                        <a:srgbClr val="D9E0E8"/>
                      </a:solidFill>
                      <a:prstDash val="solid"/>
                      <a:round/>
                      <a:headEnd type="none" w="med" len="med"/>
                      <a:tailEnd type="none" w="med" len="med"/>
                    </a:lnR>
                    <a:lnT w="6350" cap="flat" cmpd="sng" algn="ctr">
                      <a:solidFill>
                        <a:srgbClr val="D9E0E8"/>
                      </a:solidFill>
                      <a:prstDash val="solid"/>
                      <a:round/>
                      <a:headEnd type="none" w="med" len="med"/>
                      <a:tailEnd type="none" w="med" len="med"/>
                    </a:lnT>
                    <a:lnB w="6350" cap="flat" cmpd="sng" algn="ctr">
                      <a:solidFill>
                        <a:srgbClr val="D9E0E8"/>
                      </a:solidFill>
                      <a:prstDash val="solid"/>
                      <a:round/>
                      <a:headEnd type="none" w="med" len="med"/>
                      <a:tailEnd type="none" w="med" len="med"/>
                    </a:lnB>
                    <a:solidFill>
                      <a:schemeClr val="bg1"/>
                    </a:solidFill>
                  </a:tcPr>
                </a:tc>
              </a:tr>
              <a:tr h="0">
                <a:tc>
                  <a:txBody>
                    <a:bodyPr/>
                    <a:lstStyle/>
                    <a:p>
                      <a:pPr indent="0" marL="0">
                        <a:buNone/>
                      </a:pPr>
                      <a:r>
                        <a:rPr lang="en-US" sz="1100" dirty="0">
                          <a:solidFill>
                            <a:schemeClr val="tx1"/>
                          </a:solidFill>
                          <a:latin typeface="+mn-lt" pitchFamily="34" charset="0"/>
                          <a:ea typeface="+mn-lt" pitchFamily="34" charset="-122"/>
                          <a:cs typeface="+mn-lt" pitchFamily="34" charset="-120"/>
                        </a:rPr>
                        <a:t>Palatal registration</a:t>
                      </a:r>
                      <a:endParaRPr lang="en-US" sz="1100" dirty="0">
                        <a:latin typeface="+mn-lt" charset="0"/>
                        <a:ea typeface="+mn-lt" charset="0"/>
                        <a:cs typeface="+mn-lt" charset="0"/>
                      </a:endParaRPr>
                    </a:p>
                  </a:txBody>
                  <a:tcPr marL="45720" marR="45720" marT="45720" marB="45720" anchor="t">
                    <a:lnL w="6350" cap="flat" cmpd="sng" algn="ctr">
                      <a:solidFill>
                        <a:srgbClr val="D9E0E8"/>
                      </a:solidFill>
                      <a:prstDash val="solid"/>
                      <a:round/>
                      <a:headEnd type="none" w="med" len="med"/>
                      <a:tailEnd type="none" w="med" len="med"/>
                    </a:lnL>
                    <a:lnR w="6350" cap="flat" cmpd="sng" algn="ctr">
                      <a:solidFill>
                        <a:srgbClr val="D9E0E8"/>
                      </a:solidFill>
                      <a:prstDash val="solid"/>
                      <a:round/>
                      <a:headEnd type="none" w="med" len="med"/>
                      <a:tailEnd type="none" w="med" len="med"/>
                    </a:lnR>
                    <a:lnT w="6350" cap="flat" cmpd="sng" algn="ctr">
                      <a:solidFill>
                        <a:srgbClr val="D9E0E8"/>
                      </a:solidFill>
                      <a:prstDash val="solid"/>
                      <a:round/>
                      <a:headEnd type="none" w="med" len="med"/>
                      <a:tailEnd type="none" w="med" len="med"/>
                    </a:lnT>
                    <a:lnB w="6350" cap="flat" cmpd="sng" algn="ctr">
                      <a:solidFill>
                        <a:srgbClr val="D9E0E8"/>
                      </a:solidFill>
                      <a:prstDash val="solid"/>
                      <a:round/>
                      <a:headEnd type="none" w="med" len="med"/>
                      <a:tailEnd type="none" w="med" len="med"/>
                    </a:lnB>
                    <a:solidFill>
                      <a:schemeClr val="bg2"/>
                    </a:solidFill>
                  </a:tcPr>
                </a:tc>
                <a:tc>
                  <a:txBody>
                    <a:bodyPr/>
                    <a:lstStyle/>
                    <a:p>
                      <a:pPr indent="0" marL="0">
                        <a:buNone/>
                      </a:pPr>
                      <a:r>
                        <a:rPr lang="en-US" sz="1100" dirty="0">
                          <a:solidFill>
                            <a:schemeClr val="tx1"/>
                          </a:solidFill>
                          <a:latin typeface="+mn-lt" pitchFamily="34" charset="0"/>
                          <a:ea typeface="+mn-lt" pitchFamily="34" charset="-122"/>
                          <a:cs typeface="+mn-lt" pitchFamily="34" charset="-120"/>
                        </a:rPr>
                        <a:t>Best fit at ANS hides 30–50 % of eruption</a:t>
                      </a:r>
                      <a:endParaRPr lang="en-US" sz="1100" dirty="0">
                        <a:latin typeface="+mn-lt" charset="0"/>
                        <a:ea typeface="+mn-lt" charset="0"/>
                        <a:cs typeface="+mn-lt" charset="0"/>
                      </a:endParaRPr>
                    </a:p>
                  </a:txBody>
                  <a:tcPr marL="45720" marR="45720" marT="45720" marB="45720" anchor="t">
                    <a:lnL w="6350" cap="flat" cmpd="sng" algn="ctr">
                      <a:solidFill>
                        <a:srgbClr val="D9E0E8"/>
                      </a:solidFill>
                      <a:prstDash val="solid"/>
                      <a:round/>
                      <a:headEnd type="none" w="med" len="med"/>
                      <a:tailEnd type="none" w="med" len="med"/>
                    </a:lnL>
                    <a:lnR w="6350" cap="flat" cmpd="sng" algn="ctr">
                      <a:solidFill>
                        <a:srgbClr val="D9E0E8"/>
                      </a:solidFill>
                      <a:prstDash val="solid"/>
                      <a:round/>
                      <a:headEnd type="none" w="med" len="med"/>
                      <a:tailEnd type="none" w="med" len="med"/>
                    </a:lnR>
                    <a:lnT w="6350" cap="flat" cmpd="sng" algn="ctr">
                      <a:solidFill>
                        <a:srgbClr val="D9E0E8"/>
                      </a:solidFill>
                      <a:prstDash val="solid"/>
                      <a:round/>
                      <a:headEnd type="none" w="med" len="med"/>
                      <a:tailEnd type="none" w="med" len="med"/>
                    </a:lnT>
                    <a:lnB w="6350" cap="flat" cmpd="sng" algn="ctr">
                      <a:solidFill>
                        <a:srgbClr val="D9E0E8"/>
                      </a:solidFill>
                      <a:prstDash val="solid"/>
                      <a:round/>
                      <a:headEnd type="none" w="med" len="med"/>
                      <a:tailEnd type="none" w="med" len="med"/>
                    </a:lnB>
                    <a:solidFill>
                      <a:schemeClr val="bg2"/>
                    </a:solidFill>
                  </a:tcPr>
                </a:tc>
                <a:tc>
                  <a:txBody>
                    <a:bodyPr/>
                    <a:lstStyle/>
                    <a:p>
                      <a:pPr indent="0" marL="0">
                        <a:buNone/>
                      </a:pPr>
                      <a:r>
                        <a:rPr lang="en-US" sz="1100" dirty="0">
                          <a:solidFill>
                            <a:schemeClr val="tx1"/>
                          </a:solidFill>
                          <a:latin typeface="+mn-lt" pitchFamily="34" charset="0"/>
                          <a:ea typeface="+mn-lt" pitchFamily="34" charset="-122"/>
                          <a:cs typeface="+mn-lt" pitchFamily="34" charset="-120"/>
                        </a:rPr>
                        <a:t>Internal palate 0.85 mm, best number, "limited value"</a:t>
                      </a:r>
                      <a:endParaRPr lang="en-US" sz="1100" dirty="0">
                        <a:latin typeface="+mn-lt" charset="0"/>
                        <a:ea typeface="+mn-lt" charset="0"/>
                        <a:cs typeface="+mn-lt" charset="0"/>
                      </a:endParaRPr>
                    </a:p>
                  </a:txBody>
                  <a:tcPr marL="45720" marR="45720" marT="45720" marB="45720" anchor="t">
                    <a:lnL w="6350" cap="flat" cmpd="sng" algn="ctr">
                      <a:solidFill>
                        <a:srgbClr val="D9E0E8"/>
                      </a:solidFill>
                      <a:prstDash val="solid"/>
                      <a:round/>
                      <a:headEnd type="none" w="med" len="med"/>
                      <a:tailEnd type="none" w="med" len="med"/>
                    </a:lnL>
                    <a:lnR w="6350" cap="flat" cmpd="sng" algn="ctr">
                      <a:solidFill>
                        <a:srgbClr val="D9E0E8"/>
                      </a:solidFill>
                      <a:prstDash val="solid"/>
                      <a:round/>
                      <a:headEnd type="none" w="med" len="med"/>
                      <a:tailEnd type="none" w="med" len="med"/>
                    </a:lnR>
                    <a:lnT w="6350" cap="flat" cmpd="sng" algn="ctr">
                      <a:solidFill>
                        <a:srgbClr val="D9E0E8"/>
                      </a:solidFill>
                      <a:prstDash val="solid"/>
                      <a:round/>
                      <a:headEnd type="none" w="med" len="med"/>
                      <a:tailEnd type="none" w="med" len="med"/>
                    </a:lnT>
                    <a:lnB w="6350" cap="flat" cmpd="sng" algn="ctr">
                      <a:solidFill>
                        <a:srgbClr val="D9E0E8"/>
                      </a:solidFill>
                      <a:prstDash val="solid"/>
                      <a:round/>
                      <a:headEnd type="none" w="med" len="med"/>
                      <a:tailEnd type="none" w="med" len="med"/>
                    </a:lnB>
                    <a:solidFill>
                      <a:schemeClr val="bg2"/>
                    </a:solidFill>
                  </a:tcPr>
                </a:tc>
                <a:tc>
                  <a:txBody>
                    <a:bodyPr/>
                    <a:lstStyle/>
                    <a:p>
                      <a:pPr indent="0" marL="0">
                        <a:buNone/>
                      </a:pPr>
                      <a:r>
                        <a:rPr lang="en-US" sz="1100" dirty="0">
                          <a:solidFill>
                            <a:schemeClr val="tx1"/>
                          </a:solidFill>
                          <a:latin typeface="+mn-lt" pitchFamily="34" charset="0"/>
                          <a:ea typeface="+mn-lt" pitchFamily="34" charset="-122"/>
                          <a:cs typeface="+mn-lt" pitchFamily="34" charset="-120"/>
                        </a:rPr>
                        <a:t>—</a:t>
                      </a:r>
                      <a:endParaRPr lang="en-US" sz="1100" dirty="0">
                        <a:latin typeface="+mn-lt" charset="0"/>
                        <a:ea typeface="+mn-lt" charset="0"/>
                        <a:cs typeface="+mn-lt" charset="0"/>
                      </a:endParaRPr>
                    </a:p>
                  </a:txBody>
                  <a:tcPr marL="45720" marR="45720" marT="45720" marB="45720" anchor="t">
                    <a:lnL w="6350" cap="flat" cmpd="sng" algn="ctr">
                      <a:solidFill>
                        <a:srgbClr val="D9E0E8"/>
                      </a:solidFill>
                      <a:prstDash val="solid"/>
                      <a:round/>
                      <a:headEnd type="none" w="med" len="med"/>
                      <a:tailEnd type="none" w="med" len="med"/>
                    </a:lnL>
                    <a:lnR w="6350" cap="flat" cmpd="sng" algn="ctr">
                      <a:solidFill>
                        <a:srgbClr val="D9E0E8"/>
                      </a:solidFill>
                      <a:prstDash val="solid"/>
                      <a:round/>
                      <a:headEnd type="none" w="med" len="med"/>
                      <a:tailEnd type="none" w="med" len="med"/>
                    </a:lnR>
                    <a:lnT w="6350" cap="flat" cmpd="sng" algn="ctr">
                      <a:solidFill>
                        <a:srgbClr val="D9E0E8"/>
                      </a:solidFill>
                      <a:prstDash val="solid"/>
                      <a:round/>
                      <a:headEnd type="none" w="med" len="med"/>
                      <a:tailEnd type="none" w="med" len="med"/>
                    </a:lnT>
                    <a:lnB w="6350" cap="flat" cmpd="sng" algn="ctr">
                      <a:solidFill>
                        <a:srgbClr val="D9E0E8"/>
                      </a:solidFill>
                      <a:prstDash val="solid"/>
                      <a:round/>
                      <a:headEnd type="none" w="med" len="med"/>
                      <a:tailEnd type="none" w="med" len="med"/>
                    </a:lnB>
                    <a:solidFill>
                      <a:schemeClr val="bg2"/>
                    </a:solidFill>
                  </a:tcPr>
                </a:tc>
              </a:tr>
              <a:tr h="0">
                <a:tc>
                  <a:txBody>
                    <a:bodyPr/>
                    <a:lstStyle/>
                    <a:p>
                      <a:pPr indent="0" marL="0">
                        <a:buNone/>
                      </a:pPr>
                      <a:r>
                        <a:rPr lang="en-US" sz="1100" dirty="0">
                          <a:solidFill>
                            <a:schemeClr val="tx1"/>
                          </a:solidFill>
                          <a:latin typeface="+mn-lt" pitchFamily="34" charset="0"/>
                          <a:ea typeface="+mn-lt" pitchFamily="34" charset="-122"/>
                          <a:cs typeface="+mn-lt" pitchFamily="34" charset="-120"/>
                        </a:rPr>
                        <a:t>Third-molar crypt, canal</a:t>
                      </a:r>
                      <a:endParaRPr lang="en-US" sz="1100" dirty="0">
                        <a:latin typeface="+mn-lt" charset="0"/>
                        <a:ea typeface="+mn-lt" charset="0"/>
                        <a:cs typeface="+mn-lt" charset="0"/>
                      </a:endParaRPr>
                    </a:p>
                  </a:txBody>
                  <a:tcPr marL="45720" marR="45720" marT="45720" marB="45720" anchor="t">
                    <a:lnL w="6350" cap="flat" cmpd="sng" algn="ctr">
                      <a:solidFill>
                        <a:srgbClr val="D9E0E8"/>
                      </a:solidFill>
                      <a:prstDash val="solid"/>
                      <a:round/>
                      <a:headEnd type="none" w="med" len="med"/>
                      <a:tailEnd type="none" w="med" len="med"/>
                    </a:lnL>
                    <a:lnR w="6350" cap="flat" cmpd="sng" algn="ctr">
                      <a:solidFill>
                        <a:srgbClr val="D9E0E8"/>
                      </a:solidFill>
                      <a:prstDash val="solid"/>
                      <a:round/>
                      <a:headEnd type="none" w="med" len="med"/>
                      <a:tailEnd type="none" w="med" len="med"/>
                    </a:lnR>
                    <a:lnT w="6350" cap="flat" cmpd="sng" algn="ctr">
                      <a:solidFill>
                        <a:srgbClr val="D9E0E8"/>
                      </a:solidFill>
                      <a:prstDash val="solid"/>
                      <a:round/>
                      <a:headEnd type="none" w="med" len="med"/>
                      <a:tailEnd type="none" w="med" len="med"/>
                    </a:lnT>
                    <a:lnB w="6350" cap="flat" cmpd="sng" algn="ctr">
                      <a:solidFill>
                        <a:srgbClr val="D9E0E8"/>
                      </a:solidFill>
                      <a:prstDash val="solid"/>
                      <a:round/>
                      <a:headEnd type="none" w="med" len="med"/>
                      <a:tailEnd type="none" w="med" len="med"/>
                    </a:lnB>
                    <a:solidFill>
                      <a:schemeClr val="bg1"/>
                    </a:solidFill>
                  </a:tcPr>
                </a:tc>
                <a:tc>
                  <a:txBody>
                    <a:bodyPr/>
                    <a:lstStyle/>
                    <a:p>
                      <a:pPr indent="0" marL="0">
                        <a:buNone/>
                      </a:pPr>
                      <a:r>
                        <a:rPr lang="en-US" sz="1100" dirty="0">
                          <a:solidFill>
                            <a:schemeClr val="tx1"/>
                          </a:solidFill>
                          <a:latin typeface="+mn-lt" pitchFamily="34" charset="0"/>
                          <a:ea typeface="+mn-lt" pitchFamily="34" charset="-122"/>
                          <a:cs typeface="+mn-lt" pitchFamily="34" charset="-120"/>
                        </a:rPr>
                        <a:t>—</a:t>
                      </a:r>
                      <a:endParaRPr lang="en-US" sz="1100" dirty="0">
                        <a:latin typeface="+mn-lt" charset="0"/>
                        <a:ea typeface="+mn-lt" charset="0"/>
                        <a:cs typeface="+mn-lt" charset="0"/>
                      </a:endParaRPr>
                    </a:p>
                  </a:txBody>
                  <a:tcPr marL="45720" marR="45720" marT="45720" marB="45720" anchor="t">
                    <a:lnL w="6350" cap="flat" cmpd="sng" algn="ctr">
                      <a:solidFill>
                        <a:srgbClr val="D9E0E8"/>
                      </a:solidFill>
                      <a:prstDash val="solid"/>
                      <a:round/>
                      <a:headEnd type="none" w="med" len="med"/>
                      <a:tailEnd type="none" w="med" len="med"/>
                    </a:lnL>
                    <a:lnR w="6350" cap="flat" cmpd="sng" algn="ctr">
                      <a:solidFill>
                        <a:srgbClr val="D9E0E8"/>
                      </a:solidFill>
                      <a:prstDash val="solid"/>
                      <a:round/>
                      <a:headEnd type="none" w="med" len="med"/>
                      <a:tailEnd type="none" w="med" len="med"/>
                    </a:lnR>
                    <a:lnT w="6350" cap="flat" cmpd="sng" algn="ctr">
                      <a:solidFill>
                        <a:srgbClr val="D9E0E8"/>
                      </a:solidFill>
                      <a:prstDash val="solid"/>
                      <a:round/>
                      <a:headEnd type="none" w="med" len="med"/>
                      <a:tailEnd type="none" w="med" len="med"/>
                    </a:lnT>
                    <a:lnB w="6350" cap="flat" cmpd="sng" algn="ctr">
                      <a:solidFill>
                        <a:srgbClr val="D9E0E8"/>
                      </a:solidFill>
                      <a:prstDash val="solid"/>
                      <a:round/>
                      <a:headEnd type="none" w="med" len="med"/>
                      <a:tailEnd type="none" w="med" len="med"/>
                    </a:lnB>
                    <a:solidFill>
                      <a:schemeClr val="bg1"/>
                    </a:solidFill>
                  </a:tcPr>
                </a:tc>
                <a:tc>
                  <a:txBody>
                    <a:bodyPr/>
                    <a:lstStyle/>
                    <a:p>
                      <a:pPr indent="0" marL="0">
                        <a:buNone/>
                      </a:pPr>
                      <a:r>
                        <a:rPr lang="en-US" sz="1100" dirty="0">
                          <a:solidFill>
                            <a:schemeClr val="tx1"/>
                          </a:solidFill>
                          <a:latin typeface="+mn-lt" pitchFamily="34" charset="0"/>
                          <a:ea typeface="+mn-lt" pitchFamily="34" charset="-122"/>
                          <a:cs typeface="+mn-lt" pitchFamily="34" charset="-120"/>
                        </a:rPr>
                        <a:t>—</a:t>
                      </a:r>
                      <a:endParaRPr lang="en-US" sz="1100" dirty="0">
                        <a:latin typeface="+mn-lt" charset="0"/>
                        <a:ea typeface="+mn-lt" charset="0"/>
                        <a:cs typeface="+mn-lt" charset="0"/>
                      </a:endParaRPr>
                    </a:p>
                  </a:txBody>
                  <a:tcPr marL="45720" marR="45720" marT="45720" marB="45720" anchor="t">
                    <a:lnL w="6350" cap="flat" cmpd="sng" algn="ctr">
                      <a:solidFill>
                        <a:srgbClr val="D9E0E8"/>
                      </a:solidFill>
                      <a:prstDash val="solid"/>
                      <a:round/>
                      <a:headEnd type="none" w="med" len="med"/>
                      <a:tailEnd type="none" w="med" len="med"/>
                    </a:lnL>
                    <a:lnR w="6350" cap="flat" cmpd="sng" algn="ctr">
                      <a:solidFill>
                        <a:srgbClr val="D9E0E8"/>
                      </a:solidFill>
                      <a:prstDash val="solid"/>
                      <a:round/>
                      <a:headEnd type="none" w="med" len="med"/>
                      <a:tailEnd type="none" w="med" len="med"/>
                    </a:lnR>
                    <a:lnT w="6350" cap="flat" cmpd="sng" algn="ctr">
                      <a:solidFill>
                        <a:srgbClr val="D9E0E8"/>
                      </a:solidFill>
                      <a:prstDash val="solid"/>
                      <a:round/>
                      <a:headEnd type="none" w="med" len="med"/>
                      <a:tailEnd type="none" w="med" len="med"/>
                    </a:lnT>
                    <a:lnB w="6350" cap="flat" cmpd="sng" algn="ctr">
                      <a:solidFill>
                        <a:srgbClr val="D9E0E8"/>
                      </a:solidFill>
                      <a:prstDash val="solid"/>
                      <a:round/>
                      <a:headEnd type="none" w="med" len="med"/>
                      <a:tailEnd type="none" w="med" len="med"/>
                    </a:lnB>
                    <a:solidFill>
                      <a:schemeClr val="bg1"/>
                    </a:solidFill>
                  </a:tcPr>
                </a:tc>
                <a:tc>
                  <a:txBody>
                    <a:bodyPr/>
                    <a:lstStyle/>
                    <a:p>
                      <a:pPr indent="0" marL="0">
                        <a:buNone/>
                      </a:pPr>
                      <a:r>
                        <a:rPr lang="en-US" sz="1100" dirty="0">
                          <a:solidFill>
                            <a:schemeClr val="tx1"/>
                          </a:solidFill>
                          <a:latin typeface="+mn-lt" pitchFamily="34" charset="0"/>
                          <a:ea typeface="+mn-lt" pitchFamily="34" charset="-122"/>
                          <a:cs typeface="+mn-lt" pitchFamily="34" charset="-120"/>
                        </a:rPr>
                        <a:t>Crypt fails (1.94 mm); canal excluded; Björk used both (cited)</a:t>
                      </a:r>
                      <a:endParaRPr lang="en-US" sz="1100" dirty="0">
                        <a:latin typeface="+mn-lt" charset="0"/>
                        <a:ea typeface="+mn-lt" charset="0"/>
                        <a:cs typeface="+mn-lt" charset="0"/>
                      </a:endParaRPr>
                    </a:p>
                  </a:txBody>
                  <a:tcPr marL="45720" marR="45720" marT="45720" marB="45720" anchor="t">
                    <a:lnL w="6350" cap="flat" cmpd="sng" algn="ctr">
                      <a:solidFill>
                        <a:srgbClr val="D9E0E8"/>
                      </a:solidFill>
                      <a:prstDash val="solid"/>
                      <a:round/>
                      <a:headEnd type="none" w="med" len="med"/>
                      <a:tailEnd type="none" w="med" len="med"/>
                    </a:lnL>
                    <a:lnR w="6350" cap="flat" cmpd="sng" algn="ctr">
                      <a:solidFill>
                        <a:srgbClr val="D9E0E8"/>
                      </a:solidFill>
                      <a:prstDash val="solid"/>
                      <a:round/>
                      <a:headEnd type="none" w="med" len="med"/>
                      <a:tailEnd type="none" w="med" len="med"/>
                    </a:lnR>
                    <a:lnT w="6350" cap="flat" cmpd="sng" algn="ctr">
                      <a:solidFill>
                        <a:srgbClr val="D9E0E8"/>
                      </a:solidFill>
                      <a:prstDash val="solid"/>
                      <a:round/>
                      <a:headEnd type="none" w="med" len="med"/>
                      <a:tailEnd type="none" w="med" len="med"/>
                    </a:lnT>
                    <a:lnB w="6350" cap="flat" cmpd="sng" algn="ctr">
                      <a:solidFill>
                        <a:srgbClr val="D9E0E8"/>
                      </a:solidFill>
                      <a:prstDash val="solid"/>
                      <a:round/>
                      <a:headEnd type="none" w="med" len="med"/>
                      <a:tailEnd type="none" w="med" len="med"/>
                    </a:lnB>
                    <a:solidFill>
                      <a:schemeClr val="bg1"/>
                    </a:solidFill>
                  </a:tcPr>
                </a:tc>
              </a:tr>
              <a:tr h="0">
                <a:tc>
                  <a:txBody>
                    <a:bodyPr/>
                    <a:lstStyle/>
                    <a:p>
                      <a:pPr indent="0" marL="0">
                        <a:buNone/>
                      </a:pPr>
                      <a:r>
                        <a:rPr lang="en-US" sz="1100" dirty="0">
                          <a:solidFill>
                            <a:schemeClr val="tx1"/>
                          </a:solidFill>
                          <a:latin typeface="+mn-lt" pitchFamily="34" charset="0"/>
                          <a:ea typeface="+mn-lt" pitchFamily="34" charset="-122"/>
                          <a:cs typeface="+mn-lt" pitchFamily="34" charset="-120"/>
                        </a:rPr>
                        <a:t>Verdict</a:t>
                      </a:r>
                      <a:endParaRPr lang="en-US" sz="1100" dirty="0">
                        <a:latin typeface="+mn-lt" charset="0"/>
                        <a:ea typeface="+mn-lt" charset="0"/>
                        <a:cs typeface="+mn-lt" charset="0"/>
                      </a:endParaRPr>
                    </a:p>
                  </a:txBody>
                  <a:tcPr marL="45720" marR="45720" marT="45720" marB="45720" anchor="t">
                    <a:lnL w="6350" cap="flat" cmpd="sng" algn="ctr">
                      <a:solidFill>
                        <a:srgbClr val="D9E0E8"/>
                      </a:solidFill>
                      <a:prstDash val="solid"/>
                      <a:round/>
                      <a:headEnd type="none" w="med" len="med"/>
                      <a:tailEnd type="none" w="med" len="med"/>
                    </a:lnL>
                    <a:lnR w="6350" cap="flat" cmpd="sng" algn="ctr">
                      <a:solidFill>
                        <a:srgbClr val="D9E0E8"/>
                      </a:solidFill>
                      <a:prstDash val="solid"/>
                      <a:round/>
                      <a:headEnd type="none" w="med" len="med"/>
                      <a:tailEnd type="none" w="med" len="med"/>
                    </a:lnR>
                    <a:lnT w="6350" cap="flat" cmpd="sng" algn="ctr">
                      <a:solidFill>
                        <a:srgbClr val="D9E0E8"/>
                      </a:solidFill>
                      <a:prstDash val="solid"/>
                      <a:round/>
                      <a:headEnd type="none" w="med" len="med"/>
                      <a:tailEnd type="none" w="med" len="med"/>
                    </a:lnT>
                    <a:lnB w="6350" cap="flat" cmpd="sng" algn="ctr">
                      <a:solidFill>
                        <a:srgbClr val="D9E0E8"/>
                      </a:solidFill>
                      <a:prstDash val="solid"/>
                      <a:round/>
                      <a:headEnd type="none" w="med" len="med"/>
                      <a:tailEnd type="none" w="med" len="med"/>
                    </a:lnB>
                    <a:solidFill>
                      <a:schemeClr val="bg2"/>
                    </a:solidFill>
                  </a:tcPr>
                </a:tc>
                <a:tc>
                  <a:txBody>
                    <a:bodyPr/>
                    <a:lstStyle/>
                    <a:p>
                      <a:pPr indent="0" marL="0">
                        <a:buNone/>
                      </a:pPr>
                      <a:r>
                        <a:rPr lang="en-US" sz="1100" dirty="0">
                          <a:solidFill>
                            <a:schemeClr val="tx1"/>
                          </a:solidFill>
                          <a:latin typeface="+mn-lt" pitchFamily="34" charset="0"/>
                          <a:ea typeface="+mn-lt" pitchFamily="34" charset="-122"/>
                          <a:cs typeface="+mn-lt" pitchFamily="34" charset="-120"/>
                        </a:rPr>
                        <a:t>Structural method valid and reliable</a:t>
                      </a:r>
                      <a:endParaRPr lang="en-US" sz="1100" dirty="0">
                        <a:latin typeface="+mn-lt" charset="0"/>
                        <a:ea typeface="+mn-lt" charset="0"/>
                        <a:cs typeface="+mn-lt" charset="0"/>
                      </a:endParaRPr>
                    </a:p>
                  </a:txBody>
                  <a:tcPr marL="45720" marR="45720" marT="45720" marB="45720" anchor="t">
                    <a:lnL w="6350" cap="flat" cmpd="sng" algn="ctr">
                      <a:solidFill>
                        <a:srgbClr val="D9E0E8"/>
                      </a:solidFill>
                      <a:prstDash val="solid"/>
                      <a:round/>
                      <a:headEnd type="none" w="med" len="med"/>
                      <a:tailEnd type="none" w="med" len="med"/>
                    </a:lnL>
                    <a:lnR w="6350" cap="flat" cmpd="sng" algn="ctr">
                      <a:solidFill>
                        <a:srgbClr val="D9E0E8"/>
                      </a:solidFill>
                      <a:prstDash val="solid"/>
                      <a:round/>
                      <a:headEnd type="none" w="med" len="med"/>
                      <a:tailEnd type="none" w="med" len="med"/>
                    </a:lnR>
                    <a:lnT w="6350" cap="flat" cmpd="sng" algn="ctr">
                      <a:solidFill>
                        <a:srgbClr val="D9E0E8"/>
                      </a:solidFill>
                      <a:prstDash val="solid"/>
                      <a:round/>
                      <a:headEnd type="none" w="med" len="med"/>
                      <a:tailEnd type="none" w="med" len="med"/>
                    </a:lnT>
                    <a:lnB w="6350" cap="flat" cmpd="sng" algn="ctr">
                      <a:solidFill>
                        <a:srgbClr val="D9E0E8"/>
                      </a:solidFill>
                      <a:prstDash val="solid"/>
                      <a:round/>
                      <a:headEnd type="none" w="med" len="med"/>
                      <a:tailEnd type="none" w="med" len="med"/>
                    </a:lnB>
                    <a:solidFill>
                      <a:schemeClr val="bg2"/>
                    </a:solidFill>
                  </a:tcPr>
                </a:tc>
                <a:tc>
                  <a:txBody>
                    <a:bodyPr/>
                    <a:lstStyle/>
                    <a:p>
                      <a:pPr indent="0" marL="0">
                        <a:buNone/>
                      </a:pPr>
                      <a:r>
                        <a:rPr lang="en-US" sz="1100" dirty="0">
                          <a:solidFill>
                            <a:schemeClr val="tx1"/>
                          </a:solidFill>
                          <a:latin typeface="+mn-lt" pitchFamily="34" charset="0"/>
                          <a:ea typeface="+mn-lt" pitchFamily="34" charset="-122"/>
                          <a:cs typeface="+mn-lt" pitchFamily="34" charset="-120"/>
                        </a:rPr>
                        <a:t>No maxillary area completely reliable</a:t>
                      </a:r>
                      <a:endParaRPr lang="en-US" sz="1100" dirty="0">
                        <a:latin typeface="+mn-lt" charset="0"/>
                        <a:ea typeface="+mn-lt" charset="0"/>
                        <a:cs typeface="+mn-lt" charset="0"/>
                      </a:endParaRPr>
                    </a:p>
                  </a:txBody>
                  <a:tcPr marL="45720" marR="45720" marT="45720" marB="45720" anchor="t">
                    <a:lnL w="6350" cap="flat" cmpd="sng" algn="ctr">
                      <a:solidFill>
                        <a:srgbClr val="D9E0E8"/>
                      </a:solidFill>
                      <a:prstDash val="solid"/>
                      <a:round/>
                      <a:headEnd type="none" w="med" len="med"/>
                      <a:tailEnd type="none" w="med" len="med"/>
                    </a:lnL>
                    <a:lnR w="6350" cap="flat" cmpd="sng" algn="ctr">
                      <a:solidFill>
                        <a:srgbClr val="D9E0E8"/>
                      </a:solidFill>
                      <a:prstDash val="solid"/>
                      <a:round/>
                      <a:headEnd type="none" w="med" len="med"/>
                      <a:tailEnd type="none" w="med" len="med"/>
                    </a:lnR>
                    <a:lnT w="6350" cap="flat" cmpd="sng" algn="ctr">
                      <a:solidFill>
                        <a:srgbClr val="D9E0E8"/>
                      </a:solidFill>
                      <a:prstDash val="solid"/>
                      <a:round/>
                      <a:headEnd type="none" w="med" len="med"/>
                      <a:tailEnd type="none" w="med" len="med"/>
                    </a:lnT>
                    <a:lnB w="6350" cap="flat" cmpd="sng" algn="ctr">
                      <a:solidFill>
                        <a:srgbClr val="D9E0E8"/>
                      </a:solidFill>
                      <a:prstDash val="solid"/>
                      <a:round/>
                      <a:headEnd type="none" w="med" len="med"/>
                      <a:tailEnd type="none" w="med" len="med"/>
                    </a:lnB>
                    <a:solidFill>
                      <a:schemeClr val="bg2"/>
                    </a:solidFill>
                  </a:tcPr>
                </a:tc>
                <a:tc>
                  <a:txBody>
                    <a:bodyPr/>
                    <a:lstStyle/>
                    <a:p>
                      <a:pPr indent="0" marL="0">
                        <a:buNone/>
                      </a:pPr>
                      <a:r>
                        <a:rPr lang="en-US" sz="1100" dirty="0">
                          <a:solidFill>
                            <a:schemeClr val="tx1"/>
                          </a:solidFill>
                          <a:latin typeface="+mn-lt" pitchFamily="34" charset="0"/>
                          <a:ea typeface="+mn-lt" pitchFamily="34" charset="-122"/>
                          <a:cs typeface="+mn-lt" pitchFamily="34" charset="-120"/>
                        </a:rPr>
                        <a:t>Chin + symphysis stable and reliable</a:t>
                      </a:r>
                      <a:endParaRPr lang="en-US" sz="1100" dirty="0">
                        <a:latin typeface="+mn-lt" charset="0"/>
                        <a:ea typeface="+mn-lt" charset="0"/>
                        <a:cs typeface="+mn-lt" charset="0"/>
                      </a:endParaRPr>
                    </a:p>
                  </a:txBody>
                  <a:tcPr marL="45720" marR="45720" marT="45720" marB="45720" anchor="t">
                    <a:lnL w="6350" cap="flat" cmpd="sng" algn="ctr">
                      <a:solidFill>
                        <a:srgbClr val="D9E0E8"/>
                      </a:solidFill>
                      <a:prstDash val="solid"/>
                      <a:round/>
                      <a:headEnd type="none" w="med" len="med"/>
                      <a:tailEnd type="none" w="med" len="med"/>
                    </a:lnL>
                    <a:lnR w="6350" cap="flat" cmpd="sng" algn="ctr">
                      <a:solidFill>
                        <a:srgbClr val="D9E0E8"/>
                      </a:solidFill>
                      <a:prstDash val="solid"/>
                      <a:round/>
                      <a:headEnd type="none" w="med" len="med"/>
                      <a:tailEnd type="none" w="med" len="med"/>
                    </a:lnR>
                    <a:lnT w="6350" cap="flat" cmpd="sng" algn="ctr">
                      <a:solidFill>
                        <a:srgbClr val="D9E0E8"/>
                      </a:solidFill>
                      <a:prstDash val="solid"/>
                      <a:round/>
                      <a:headEnd type="none" w="med" len="med"/>
                      <a:tailEnd type="none" w="med" len="med"/>
                    </a:lnT>
                    <a:lnB w="6350" cap="flat" cmpd="sng" algn="ctr">
                      <a:solidFill>
                        <a:srgbClr val="D9E0E8"/>
                      </a:solidFill>
                      <a:prstDash val="solid"/>
                      <a:round/>
                      <a:headEnd type="none" w="med" len="med"/>
                      <a:tailEnd type="none" w="med" len="med"/>
                    </a:lnB>
                    <a:solidFill>
                      <a:schemeClr val="bg2"/>
                    </a:solidFill>
                  </a:tcPr>
                </a:tc>
              </a:tr>
            </a:tbl>
          </a:graphicData>
        </a:graphic>
      </p:graphicFrame>
      <p:sp>
        <p:nvSpPr>
          <p:cNvPr id="25" name="Slide Number Placeholder 0"/>
          <p:cNvSpPr>
            <a:spLocks noGrp="1"/>
          </p:cNvSpPr>
          <p:nvPr>
            <p:ph type="sldNum" sz="quarter" idx="4294967295"/>
          </p:nvPr>
        </p:nvSpPr>
        <p:spPr>
          <a:xfrm>
            <a:off x="8321040" y="4754880"/>
            <a:ext cx="36576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l"/>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731520"/>
          </a:xfrm>
          <a:prstGeom prst="rect">
            <a:avLst/>
          </a:prstGeom>
          <a:noFill/>
          <a:ln/>
        </p:spPr>
        <p:txBody>
          <a:bodyPr wrap="square" lIns="0" tIns="0" rIns="0" bIns="0" rtlCol="0" anchor="ctr"/>
          <a:lstStyle/>
          <a:p>
            <a:pPr algn="l" indent="0" marL="0">
              <a:buNone/>
            </a:pPr>
            <a:r>
              <a:rPr lang="en-US" sz="2800" b="1" dirty="0">
                <a:solidFill>
                  <a:schemeClr val="tx2"/>
                </a:solidFill>
              </a:rPr>
              <a:t>Stable and unstable structures: the map</a:t>
            </a:r>
            <a:endParaRPr lang="en-US" sz="2800" dirty="0"/>
          </a:p>
        </p:txBody>
      </p:sp>
      <p:pic>
        <p:nvPicPr>
          <p:cNvPr id="3" name="figure" descr="H:\DRIVE\SBO\R2 Articles\topics\01-superimposition-methods\figures\stable-structures.png">    </p:cNvPr>
          <p:cNvPicPr>
            <a:picLocks noChangeAspect="1"/>
          </p:cNvPicPr>
          <p:nvPr/>
        </p:nvPicPr>
        <p:blipFill>
          <a:blip r:embed="rId1"/>
          <a:stretch>
            <a:fillRect/>
          </a:stretch>
        </p:blipFill>
        <p:spPr>
          <a:xfrm>
            <a:off x="731520" y="1188720"/>
            <a:ext cx="7680960" cy="3200400"/>
          </a:xfrm>
          <a:prstGeom prst="rect">
            <a:avLst/>
          </a:prstGeom>
        </p:spPr>
      </p:pic>
      <p:sp>
        <p:nvSpPr>
          <p:cNvPr id="4" name="caption"/>
          <p:cNvSpPr txBox="1"/>
          <p:nvPr/>
        </p:nvSpPr>
        <p:spPr>
          <a:xfrm>
            <a:off x="457200" y="4480560"/>
            <a:ext cx="8229600" cy="274320"/>
          </a:xfrm>
          <a:prstGeom prst="rect">
            <a:avLst/>
          </a:prstGeom>
          <a:noFill/>
          <a:ln/>
        </p:spPr>
        <p:txBody>
          <a:bodyPr wrap="square" lIns="0" tIns="0" rIns="0" bIns="0" rtlCol="0" anchor="ctr"/>
          <a:lstStyle/>
          <a:p>
            <a:pPr marL="177800" indent="-177800">
              <a:spcAft>
                <a:spcPts val="600"/>
              </a:spcAft>
              <a:buSzPct val="100000"/>
              <a:buChar char="•"/>
            </a:pPr>
            <a:r>
              <a:rPr lang="en-US" sz="1200" dirty="0">
                <a:solidFill>
                  <a:srgbClr val="000000"/>
                </a:solidFill>
              </a:rPr>
              <a:t>Maxilla, stable: anterior zygomatic surface (AP); posterior contour; orbital : nasal floor 3 : 2 vertically.</a:t>
            </a:r>
            <a:endParaRPr lang="en-US" sz="1200" dirty="0"/>
          </a:p>
          <a:p>
            <a:pPr marL="177800" indent="-177800">
              <a:spcAft>
                <a:spcPts val="600"/>
              </a:spcAft>
              <a:buSzPct val="100000"/>
              <a:buChar char="•"/>
            </a:pPr>
            <a:r>
              <a:rPr lang="en-US" sz="1200" dirty="0">
                <a:solidFill>
                  <a:srgbClr val="000000"/>
                </a:solidFill>
              </a:rPr>
              <a:t>Maxilla, unstable: ANS, A point, PNS, PTM, foramen, palate borders; palatal plane rotates +0.92°, SD 2.1°.</a:t>
            </a:r>
            <a:endParaRPr lang="en-US" sz="1200" dirty="0"/>
          </a:p>
        </p:txBody>
      </p:sp>
      <p:sp>
        <p:nvSpPr>
          <p:cNvPr id="25" name="Slide Number Placeholder 0"/>
          <p:cNvSpPr>
            <a:spLocks noGrp="1"/>
          </p:cNvSpPr>
          <p:nvPr>
            <p:ph type="sldNum" sz="quarter" idx="4294967295"/>
          </p:nvPr>
        </p:nvSpPr>
        <p:spPr>
          <a:xfrm>
            <a:off x="8321040" y="4754880"/>
            <a:ext cx="36576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l"/>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731520"/>
          </a:xfrm>
          <a:prstGeom prst="rect">
            <a:avLst/>
          </a:prstGeom>
          <a:noFill/>
          <a:ln/>
        </p:spPr>
        <p:txBody>
          <a:bodyPr wrap="square" lIns="0" tIns="0" rIns="0" bIns="0" rtlCol="0" anchor="ctr"/>
          <a:lstStyle/>
          <a:p>
            <a:pPr algn="l" indent="0" marL="0">
              <a:buNone/>
            </a:pPr>
            <a:r>
              <a:rPr lang="en-US" sz="2800" b="1" dirty="0">
                <a:solidFill>
                  <a:schemeClr val="tx2"/>
                </a:solidFill>
              </a:rPr>
              <a:t>Reading our own cephalograms and CBCTs</a:t>
            </a:r>
            <a:endParaRPr lang="en-US" sz="2800" dirty="0"/>
          </a:p>
        </p:txBody>
      </p:sp>
      <p:sp>
        <p:nvSpPr>
          <p:cNvPr id="3" name="Text 0"/>
          <p:cNvSpPr/>
          <p:nvPr>
            <p:ph idx="101" type="body" hasCustomPrompt="1"/>
          </p:nvPr>
        </p:nvSpPr>
        <p:spPr>
          <a:xfrm>
            <a:off x="457200" y="1188720"/>
            <a:ext cx="8229600" cy="3429000"/>
          </a:xfrm>
          <a:prstGeom prst="rect">
            <a:avLst/>
          </a:prstGeom>
          <a:noFill/>
          <a:ln/>
        </p:spPr>
        <p:txBody>
          <a:bodyPr wrap="square" lIns="0" tIns="0" rIns="0" bIns="0" rtlCol="0" anchor="t"/>
          <a:lstStyle/>
          <a:p>
            <a:pPr marL="177800" indent="-177800">
              <a:spcAft>
                <a:spcPts val="600"/>
              </a:spcAft>
              <a:buSzPct val="100000"/>
              <a:buChar char="•"/>
            </a:pPr>
            <a:r>
              <a:rPr lang="en-US" sz="1600" dirty="0">
                <a:solidFill>
                  <a:schemeClr val="tx1"/>
                </a:solidFill>
              </a:rPr>
              <a:t>First question for any change value: registered on what?</a:t>
            </a:r>
            <a:endParaRPr lang="en-US" sz="1600" dirty="0"/>
          </a:p>
          <a:p>
            <a:pPr marL="177800" indent="-177800">
              <a:spcAft>
                <a:spcPts val="600"/>
              </a:spcAft>
              <a:buSzPct val="100000"/>
              <a:buChar char="•"/>
            </a:pPr>
            <a:r>
              <a:rPr lang="en-US" sz="1600" dirty="0">
                <a:solidFill>
                  <a:schemeClr val="tx1"/>
                </a:solidFill>
              </a:rPr>
              <a:t>Palatal registration under-reads upper eruption: ≈ 0.3–0.6 mm/y at 10–14 y (derived, Nielsen Table III).</a:t>
            </a:r>
            <a:endParaRPr lang="en-US" sz="1600" dirty="0"/>
          </a:p>
          <a:p>
            <a:pPr marL="177800" indent="-177800">
              <a:spcAft>
                <a:spcPts val="600"/>
              </a:spcAft>
              <a:buSzPct val="100000"/>
              <a:buChar char="•"/>
            </a:pPr>
            <a:r>
              <a:rPr lang="en-US" sz="1600" dirty="0">
                <a:solidFill>
                  <a:schemeClr val="tx1"/>
                </a:solidFill>
              </a:rPr>
              <a:t>2D resolves 0.5 mm (Doppel): group differences below 0.5 mm are not readable on tracings.</a:t>
            </a:r>
            <a:endParaRPr lang="en-US" sz="1600" dirty="0"/>
          </a:p>
          <a:p>
            <a:pPr marL="177800" indent="-177800">
              <a:spcAft>
                <a:spcPts val="600"/>
              </a:spcAft>
              <a:buSzPct val="100000"/>
              <a:buChar char="•"/>
            </a:pPr>
            <a:r>
              <a:rPr lang="en-US" sz="1600" dirty="0">
                <a:solidFill>
                  <a:schemeClr val="tx1"/>
                </a:solidFill>
              </a:rPr>
              <a:t>Mandible: chin + inner symphysis; corpus axis errs ≥ 4 mm in ≈ 10 % (Springate &amp; Jones, registry).</a:t>
            </a:r>
            <a:endParaRPr lang="en-US" sz="1600" dirty="0"/>
          </a:p>
          <a:p>
            <a:pPr marL="177800" indent="-177800">
              <a:spcAft>
                <a:spcPts val="600"/>
              </a:spcAft>
              <a:buSzPct val="100000"/>
              <a:buChar char="•"/>
            </a:pPr>
            <a:r>
              <a:rPr lang="en-US" sz="1600" dirty="0">
                <a:solidFill>
                  <a:schemeClr val="tx1"/>
                </a:solidFill>
              </a:rPr>
              <a:t>Khaleel 2026 (registry): palatal vault + corpus axis over 44–94 d; arm differences 0.2–0.35 mm, sub-resolution.</a:t>
            </a:r>
            <a:endParaRPr lang="en-US" sz="1600" dirty="0"/>
          </a:p>
        </p:txBody>
      </p:sp>
      <p:sp>
        <p:nvSpPr>
          <p:cNvPr id="25" name="Slide Number Placeholder 0"/>
          <p:cNvSpPr>
            <a:spLocks noGrp="1"/>
          </p:cNvSpPr>
          <p:nvPr>
            <p:ph type="sldNum" sz="quarter" idx="4294967295"/>
          </p:nvPr>
        </p:nvSpPr>
        <p:spPr>
          <a:xfrm>
            <a:off x="8321040" y="4754880"/>
            <a:ext cx="36576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l"/>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731520"/>
          </a:xfrm>
          <a:prstGeom prst="rect">
            <a:avLst/>
          </a:prstGeom>
          <a:noFill/>
          <a:ln/>
        </p:spPr>
        <p:txBody>
          <a:bodyPr wrap="square" lIns="0" tIns="0" rIns="0" bIns="0" rtlCol="0" anchor="ctr"/>
          <a:lstStyle/>
          <a:p>
            <a:pPr algn="l" indent="0" marL="0">
              <a:buNone/>
            </a:pPr>
            <a:r>
              <a:rPr lang="en-US" sz="2800" b="1" dirty="0">
                <a:solidFill>
                  <a:schemeClr val="tx2"/>
                </a:solidFill>
              </a:rPr>
              <a:t>Limitations across the topic</a:t>
            </a:r>
            <a:endParaRPr lang="en-US" sz="2800" dirty="0"/>
          </a:p>
        </p:txBody>
      </p:sp>
      <p:sp>
        <p:nvSpPr>
          <p:cNvPr id="3" name="Text 0"/>
          <p:cNvSpPr/>
          <p:nvPr>
            <p:ph idx="101" type="body" hasCustomPrompt="1"/>
          </p:nvPr>
        </p:nvSpPr>
        <p:spPr>
          <a:xfrm>
            <a:off x="457200" y="1188720"/>
            <a:ext cx="8229600" cy="3429000"/>
          </a:xfrm>
          <a:prstGeom prst="rect">
            <a:avLst/>
          </a:prstGeom>
          <a:noFill/>
          <a:ln/>
        </p:spPr>
        <p:txBody>
          <a:bodyPr wrap="square" lIns="0" tIns="0" rIns="0" bIns="0" rtlCol="0" anchor="t"/>
          <a:lstStyle/>
          <a:p>
            <a:pPr marL="177800" indent="-177800">
              <a:spcAft>
                <a:spcPts val="600"/>
              </a:spcAft>
              <a:buSzPct val="100000"/>
              <a:buChar char="•"/>
            </a:pPr>
            <a:r>
              <a:rPr lang="en-US" sz="1600" dirty="0">
                <a:solidFill>
                  <a:schemeClr val="tx1"/>
                </a:solidFill>
              </a:rPr>
              <a:t>All retrospective, best-film samples: 50 of ≈ 700; 18 of 35; database scans minus artefacts.</a:t>
            </a:r>
            <a:endParaRPr lang="en-US" sz="1600" dirty="0"/>
          </a:p>
          <a:p>
            <a:pPr marL="177800" indent="-177800">
              <a:spcAft>
                <a:spcPts val="600"/>
              </a:spcAft>
              <a:buSzPct val="100000"/>
              <a:buChar char="•"/>
            </a:pPr>
            <a:r>
              <a:rPr lang="en-US" sz="1600" dirty="0">
                <a:solidFill>
                  <a:schemeClr val="tx1"/>
                </a:solidFill>
              </a:rPr>
              <a:t>Treated samples: Doppel majority, Nguyen all; Nielsen mixed and could not separate them.</a:t>
            </a:r>
            <a:endParaRPr lang="en-US" sz="1600" dirty="0"/>
          </a:p>
          <a:p>
            <a:pPr marL="177800" indent="-177800">
              <a:spcAft>
                <a:spcPts val="600"/>
              </a:spcAft>
              <a:buSzPct val="100000"/>
              <a:buChar char="•"/>
            </a:pPr>
            <a:r>
              <a:rPr lang="en-US" sz="1600" dirty="0">
                <a:solidFill>
                  <a:schemeClr val="tx1"/>
                </a:solidFill>
              </a:rPr>
              <a:t>Pubertal intervals only (4.2 y, 4 y, ≈ 1 y): no adults, no 3D data beyond one year.</a:t>
            </a:r>
            <a:endParaRPr lang="en-US" sz="1600" dirty="0"/>
          </a:p>
          <a:p>
            <a:pPr marL="177800" indent="-177800">
              <a:spcAft>
                <a:spcPts val="600"/>
              </a:spcAft>
              <a:buSzPct val="100000"/>
              <a:buChar char="•"/>
            </a:pPr>
            <a:r>
              <a:rPr lang="en-US" sz="1600" dirty="0">
                <a:solidFill>
                  <a:schemeClr val="tx1"/>
                </a:solidFill>
              </a:rPr>
              <a:t>Gold standards carry error: closely spaced implants, not all bilateral, loaded plates checked clinically only.</a:t>
            </a:r>
            <a:endParaRPr lang="en-US" sz="1600" dirty="0"/>
          </a:p>
          <a:p>
            <a:pPr marL="177800" indent="-177800">
              <a:spcAft>
                <a:spcPts val="600"/>
              </a:spcAft>
              <a:buSzPct val="100000"/>
              <a:buChar char="•"/>
            </a:pPr>
            <a:r>
              <a:rPr lang="en-US" sz="1600" dirty="0">
                <a:solidFill>
                  <a:schemeClr val="tx1"/>
                </a:solidFill>
              </a:rPr>
              <a:t>Reporting slips: Nielsen Table IV footnote; Nguyen ± 1.1 vs ± 0.11; Doppel 32 % vs 34/50.</a:t>
            </a:r>
            <a:endParaRPr lang="en-US" sz="1600" dirty="0"/>
          </a:p>
        </p:txBody>
      </p:sp>
      <p:sp>
        <p:nvSpPr>
          <p:cNvPr id="25" name="Slide Number Placeholder 0"/>
          <p:cNvSpPr>
            <a:spLocks noGrp="1"/>
          </p:cNvSpPr>
          <p:nvPr>
            <p:ph type="sldNum" sz="quarter" idx="4294967295"/>
          </p:nvPr>
        </p:nvSpPr>
        <p:spPr>
          <a:xfrm>
            <a:off x="8321040" y="4754880"/>
            <a:ext cx="36576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l"/>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731520"/>
          </a:xfrm>
          <a:prstGeom prst="rect">
            <a:avLst/>
          </a:prstGeom>
          <a:noFill/>
          <a:ln/>
        </p:spPr>
        <p:txBody>
          <a:bodyPr wrap="square" lIns="0" tIns="0" rIns="0" bIns="0" rtlCol="0" anchor="ctr"/>
          <a:lstStyle/>
          <a:p>
            <a:pPr algn="l" indent="0" marL="0">
              <a:buNone/>
            </a:pPr>
            <a:r>
              <a:rPr lang="en-US" sz="2800" b="1" dirty="0">
                <a:solidFill>
                  <a:schemeClr val="tx2"/>
                </a:solidFill>
              </a:rPr>
              <a:t>What the textbook says</a:t>
            </a:r>
            <a:endParaRPr lang="en-US" sz="2800" dirty="0"/>
          </a:p>
        </p:txBody>
      </p:sp>
      <p:sp>
        <p:nvSpPr>
          <p:cNvPr id="3" name="Text 0"/>
          <p:cNvSpPr/>
          <p:nvPr>
            <p:ph idx="101" type="body" hasCustomPrompt="1"/>
          </p:nvPr>
        </p:nvSpPr>
        <p:spPr>
          <a:xfrm>
            <a:off x="457200" y="1188720"/>
            <a:ext cx="8229600" cy="3429000"/>
          </a:xfrm>
          <a:prstGeom prst="rect">
            <a:avLst/>
          </a:prstGeom>
          <a:noFill/>
          <a:ln/>
        </p:spPr>
        <p:txBody>
          <a:bodyPr wrap="square" lIns="0" tIns="0" rIns="0" bIns="0" rtlCol="0" anchor="t"/>
          <a:lstStyle/>
          <a:p>
            <a:pPr marL="177800" indent="-177800">
              <a:spcAft>
                <a:spcPts val="600"/>
              </a:spcAft>
              <a:buSzPct val="100000"/>
              <a:buChar char="•"/>
            </a:pPr>
            <a:r>
              <a:rPr lang="en-US" sz="1600" dirty="0">
                <a:solidFill>
                  <a:schemeClr val="tx1"/>
                </a:solidFill>
              </a:rPr>
              <a:t>Proffit Ch 6: cranial base; maxilla "maximum contour" (Fig 6.59); mandible on symphysis (Fig 6.60) (study pages, UNVERIFIED).</a:t>
            </a:r>
            <a:endParaRPr lang="en-US" sz="1600" dirty="0"/>
          </a:p>
          <a:p>
            <a:pPr marL="177800" indent="-177800">
              <a:spcAft>
                <a:spcPts val="600"/>
              </a:spcAft>
              <a:buSzPct val="100000"/>
              <a:buChar char="•"/>
            </a:pPr>
            <a:r>
              <a:rPr lang="en-US" sz="1600" dirty="0">
                <a:solidFill>
                  <a:schemeClr val="tx1"/>
                </a:solidFill>
              </a:rPr>
              <a:t>Proffit Ch 4: implants show internal rotation of both jaws, masked by surface remodelling (study pages, UNVERIFIED).</a:t>
            </a:r>
            <a:endParaRPr lang="en-US" sz="1600" dirty="0"/>
          </a:p>
          <a:p>
            <a:pPr marL="177800" indent="-177800">
              <a:spcAft>
                <a:spcPts val="600"/>
              </a:spcAft>
              <a:buSzPct val="100000"/>
              <a:buChar char="•"/>
            </a:pPr>
            <a:r>
              <a:rPr lang="en-US" sz="1600" dirty="0">
                <a:solidFill>
                  <a:schemeClr val="tx1"/>
                </a:solidFill>
              </a:rPr>
              <a:t>Proffit Ch 2: implant radiography "largely superseded by 3-D imaging" (study pages, UNVERIFIED).</a:t>
            </a:r>
            <a:endParaRPr lang="en-US" sz="1600" dirty="0"/>
          </a:p>
          <a:p>
            <a:pPr marL="177800" indent="-177800">
              <a:spcAft>
                <a:spcPts val="600"/>
              </a:spcAft>
              <a:buSzPct val="100000"/>
              <a:buChar char="•"/>
            </a:pPr>
            <a:r>
              <a:rPr lang="en-US" sz="1600" dirty="0">
                <a:solidFill>
                  <a:schemeClr val="tx1"/>
                </a:solidFill>
              </a:rPr>
              <a:t>ABO maxillary method: zygomatic processes, orbital and palatal floors, 3/5 : 2/5 (literature, UNVERIFIED) = Doppel.</a:t>
            </a:r>
            <a:endParaRPr lang="en-US" sz="1600" dirty="0"/>
          </a:p>
          <a:p>
            <a:pPr marL="177800" indent="-177800">
              <a:spcAft>
                <a:spcPts val="600"/>
              </a:spcAft>
              <a:buSzPct val="100000"/>
              <a:buChar char="•"/>
            </a:pPr>
            <a:r>
              <a:rPr lang="en-US" sz="1600" dirty="0">
                <a:solidFill>
                  <a:schemeClr val="tx1"/>
                </a:solidFill>
              </a:rPr>
              <a:t>ABO mandibular list keeps canal and third-molar bud (literature, UNVERIFIED); Nguyen drops both in 3D.</a:t>
            </a:r>
            <a:endParaRPr lang="en-US" sz="1600" dirty="0"/>
          </a:p>
        </p:txBody>
      </p:sp>
      <p:sp>
        <p:nvSpPr>
          <p:cNvPr id="25" name="Slide Number Placeholder 0"/>
          <p:cNvSpPr>
            <a:spLocks noGrp="1"/>
          </p:cNvSpPr>
          <p:nvPr>
            <p:ph type="sldNum" sz="quarter" idx="4294967295"/>
          </p:nvPr>
        </p:nvSpPr>
        <p:spPr>
          <a:xfrm>
            <a:off x="8321040" y="4754880"/>
            <a:ext cx="36576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l"/>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731520"/>
          </a:xfrm>
          <a:prstGeom prst="rect">
            <a:avLst/>
          </a:prstGeom>
          <a:noFill/>
          <a:ln/>
        </p:spPr>
        <p:txBody>
          <a:bodyPr wrap="square" lIns="0" tIns="0" rIns="0" bIns="0" rtlCol="0" anchor="ctr"/>
          <a:lstStyle/>
          <a:p>
            <a:pPr algn="l" indent="0" marL="0">
              <a:buNone/>
            </a:pPr>
            <a:r>
              <a:rPr lang="en-US" sz="2800" b="1" dirty="0">
                <a:solidFill>
                  <a:schemeClr val="tx2"/>
                </a:solidFill>
              </a:rPr>
              <a:t>Open questions and the future</a:t>
            </a:r>
            <a:endParaRPr lang="en-US" sz="2800" dirty="0"/>
          </a:p>
        </p:txBody>
      </p:sp>
      <p:sp>
        <p:nvSpPr>
          <p:cNvPr id="3" name="Text 0"/>
          <p:cNvSpPr/>
          <p:nvPr>
            <p:ph idx="101" type="body" hasCustomPrompt="1"/>
          </p:nvPr>
        </p:nvSpPr>
        <p:spPr>
          <a:xfrm>
            <a:off x="457200" y="1188720"/>
            <a:ext cx="8229600" cy="3429000"/>
          </a:xfrm>
          <a:prstGeom prst="rect">
            <a:avLst/>
          </a:prstGeom>
          <a:noFill/>
          <a:ln/>
        </p:spPr>
        <p:txBody>
          <a:bodyPr wrap="square" lIns="0" tIns="0" rIns="0" bIns="0" rtlCol="0" anchor="t"/>
          <a:lstStyle/>
          <a:p>
            <a:pPr marL="177800" indent="-177800">
              <a:spcAft>
                <a:spcPts val="600"/>
              </a:spcAft>
              <a:buSzPct val="100000"/>
              <a:buChar char="•"/>
            </a:pPr>
            <a:r>
              <a:rPr lang="en-US" sz="1600" dirty="0">
                <a:solidFill>
                  <a:schemeClr val="tx1"/>
                </a:solidFill>
              </a:rPr>
              <a:t>No 3D maxillary region validated against implants; current work tests reproducibility only (literature, UNVERIFIED).</a:t>
            </a:r>
            <a:endParaRPr lang="en-US" sz="1600" dirty="0"/>
          </a:p>
          <a:p>
            <a:pPr marL="177800" indent="-177800">
              <a:spcAft>
                <a:spcPts val="600"/>
              </a:spcAft>
              <a:buSzPct val="100000"/>
              <a:buChar char="•"/>
            </a:pPr>
            <a:r>
              <a:rPr lang="en-US" sz="1600" dirty="0">
                <a:solidFill>
                  <a:schemeClr val="tx1"/>
                </a:solidFill>
              </a:rPr>
              <a:t>Graf 2022 review: 27 studies, 25 at high risk of bias; no method proved accurate (literature, UNVERIFIED).</a:t>
            </a:r>
            <a:endParaRPr lang="en-US" sz="1600" dirty="0"/>
          </a:p>
          <a:p>
            <a:pPr marL="177800" indent="-177800">
              <a:spcAft>
                <a:spcPts val="600"/>
              </a:spcAft>
              <a:buSzPct val="100000"/>
              <a:buChar char="•"/>
            </a:pPr>
            <a:r>
              <a:rPr lang="en-US" sz="1600" dirty="0">
                <a:solidFill>
                  <a:schemeClr val="tx1"/>
                </a:solidFill>
              </a:rPr>
              <a:t>Chen 2020: chin and symphysis &lt; 1.0 mm over 4.6 y; foramina 3.0–3.4 mm (literature, UNVERIFIED).</a:t>
            </a:r>
            <a:endParaRPr lang="en-US" sz="1600" dirty="0"/>
          </a:p>
          <a:p>
            <a:pPr marL="177800" indent="-177800">
              <a:spcAft>
                <a:spcPts val="600"/>
              </a:spcAft>
              <a:buSzPct val="100000"/>
              <a:buChar char="•"/>
            </a:pPr>
            <a:r>
              <a:rPr lang="en-US" sz="1600" dirty="0">
                <a:solidFill>
                  <a:schemeClr val="tx1"/>
                </a:solidFill>
              </a:rPr>
              <a:t>Automated registration: AI RMSE 0.48 ± 0.35 vs observer 0.38 ± 0.22 mm, NS (Vasileiou 2026, literature, UNVERIFIED).</a:t>
            </a:r>
            <a:endParaRPr lang="en-US" sz="1600" dirty="0"/>
          </a:p>
          <a:p>
            <a:pPr marL="177800" indent="-177800">
              <a:spcAft>
                <a:spcPts val="600"/>
              </a:spcAft>
              <a:buSzPct val="100000"/>
              <a:buChar char="•"/>
            </a:pPr>
            <a:r>
              <a:rPr lang="en-US" sz="1600" dirty="0">
                <a:solidFill>
                  <a:schemeClr val="tx1"/>
                </a:solidFill>
              </a:rPr>
              <a:t>Dose: growth monitoring is not a Proffit CBCT indication; ≈ 0.1 vs 0.005 mSv (study pages, UNVERIFIED).</a:t>
            </a:r>
            <a:endParaRPr lang="en-US" sz="1600" dirty="0"/>
          </a:p>
        </p:txBody>
      </p:sp>
      <p:sp>
        <p:nvSpPr>
          <p:cNvPr id="25" name="Slide Number Placeholder 0"/>
          <p:cNvSpPr>
            <a:spLocks noGrp="1"/>
          </p:cNvSpPr>
          <p:nvPr>
            <p:ph type="sldNum" sz="quarter" idx="4294967295"/>
          </p:nvPr>
        </p:nvSpPr>
        <p:spPr>
          <a:xfrm>
            <a:off x="8321040" y="4754880"/>
            <a:ext cx="36576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l"/>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731520"/>
          </a:xfrm>
          <a:prstGeom prst="rect">
            <a:avLst/>
          </a:prstGeom>
          <a:noFill/>
          <a:ln/>
        </p:spPr>
        <p:txBody>
          <a:bodyPr wrap="square" lIns="0" tIns="0" rIns="0" bIns="0" rtlCol="0" anchor="ctr"/>
          <a:lstStyle/>
          <a:p>
            <a:pPr algn="l" indent="0" marL="0">
              <a:buNone/>
            </a:pPr>
            <a:r>
              <a:rPr lang="en-US" sz="2800" b="1" dirty="0">
                <a:solidFill>
                  <a:schemeClr val="tx2"/>
                </a:solidFill>
              </a:rPr>
              <a:t>Summary</a:t>
            </a:r>
            <a:endParaRPr lang="en-US" sz="2800" dirty="0"/>
          </a:p>
        </p:txBody>
      </p:sp>
      <p:sp>
        <p:nvSpPr>
          <p:cNvPr id="3" name="Text 0"/>
          <p:cNvSpPr/>
          <p:nvPr>
            <p:ph idx="101" type="body" hasCustomPrompt="1"/>
          </p:nvPr>
        </p:nvSpPr>
        <p:spPr>
          <a:xfrm>
            <a:off x="457200" y="1188720"/>
            <a:ext cx="8229600" cy="3429000"/>
          </a:xfrm>
          <a:prstGeom prst="rect">
            <a:avLst/>
          </a:prstGeom>
          <a:noFill/>
          <a:ln/>
        </p:spPr>
        <p:txBody>
          <a:bodyPr wrap="square" lIns="0" tIns="0" rIns="0" bIns="0" rtlCol="0" anchor="t"/>
          <a:lstStyle/>
          <a:p>
            <a:pPr marL="177800" indent="-177800">
              <a:spcAft>
                <a:spcPts val="600"/>
              </a:spcAft>
              <a:buSzPct val="100000"/>
              <a:buChar char="•"/>
            </a:pPr>
            <a:r>
              <a:rPr lang="en-US" sz="1600" dirty="0">
                <a:solidFill>
                  <a:schemeClr val="tx1"/>
                </a:solidFill>
              </a:rPr>
              <a:t>Palatal best fit hides ≈ 30 % of molar, ≈ 50 % of incisor eruption over 4 years (Nielsen).</a:t>
            </a:r>
            <a:endParaRPr lang="en-US" sz="1600" dirty="0"/>
          </a:p>
          <a:p>
            <a:pPr marL="177800" indent="-177800">
              <a:spcAft>
                <a:spcPts val="600"/>
              </a:spcAft>
              <a:buSzPct val="100000"/>
              <a:buChar char="•"/>
            </a:pPr>
            <a:r>
              <a:rPr lang="en-US" sz="1600" dirty="0">
                <a:solidFill>
                  <a:schemeClr val="tx1"/>
                </a:solidFill>
              </a:rPr>
              <a:t>Maxillary reference: zygomatic process; orbital floor rises 1.5× what the palate lowers (Doppel).</a:t>
            </a:r>
            <a:endParaRPr lang="en-US" sz="1600" dirty="0"/>
          </a:p>
          <a:p>
            <a:pPr marL="177800" indent="-177800">
              <a:spcAft>
                <a:spcPts val="600"/>
              </a:spcAft>
              <a:buSzPct val="100000"/>
              <a:buChar char="•"/>
            </a:pPr>
            <a:r>
              <a:rPr lang="en-US" sz="1600" dirty="0">
                <a:solidFill>
                  <a:schemeClr val="tx1"/>
                </a:solidFill>
              </a:rPr>
              <a:t>ANS, PNS, PTM, A point and the palatal plane are not registration points (both).</a:t>
            </a:r>
            <a:endParaRPr lang="en-US" sz="1600" dirty="0"/>
          </a:p>
          <a:p>
            <a:pPr marL="177800" indent="-177800">
              <a:spcAft>
                <a:spcPts val="600"/>
              </a:spcAft>
              <a:buSzPct val="100000"/>
              <a:buChar char="•"/>
            </a:pPr>
            <a:r>
              <a:rPr lang="en-US" sz="1600" dirty="0">
                <a:solidFill>
                  <a:schemeClr val="tx1"/>
                </a:solidFill>
              </a:rPr>
              <a:t>3D mandibular reference: chin + inner symphysis, 0.37–0.40 mm over ≈ 1 y; 0.12 mm interobserver (Nguyen).</a:t>
            </a:r>
            <a:endParaRPr lang="en-US" sz="1600" dirty="0"/>
          </a:p>
          <a:p>
            <a:pPr marL="177800" indent="-177800">
              <a:spcAft>
                <a:spcPts val="600"/>
              </a:spcAft>
              <a:buSzPct val="100000"/>
              <a:buChar char="•"/>
            </a:pPr>
            <a:r>
              <a:rPr lang="en-US" sz="1600" dirty="0">
                <a:solidFill>
                  <a:schemeClr val="tx1"/>
                </a:solidFill>
              </a:rPr>
              <a:t>2D tracing resolves 0.5 mm; first question about any number: registered on what?</a:t>
            </a:r>
            <a:endParaRPr lang="en-US" sz="1600" dirty="0"/>
          </a:p>
        </p:txBody>
      </p:sp>
      <p:sp>
        <p:nvSpPr>
          <p:cNvPr id="25" name="Slide Number Placeholder 0"/>
          <p:cNvSpPr>
            <a:spLocks noGrp="1"/>
          </p:cNvSpPr>
          <p:nvPr>
            <p:ph type="sldNum" sz="quarter" idx="4294967295"/>
          </p:nvPr>
        </p:nvSpPr>
        <p:spPr>
          <a:xfrm>
            <a:off x="8321040" y="4754880"/>
            <a:ext cx="36576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l"/>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640080" y="1371600"/>
            <a:ext cx="7863840" cy="1463040"/>
          </a:xfrm>
          <a:prstGeom prst="rect">
            <a:avLst/>
          </a:prstGeom>
          <a:noFill/>
          <a:ln/>
        </p:spPr>
        <p:txBody>
          <a:bodyPr wrap="square" lIns="0" tIns="0" rIns="0" bIns="0" rtlCol="0" anchor="b"/>
          <a:lstStyle/>
          <a:p>
            <a:pPr indent="0" marL="0">
              <a:buNone/>
            </a:pPr>
            <a:r>
              <a:rPr lang="en-US" sz="3600" b="1" dirty="0">
                <a:solidFill>
                  <a:schemeClr val="bg1"/>
                </a:solidFill>
              </a:rPr>
              <a:t>Questions</a:t>
            </a:r>
            <a:endParaRPr lang="en-US" sz="3600" dirty="0"/>
          </a:p>
        </p:txBody>
      </p:sp>
      <p:sp>
        <p:nvSpPr>
          <p:cNvPr id="3" name="Text 0"/>
          <p:cNvSpPr/>
          <p:nvPr>
            <p:ph idx="101" type="body" hasCustomPrompt="1"/>
          </p:nvPr>
        </p:nvSpPr>
        <p:spPr>
          <a:xfrm>
            <a:off x="640080" y="2971800"/>
            <a:ext cx="7863840" cy="1097280"/>
          </a:xfrm>
          <a:prstGeom prst="rect">
            <a:avLst/>
          </a:prstGeom>
          <a:noFill/>
          <a:ln/>
        </p:spPr>
        <p:txBody>
          <a:bodyPr wrap="square" lIns="0" tIns="0" rIns="0" bIns="0" rtlCol="0"/>
          <a:lstStyle/>
          <a:p>
            <a:pPr indent="0" marL="0">
              <a:buNone/>
            </a:pPr>
            <a:r>
              <a:rPr lang="en-US" sz="1600" dirty="0">
                <a:solidFill>
                  <a:schemeClr val="bg2"/>
                </a:solidFill>
              </a:rPr>
              <a:t>Thank you. Questions?  ·  Three I would like your view on:  ·  Do we apply 1.5 : 1 at the orbital floor, or fit by eye?  ·  Which maxillary registration does the department use for treatment-change tracings?  ·  Should the canal and third-molar bud stay on our 2D mandibular list?</a:t>
            </a:r>
            <a:endParaRPr lang="en-US" sz="16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731520"/>
          </a:xfrm>
          <a:prstGeom prst="rect">
            <a:avLst/>
          </a:prstGeom>
          <a:noFill/>
          <a:ln/>
        </p:spPr>
        <p:txBody>
          <a:bodyPr wrap="square" lIns="0" tIns="0" rIns="0" bIns="0" rtlCol="0" anchor="ctr"/>
          <a:lstStyle/>
          <a:p>
            <a:pPr algn="l" indent="0" marL="0">
              <a:buNone/>
            </a:pPr>
            <a:r>
              <a:rPr lang="en-US" sz="2800" b="1" dirty="0">
                <a:solidFill>
                  <a:schemeClr val="tx2"/>
                </a:solidFill>
              </a:rPr>
              <a:t>Backup: the key tables</a:t>
            </a:r>
            <a:endParaRPr lang="en-US" sz="2800" dirty="0"/>
          </a:p>
        </p:txBody>
      </p:sp>
      <p:graphicFrame>
        <p:nvGraphicFramePr>
          <p:cNvPr id="20" name="table"/>
          <p:cNvGraphicFramePr>
            <a:graphicFrameLocks noGrp="1"/>
          </p:cNvGraphicFramePr>
          <p:nvPr>
            <p:extLst>
              <p:ext uri="{D42A27DB-BD31-4B8C-83A1-F6EECF244321}">
                <p14:modId xmlns:p14="http://schemas.microsoft.com/office/powerpoint/2010/main" val="1579011935"/>
              </p:ext>
            </p:extLst>
          </p:nvPr>
        </p:nvGraphicFramePr>
        <p:xfrm>
          <a:off x="457200" y="1188720"/>
          <a:ext cx="8229600" cy="914400"/>
        </p:xfrm>
        <a:graphic>
          <a:graphicData uri="http://schemas.openxmlformats.org/drawingml/2006/table">
            <a:tbl>
              <a:tblPr/>
              <a:tblGrid>
                <a:gridCol w="2139696"/>
                <a:gridCol w="1217981"/>
                <a:gridCol w="1217981"/>
                <a:gridCol w="1217981"/>
                <a:gridCol w="1217981"/>
                <a:gridCol w="1217981"/>
              </a:tblGrid>
              <a:tr h="0">
                <a:tc>
                  <a:txBody>
                    <a:bodyPr/>
                    <a:lstStyle/>
                    <a:p>
                      <a:pPr indent="0" marL="0">
                        <a:buNone/>
                      </a:pPr>
                      <a:r>
                        <a:rPr lang="en-US" sz="900" b="1" dirty="0">
                          <a:solidFill>
                            <a:schemeClr val="bg1"/>
                          </a:solidFill>
                          <a:latin typeface="+mn-lt" pitchFamily="34" charset="0"/>
                          <a:ea typeface="+mn-lt" pitchFamily="34" charset="-122"/>
                          <a:cs typeface="+mn-lt" pitchFamily="34" charset="-120"/>
                        </a:rPr>
                        <a:t>Structure</a:t>
                      </a:r>
                      <a:endParaRPr lang="en-US" sz="900" dirty="0">
                        <a:latin typeface="+mn-lt" charset="0"/>
                        <a:ea typeface="+mn-lt" charset="0"/>
                        <a:cs typeface="+mn-lt" charset="0"/>
                      </a:endParaRPr>
                    </a:p>
                  </a:txBody>
                  <a:tcPr marL="45720" marR="45720" marT="45720" marB="45720" anchor="t">
                    <a:lnL w="6350" cap="flat" cmpd="sng" algn="ctr">
                      <a:solidFill>
                        <a:srgbClr val="D9E0E8"/>
                      </a:solidFill>
                      <a:prstDash val="solid"/>
                      <a:round/>
                      <a:headEnd type="none" w="med" len="med"/>
                      <a:tailEnd type="none" w="med" len="med"/>
                    </a:lnL>
                    <a:lnR w="6350" cap="flat" cmpd="sng" algn="ctr">
                      <a:solidFill>
                        <a:srgbClr val="D9E0E8"/>
                      </a:solidFill>
                      <a:prstDash val="solid"/>
                      <a:round/>
                      <a:headEnd type="none" w="med" len="med"/>
                      <a:tailEnd type="none" w="med" len="med"/>
                    </a:lnR>
                    <a:lnT w="6350" cap="flat" cmpd="sng" algn="ctr">
                      <a:solidFill>
                        <a:srgbClr val="D9E0E8"/>
                      </a:solidFill>
                      <a:prstDash val="solid"/>
                      <a:round/>
                      <a:headEnd type="none" w="med" len="med"/>
                      <a:tailEnd type="none" w="med" len="med"/>
                    </a:lnT>
                    <a:lnB w="6350" cap="flat" cmpd="sng" algn="ctr">
                      <a:solidFill>
                        <a:srgbClr val="D9E0E8"/>
                      </a:solidFill>
                      <a:prstDash val="solid"/>
                      <a:round/>
                      <a:headEnd type="none" w="med" len="med"/>
                      <a:tailEnd type="none" w="med" len="med"/>
                    </a:lnB>
                    <a:solidFill>
                      <a:schemeClr val="tx2"/>
                    </a:solidFill>
                  </a:tcPr>
                </a:tc>
                <a:tc>
                  <a:txBody>
                    <a:bodyPr/>
                    <a:lstStyle/>
                    <a:p>
                      <a:pPr indent="0" marL="0">
                        <a:buNone/>
                      </a:pPr>
                      <a:r>
                        <a:rPr lang="en-US" sz="900" b="1" dirty="0">
                          <a:solidFill>
                            <a:schemeClr val="bg1"/>
                          </a:solidFill>
                          <a:latin typeface="+mn-lt" pitchFamily="34" charset="0"/>
                          <a:ea typeface="+mn-lt" pitchFamily="34" charset="-122"/>
                          <a:cs typeface="+mn-lt" pitchFamily="34" charset="-120"/>
                        </a:rPr>
                        <a:t>n</a:t>
                      </a:r>
                      <a:endParaRPr lang="en-US" sz="900" dirty="0">
                        <a:latin typeface="+mn-lt" charset="0"/>
                        <a:ea typeface="+mn-lt" charset="0"/>
                        <a:cs typeface="+mn-lt" charset="0"/>
                      </a:endParaRPr>
                    </a:p>
                  </a:txBody>
                  <a:tcPr marL="45720" marR="45720" marT="45720" marB="45720" anchor="t">
                    <a:lnL w="6350" cap="flat" cmpd="sng" algn="ctr">
                      <a:solidFill>
                        <a:srgbClr val="D9E0E8"/>
                      </a:solidFill>
                      <a:prstDash val="solid"/>
                      <a:round/>
                      <a:headEnd type="none" w="med" len="med"/>
                      <a:tailEnd type="none" w="med" len="med"/>
                    </a:lnL>
                    <a:lnR w="6350" cap="flat" cmpd="sng" algn="ctr">
                      <a:solidFill>
                        <a:srgbClr val="D9E0E8"/>
                      </a:solidFill>
                      <a:prstDash val="solid"/>
                      <a:round/>
                      <a:headEnd type="none" w="med" len="med"/>
                      <a:tailEnd type="none" w="med" len="med"/>
                    </a:lnR>
                    <a:lnT w="6350" cap="flat" cmpd="sng" algn="ctr">
                      <a:solidFill>
                        <a:srgbClr val="D9E0E8"/>
                      </a:solidFill>
                      <a:prstDash val="solid"/>
                      <a:round/>
                      <a:headEnd type="none" w="med" len="med"/>
                      <a:tailEnd type="none" w="med" len="med"/>
                    </a:lnT>
                    <a:lnB w="6350" cap="flat" cmpd="sng" algn="ctr">
                      <a:solidFill>
                        <a:srgbClr val="D9E0E8"/>
                      </a:solidFill>
                      <a:prstDash val="solid"/>
                      <a:round/>
                      <a:headEnd type="none" w="med" len="med"/>
                      <a:tailEnd type="none" w="med" len="med"/>
                    </a:lnB>
                    <a:solidFill>
                      <a:schemeClr val="tx2"/>
                    </a:solidFill>
                  </a:tcPr>
                </a:tc>
                <a:tc>
                  <a:txBody>
                    <a:bodyPr/>
                    <a:lstStyle/>
                    <a:p>
                      <a:pPr indent="0" marL="0">
                        <a:buNone/>
                      </a:pPr>
                      <a:r>
                        <a:rPr lang="en-US" sz="900" b="1" dirty="0">
                          <a:solidFill>
                            <a:schemeClr val="bg1"/>
                          </a:solidFill>
                          <a:latin typeface="+mn-lt" pitchFamily="34" charset="0"/>
                          <a:ea typeface="+mn-lt" pitchFamily="34" charset="-122"/>
                          <a:cs typeface="+mn-lt" pitchFamily="34" charset="-120"/>
                        </a:rPr>
                        <a:t>Mean</a:t>
                      </a:r>
                      <a:endParaRPr lang="en-US" sz="900" dirty="0">
                        <a:latin typeface="+mn-lt" charset="0"/>
                        <a:ea typeface="+mn-lt" charset="0"/>
                        <a:cs typeface="+mn-lt" charset="0"/>
                      </a:endParaRPr>
                    </a:p>
                  </a:txBody>
                  <a:tcPr marL="45720" marR="45720" marT="45720" marB="45720" anchor="t">
                    <a:lnL w="6350" cap="flat" cmpd="sng" algn="ctr">
                      <a:solidFill>
                        <a:srgbClr val="D9E0E8"/>
                      </a:solidFill>
                      <a:prstDash val="solid"/>
                      <a:round/>
                      <a:headEnd type="none" w="med" len="med"/>
                      <a:tailEnd type="none" w="med" len="med"/>
                    </a:lnL>
                    <a:lnR w="6350" cap="flat" cmpd="sng" algn="ctr">
                      <a:solidFill>
                        <a:srgbClr val="D9E0E8"/>
                      </a:solidFill>
                      <a:prstDash val="solid"/>
                      <a:round/>
                      <a:headEnd type="none" w="med" len="med"/>
                      <a:tailEnd type="none" w="med" len="med"/>
                    </a:lnR>
                    <a:lnT w="6350" cap="flat" cmpd="sng" algn="ctr">
                      <a:solidFill>
                        <a:srgbClr val="D9E0E8"/>
                      </a:solidFill>
                      <a:prstDash val="solid"/>
                      <a:round/>
                      <a:headEnd type="none" w="med" len="med"/>
                      <a:tailEnd type="none" w="med" len="med"/>
                    </a:lnT>
                    <a:lnB w="6350" cap="flat" cmpd="sng" algn="ctr">
                      <a:solidFill>
                        <a:srgbClr val="D9E0E8"/>
                      </a:solidFill>
                      <a:prstDash val="solid"/>
                      <a:round/>
                      <a:headEnd type="none" w="med" len="med"/>
                      <a:tailEnd type="none" w="med" len="med"/>
                    </a:lnB>
                    <a:solidFill>
                      <a:schemeClr val="tx2"/>
                    </a:solidFill>
                  </a:tcPr>
                </a:tc>
                <a:tc>
                  <a:txBody>
                    <a:bodyPr/>
                    <a:lstStyle/>
                    <a:p>
                      <a:pPr indent="0" marL="0">
                        <a:buNone/>
                      </a:pPr>
                      <a:r>
                        <a:rPr lang="en-US" sz="900" b="1" dirty="0">
                          <a:solidFill>
                            <a:schemeClr val="bg1"/>
                          </a:solidFill>
                          <a:latin typeface="+mn-lt" pitchFamily="34" charset="0"/>
                          <a:ea typeface="+mn-lt" pitchFamily="34" charset="-122"/>
                          <a:cs typeface="+mn-lt" pitchFamily="34" charset="-120"/>
                        </a:rPr>
                        <a:t>SD</a:t>
                      </a:r>
                      <a:endParaRPr lang="en-US" sz="900" dirty="0">
                        <a:latin typeface="+mn-lt" charset="0"/>
                        <a:ea typeface="+mn-lt" charset="0"/>
                        <a:cs typeface="+mn-lt" charset="0"/>
                      </a:endParaRPr>
                    </a:p>
                  </a:txBody>
                  <a:tcPr marL="45720" marR="45720" marT="45720" marB="45720" anchor="t">
                    <a:lnL w="6350" cap="flat" cmpd="sng" algn="ctr">
                      <a:solidFill>
                        <a:srgbClr val="D9E0E8"/>
                      </a:solidFill>
                      <a:prstDash val="solid"/>
                      <a:round/>
                      <a:headEnd type="none" w="med" len="med"/>
                      <a:tailEnd type="none" w="med" len="med"/>
                    </a:lnL>
                    <a:lnR w="6350" cap="flat" cmpd="sng" algn="ctr">
                      <a:solidFill>
                        <a:srgbClr val="D9E0E8"/>
                      </a:solidFill>
                      <a:prstDash val="solid"/>
                      <a:round/>
                      <a:headEnd type="none" w="med" len="med"/>
                      <a:tailEnd type="none" w="med" len="med"/>
                    </a:lnR>
                    <a:lnT w="6350" cap="flat" cmpd="sng" algn="ctr">
                      <a:solidFill>
                        <a:srgbClr val="D9E0E8"/>
                      </a:solidFill>
                      <a:prstDash val="solid"/>
                      <a:round/>
                      <a:headEnd type="none" w="med" len="med"/>
                      <a:tailEnd type="none" w="med" len="med"/>
                    </a:lnT>
                    <a:lnB w="6350" cap="flat" cmpd="sng" algn="ctr">
                      <a:solidFill>
                        <a:srgbClr val="D9E0E8"/>
                      </a:solidFill>
                      <a:prstDash val="solid"/>
                      <a:round/>
                      <a:headEnd type="none" w="med" len="med"/>
                      <a:tailEnd type="none" w="med" len="med"/>
                    </a:lnB>
                    <a:solidFill>
                      <a:schemeClr val="tx2"/>
                    </a:solidFill>
                  </a:tcPr>
                </a:tc>
                <a:tc>
                  <a:txBody>
                    <a:bodyPr/>
                    <a:lstStyle/>
                    <a:p>
                      <a:pPr indent="0" marL="0">
                        <a:buNone/>
                      </a:pPr>
                      <a:r>
                        <a:rPr lang="en-US" sz="900" b="1" dirty="0">
                          <a:solidFill>
                            <a:schemeClr val="bg1"/>
                          </a:solidFill>
                          <a:latin typeface="+mn-lt" pitchFamily="34" charset="0"/>
                          <a:ea typeface="+mn-lt" pitchFamily="34" charset="-122"/>
                          <a:cs typeface="+mn-lt" pitchFamily="34" charset="-120"/>
                        </a:rPr>
                        <a:t>Min</a:t>
                      </a:r>
                      <a:endParaRPr lang="en-US" sz="900" dirty="0">
                        <a:latin typeface="+mn-lt" charset="0"/>
                        <a:ea typeface="+mn-lt" charset="0"/>
                        <a:cs typeface="+mn-lt" charset="0"/>
                      </a:endParaRPr>
                    </a:p>
                  </a:txBody>
                  <a:tcPr marL="45720" marR="45720" marT="45720" marB="45720" anchor="t">
                    <a:lnL w="6350" cap="flat" cmpd="sng" algn="ctr">
                      <a:solidFill>
                        <a:srgbClr val="D9E0E8"/>
                      </a:solidFill>
                      <a:prstDash val="solid"/>
                      <a:round/>
                      <a:headEnd type="none" w="med" len="med"/>
                      <a:tailEnd type="none" w="med" len="med"/>
                    </a:lnL>
                    <a:lnR w="6350" cap="flat" cmpd="sng" algn="ctr">
                      <a:solidFill>
                        <a:srgbClr val="D9E0E8"/>
                      </a:solidFill>
                      <a:prstDash val="solid"/>
                      <a:round/>
                      <a:headEnd type="none" w="med" len="med"/>
                      <a:tailEnd type="none" w="med" len="med"/>
                    </a:lnR>
                    <a:lnT w="6350" cap="flat" cmpd="sng" algn="ctr">
                      <a:solidFill>
                        <a:srgbClr val="D9E0E8"/>
                      </a:solidFill>
                      <a:prstDash val="solid"/>
                      <a:round/>
                      <a:headEnd type="none" w="med" len="med"/>
                      <a:tailEnd type="none" w="med" len="med"/>
                    </a:lnT>
                    <a:lnB w="6350" cap="flat" cmpd="sng" algn="ctr">
                      <a:solidFill>
                        <a:srgbClr val="D9E0E8"/>
                      </a:solidFill>
                      <a:prstDash val="solid"/>
                      <a:round/>
                      <a:headEnd type="none" w="med" len="med"/>
                      <a:tailEnd type="none" w="med" len="med"/>
                    </a:lnB>
                    <a:solidFill>
                      <a:schemeClr val="tx2"/>
                    </a:solidFill>
                  </a:tcPr>
                </a:tc>
                <a:tc>
                  <a:txBody>
                    <a:bodyPr/>
                    <a:lstStyle/>
                    <a:p>
                      <a:pPr indent="0" marL="0">
                        <a:buNone/>
                      </a:pPr>
                      <a:r>
                        <a:rPr lang="en-US" sz="900" b="1" dirty="0">
                          <a:solidFill>
                            <a:schemeClr val="bg1"/>
                          </a:solidFill>
                          <a:latin typeface="+mn-lt" pitchFamily="34" charset="0"/>
                          <a:ea typeface="+mn-lt" pitchFamily="34" charset="-122"/>
                          <a:cs typeface="+mn-lt" pitchFamily="34" charset="-120"/>
                        </a:rPr>
                        <a:t>Max</a:t>
                      </a:r>
                      <a:endParaRPr lang="en-US" sz="900" dirty="0">
                        <a:latin typeface="+mn-lt" charset="0"/>
                        <a:ea typeface="+mn-lt" charset="0"/>
                        <a:cs typeface="+mn-lt" charset="0"/>
                      </a:endParaRPr>
                    </a:p>
                  </a:txBody>
                  <a:tcPr marL="45720" marR="45720" marT="45720" marB="45720" anchor="t">
                    <a:lnL w="6350" cap="flat" cmpd="sng" algn="ctr">
                      <a:solidFill>
                        <a:srgbClr val="D9E0E8"/>
                      </a:solidFill>
                      <a:prstDash val="solid"/>
                      <a:round/>
                      <a:headEnd type="none" w="med" len="med"/>
                      <a:tailEnd type="none" w="med" len="med"/>
                    </a:lnL>
                    <a:lnR w="6350" cap="flat" cmpd="sng" algn="ctr">
                      <a:solidFill>
                        <a:srgbClr val="D9E0E8"/>
                      </a:solidFill>
                      <a:prstDash val="solid"/>
                      <a:round/>
                      <a:headEnd type="none" w="med" len="med"/>
                      <a:tailEnd type="none" w="med" len="med"/>
                    </a:lnR>
                    <a:lnT w="6350" cap="flat" cmpd="sng" algn="ctr">
                      <a:solidFill>
                        <a:srgbClr val="D9E0E8"/>
                      </a:solidFill>
                      <a:prstDash val="solid"/>
                      <a:round/>
                      <a:headEnd type="none" w="med" len="med"/>
                      <a:tailEnd type="none" w="med" len="med"/>
                    </a:lnT>
                    <a:lnB w="6350" cap="flat" cmpd="sng" algn="ctr">
                      <a:solidFill>
                        <a:srgbClr val="D9E0E8"/>
                      </a:solidFill>
                      <a:prstDash val="solid"/>
                      <a:round/>
                      <a:headEnd type="none" w="med" len="med"/>
                      <a:tailEnd type="none" w="med" len="med"/>
                    </a:lnB>
                    <a:solidFill>
                      <a:schemeClr val="tx2"/>
                    </a:solidFill>
                  </a:tcPr>
                </a:tc>
              </a:tr>
              <a:tr h="0">
                <a:tc>
                  <a:txBody>
                    <a:bodyPr/>
                    <a:lstStyle/>
                    <a:p>
                      <a:pPr indent="0" marL="0">
                        <a:buNone/>
                      </a:pPr>
                      <a:r>
                        <a:rPr lang="en-US" sz="900" dirty="0">
                          <a:solidFill>
                            <a:schemeClr val="tx1"/>
                          </a:solidFill>
                          <a:latin typeface="+mn-lt" pitchFamily="34" charset="0"/>
                          <a:ea typeface="+mn-lt" pitchFamily="34" charset="-122"/>
                          <a:cs typeface="+mn-lt" pitchFamily="34" charset="-120"/>
                        </a:rPr>
                        <a:t>Clinoid process</a:t>
                      </a:r>
                      <a:endParaRPr lang="en-US" sz="900" dirty="0">
                        <a:latin typeface="+mn-lt" charset="0"/>
                        <a:ea typeface="+mn-lt" charset="0"/>
                        <a:cs typeface="+mn-lt" charset="0"/>
                      </a:endParaRPr>
                    </a:p>
                  </a:txBody>
                  <a:tcPr marL="45720" marR="45720" marT="45720" marB="45720" anchor="t">
                    <a:lnL w="6350" cap="flat" cmpd="sng" algn="ctr">
                      <a:solidFill>
                        <a:srgbClr val="D9E0E8"/>
                      </a:solidFill>
                      <a:prstDash val="solid"/>
                      <a:round/>
                      <a:headEnd type="none" w="med" len="med"/>
                      <a:tailEnd type="none" w="med" len="med"/>
                    </a:lnL>
                    <a:lnR w="6350" cap="flat" cmpd="sng" algn="ctr">
                      <a:solidFill>
                        <a:srgbClr val="D9E0E8"/>
                      </a:solidFill>
                      <a:prstDash val="solid"/>
                      <a:round/>
                      <a:headEnd type="none" w="med" len="med"/>
                      <a:tailEnd type="none" w="med" len="med"/>
                    </a:lnR>
                    <a:lnT w="6350" cap="flat" cmpd="sng" algn="ctr">
                      <a:solidFill>
                        <a:srgbClr val="D9E0E8"/>
                      </a:solidFill>
                      <a:prstDash val="solid"/>
                      <a:round/>
                      <a:headEnd type="none" w="med" len="med"/>
                      <a:tailEnd type="none" w="med" len="med"/>
                    </a:lnT>
                    <a:lnB w="6350" cap="flat" cmpd="sng" algn="ctr">
                      <a:solidFill>
                        <a:srgbClr val="D9E0E8"/>
                      </a:solidFill>
                      <a:prstDash val="solid"/>
                      <a:round/>
                      <a:headEnd type="none" w="med" len="med"/>
                      <a:tailEnd type="none" w="med" len="med"/>
                    </a:lnB>
                    <a:solidFill>
                      <a:schemeClr val="bg1"/>
                    </a:solidFill>
                  </a:tcPr>
                </a:tc>
                <a:tc>
                  <a:txBody>
                    <a:bodyPr/>
                    <a:lstStyle/>
                    <a:p>
                      <a:pPr indent="0" marL="0">
                        <a:buNone/>
                      </a:pPr>
                      <a:r>
                        <a:rPr lang="en-US" sz="900" dirty="0">
                          <a:solidFill>
                            <a:schemeClr val="tx1"/>
                          </a:solidFill>
                          <a:latin typeface="+mn-lt" pitchFamily="34" charset="0"/>
                          <a:ea typeface="+mn-lt" pitchFamily="34" charset="-122"/>
                          <a:cs typeface="+mn-lt" pitchFamily="34" charset="-120"/>
                        </a:rPr>
                        <a:t>50</a:t>
                      </a:r>
                      <a:endParaRPr lang="en-US" sz="900" dirty="0">
                        <a:latin typeface="+mn-lt" charset="0"/>
                        <a:ea typeface="+mn-lt" charset="0"/>
                        <a:cs typeface="+mn-lt" charset="0"/>
                      </a:endParaRPr>
                    </a:p>
                  </a:txBody>
                  <a:tcPr marL="45720" marR="45720" marT="45720" marB="45720" anchor="t">
                    <a:lnL w="6350" cap="flat" cmpd="sng" algn="ctr">
                      <a:solidFill>
                        <a:srgbClr val="D9E0E8"/>
                      </a:solidFill>
                      <a:prstDash val="solid"/>
                      <a:round/>
                      <a:headEnd type="none" w="med" len="med"/>
                      <a:tailEnd type="none" w="med" len="med"/>
                    </a:lnL>
                    <a:lnR w="6350" cap="flat" cmpd="sng" algn="ctr">
                      <a:solidFill>
                        <a:srgbClr val="D9E0E8"/>
                      </a:solidFill>
                      <a:prstDash val="solid"/>
                      <a:round/>
                      <a:headEnd type="none" w="med" len="med"/>
                      <a:tailEnd type="none" w="med" len="med"/>
                    </a:lnR>
                    <a:lnT w="6350" cap="flat" cmpd="sng" algn="ctr">
                      <a:solidFill>
                        <a:srgbClr val="D9E0E8"/>
                      </a:solidFill>
                      <a:prstDash val="solid"/>
                      <a:round/>
                      <a:headEnd type="none" w="med" len="med"/>
                      <a:tailEnd type="none" w="med" len="med"/>
                    </a:lnT>
                    <a:lnB w="6350" cap="flat" cmpd="sng" algn="ctr">
                      <a:solidFill>
                        <a:srgbClr val="D9E0E8"/>
                      </a:solidFill>
                      <a:prstDash val="solid"/>
                      <a:round/>
                      <a:headEnd type="none" w="med" len="med"/>
                      <a:tailEnd type="none" w="med" len="med"/>
                    </a:lnB>
                    <a:solidFill>
                      <a:schemeClr val="bg1"/>
                    </a:solidFill>
                  </a:tcPr>
                </a:tc>
                <a:tc>
                  <a:txBody>
                    <a:bodyPr/>
                    <a:lstStyle/>
                    <a:p>
                      <a:pPr indent="0" marL="0">
                        <a:buNone/>
                      </a:pPr>
                      <a:r>
                        <a:rPr lang="en-US" sz="900" dirty="0">
                          <a:solidFill>
                            <a:schemeClr val="tx1"/>
                          </a:solidFill>
                          <a:latin typeface="+mn-lt" pitchFamily="34" charset="0"/>
                          <a:ea typeface="+mn-lt" pitchFamily="34" charset="-122"/>
                          <a:cs typeface="+mn-lt" pitchFamily="34" charset="-120"/>
                        </a:rPr>
                        <a:t>2.64</a:t>
                      </a:r>
                      <a:endParaRPr lang="en-US" sz="900" dirty="0">
                        <a:latin typeface="+mn-lt" charset="0"/>
                        <a:ea typeface="+mn-lt" charset="0"/>
                        <a:cs typeface="+mn-lt" charset="0"/>
                      </a:endParaRPr>
                    </a:p>
                  </a:txBody>
                  <a:tcPr marL="45720" marR="45720" marT="45720" marB="45720" anchor="t">
                    <a:lnL w="6350" cap="flat" cmpd="sng" algn="ctr">
                      <a:solidFill>
                        <a:srgbClr val="D9E0E8"/>
                      </a:solidFill>
                      <a:prstDash val="solid"/>
                      <a:round/>
                      <a:headEnd type="none" w="med" len="med"/>
                      <a:tailEnd type="none" w="med" len="med"/>
                    </a:lnL>
                    <a:lnR w="6350" cap="flat" cmpd="sng" algn="ctr">
                      <a:solidFill>
                        <a:srgbClr val="D9E0E8"/>
                      </a:solidFill>
                      <a:prstDash val="solid"/>
                      <a:round/>
                      <a:headEnd type="none" w="med" len="med"/>
                      <a:tailEnd type="none" w="med" len="med"/>
                    </a:lnR>
                    <a:lnT w="6350" cap="flat" cmpd="sng" algn="ctr">
                      <a:solidFill>
                        <a:srgbClr val="D9E0E8"/>
                      </a:solidFill>
                      <a:prstDash val="solid"/>
                      <a:round/>
                      <a:headEnd type="none" w="med" len="med"/>
                      <a:tailEnd type="none" w="med" len="med"/>
                    </a:lnT>
                    <a:lnB w="6350" cap="flat" cmpd="sng" algn="ctr">
                      <a:solidFill>
                        <a:srgbClr val="D9E0E8"/>
                      </a:solidFill>
                      <a:prstDash val="solid"/>
                      <a:round/>
                      <a:headEnd type="none" w="med" len="med"/>
                      <a:tailEnd type="none" w="med" len="med"/>
                    </a:lnB>
                    <a:solidFill>
                      <a:schemeClr val="bg1"/>
                    </a:solidFill>
                  </a:tcPr>
                </a:tc>
                <a:tc>
                  <a:txBody>
                    <a:bodyPr/>
                    <a:lstStyle/>
                    <a:p>
                      <a:pPr indent="0" marL="0">
                        <a:buNone/>
                      </a:pPr>
                      <a:r>
                        <a:rPr lang="en-US" sz="900" dirty="0">
                          <a:solidFill>
                            <a:schemeClr val="tx1"/>
                          </a:solidFill>
                          <a:latin typeface="+mn-lt" pitchFamily="34" charset="0"/>
                          <a:ea typeface="+mn-lt" pitchFamily="34" charset="-122"/>
                          <a:cs typeface="+mn-lt" pitchFamily="34" charset="-120"/>
                        </a:rPr>
                        <a:t>1.43</a:t>
                      </a:r>
                      <a:endParaRPr lang="en-US" sz="900" dirty="0">
                        <a:latin typeface="+mn-lt" charset="0"/>
                        <a:ea typeface="+mn-lt" charset="0"/>
                        <a:cs typeface="+mn-lt" charset="0"/>
                      </a:endParaRPr>
                    </a:p>
                  </a:txBody>
                  <a:tcPr marL="45720" marR="45720" marT="45720" marB="45720" anchor="t">
                    <a:lnL w="6350" cap="flat" cmpd="sng" algn="ctr">
                      <a:solidFill>
                        <a:srgbClr val="D9E0E8"/>
                      </a:solidFill>
                      <a:prstDash val="solid"/>
                      <a:round/>
                      <a:headEnd type="none" w="med" len="med"/>
                      <a:tailEnd type="none" w="med" len="med"/>
                    </a:lnL>
                    <a:lnR w="6350" cap="flat" cmpd="sng" algn="ctr">
                      <a:solidFill>
                        <a:srgbClr val="D9E0E8"/>
                      </a:solidFill>
                      <a:prstDash val="solid"/>
                      <a:round/>
                      <a:headEnd type="none" w="med" len="med"/>
                      <a:tailEnd type="none" w="med" len="med"/>
                    </a:lnR>
                    <a:lnT w="6350" cap="flat" cmpd="sng" algn="ctr">
                      <a:solidFill>
                        <a:srgbClr val="D9E0E8"/>
                      </a:solidFill>
                      <a:prstDash val="solid"/>
                      <a:round/>
                      <a:headEnd type="none" w="med" len="med"/>
                      <a:tailEnd type="none" w="med" len="med"/>
                    </a:lnT>
                    <a:lnB w="6350" cap="flat" cmpd="sng" algn="ctr">
                      <a:solidFill>
                        <a:srgbClr val="D9E0E8"/>
                      </a:solidFill>
                      <a:prstDash val="solid"/>
                      <a:round/>
                      <a:headEnd type="none" w="med" len="med"/>
                      <a:tailEnd type="none" w="med" len="med"/>
                    </a:lnB>
                    <a:solidFill>
                      <a:schemeClr val="bg1"/>
                    </a:solidFill>
                  </a:tcPr>
                </a:tc>
                <a:tc>
                  <a:txBody>
                    <a:bodyPr/>
                    <a:lstStyle/>
                    <a:p>
                      <a:pPr indent="0" marL="0">
                        <a:buNone/>
                      </a:pPr>
                      <a:r>
                        <a:rPr lang="en-US" sz="900" dirty="0">
                          <a:solidFill>
                            <a:schemeClr val="tx1"/>
                          </a:solidFill>
                          <a:latin typeface="+mn-lt" pitchFamily="34" charset="0"/>
                          <a:ea typeface="+mn-lt" pitchFamily="34" charset="-122"/>
                          <a:cs typeface="+mn-lt" pitchFamily="34" charset="-120"/>
                        </a:rPr>
                        <a:t>0.58</a:t>
                      </a:r>
                      <a:endParaRPr lang="en-US" sz="900" dirty="0">
                        <a:latin typeface="+mn-lt" charset="0"/>
                        <a:ea typeface="+mn-lt" charset="0"/>
                        <a:cs typeface="+mn-lt" charset="0"/>
                      </a:endParaRPr>
                    </a:p>
                  </a:txBody>
                  <a:tcPr marL="45720" marR="45720" marT="45720" marB="45720" anchor="t">
                    <a:lnL w="6350" cap="flat" cmpd="sng" algn="ctr">
                      <a:solidFill>
                        <a:srgbClr val="D9E0E8"/>
                      </a:solidFill>
                      <a:prstDash val="solid"/>
                      <a:round/>
                      <a:headEnd type="none" w="med" len="med"/>
                      <a:tailEnd type="none" w="med" len="med"/>
                    </a:lnL>
                    <a:lnR w="6350" cap="flat" cmpd="sng" algn="ctr">
                      <a:solidFill>
                        <a:srgbClr val="D9E0E8"/>
                      </a:solidFill>
                      <a:prstDash val="solid"/>
                      <a:round/>
                      <a:headEnd type="none" w="med" len="med"/>
                      <a:tailEnd type="none" w="med" len="med"/>
                    </a:lnR>
                    <a:lnT w="6350" cap="flat" cmpd="sng" algn="ctr">
                      <a:solidFill>
                        <a:srgbClr val="D9E0E8"/>
                      </a:solidFill>
                      <a:prstDash val="solid"/>
                      <a:round/>
                      <a:headEnd type="none" w="med" len="med"/>
                      <a:tailEnd type="none" w="med" len="med"/>
                    </a:lnT>
                    <a:lnB w="6350" cap="flat" cmpd="sng" algn="ctr">
                      <a:solidFill>
                        <a:srgbClr val="D9E0E8"/>
                      </a:solidFill>
                      <a:prstDash val="solid"/>
                      <a:round/>
                      <a:headEnd type="none" w="med" len="med"/>
                      <a:tailEnd type="none" w="med" len="med"/>
                    </a:lnB>
                    <a:solidFill>
                      <a:schemeClr val="bg1"/>
                    </a:solidFill>
                  </a:tcPr>
                </a:tc>
                <a:tc>
                  <a:txBody>
                    <a:bodyPr/>
                    <a:lstStyle/>
                    <a:p>
                      <a:pPr indent="0" marL="0">
                        <a:buNone/>
                      </a:pPr>
                      <a:r>
                        <a:rPr lang="en-US" sz="900" dirty="0">
                          <a:solidFill>
                            <a:schemeClr val="tx1"/>
                          </a:solidFill>
                          <a:latin typeface="+mn-lt" pitchFamily="34" charset="0"/>
                          <a:ea typeface="+mn-lt" pitchFamily="34" charset="-122"/>
                          <a:cs typeface="+mn-lt" pitchFamily="34" charset="-120"/>
                        </a:rPr>
                        <a:t>7.50</a:t>
                      </a:r>
                      <a:endParaRPr lang="en-US" sz="900" dirty="0">
                        <a:latin typeface="+mn-lt" charset="0"/>
                        <a:ea typeface="+mn-lt" charset="0"/>
                        <a:cs typeface="+mn-lt" charset="0"/>
                      </a:endParaRPr>
                    </a:p>
                  </a:txBody>
                  <a:tcPr marL="45720" marR="45720" marT="45720" marB="45720" anchor="t">
                    <a:lnL w="6350" cap="flat" cmpd="sng" algn="ctr">
                      <a:solidFill>
                        <a:srgbClr val="D9E0E8"/>
                      </a:solidFill>
                      <a:prstDash val="solid"/>
                      <a:round/>
                      <a:headEnd type="none" w="med" len="med"/>
                      <a:tailEnd type="none" w="med" len="med"/>
                    </a:lnL>
                    <a:lnR w="6350" cap="flat" cmpd="sng" algn="ctr">
                      <a:solidFill>
                        <a:srgbClr val="D9E0E8"/>
                      </a:solidFill>
                      <a:prstDash val="solid"/>
                      <a:round/>
                      <a:headEnd type="none" w="med" len="med"/>
                      <a:tailEnd type="none" w="med" len="med"/>
                    </a:lnR>
                    <a:lnT w="6350" cap="flat" cmpd="sng" algn="ctr">
                      <a:solidFill>
                        <a:srgbClr val="D9E0E8"/>
                      </a:solidFill>
                      <a:prstDash val="solid"/>
                      <a:round/>
                      <a:headEnd type="none" w="med" len="med"/>
                      <a:tailEnd type="none" w="med" len="med"/>
                    </a:lnT>
                    <a:lnB w="6350" cap="flat" cmpd="sng" algn="ctr">
                      <a:solidFill>
                        <a:srgbClr val="D9E0E8"/>
                      </a:solidFill>
                      <a:prstDash val="solid"/>
                      <a:round/>
                      <a:headEnd type="none" w="med" len="med"/>
                      <a:tailEnd type="none" w="med" len="med"/>
                    </a:lnB>
                    <a:solidFill>
                      <a:schemeClr val="bg1"/>
                    </a:solidFill>
                  </a:tcPr>
                </a:tc>
              </a:tr>
              <a:tr h="0">
                <a:tc>
                  <a:txBody>
                    <a:bodyPr/>
                    <a:lstStyle/>
                    <a:p>
                      <a:pPr indent="0" marL="0">
                        <a:buNone/>
                      </a:pPr>
                      <a:r>
                        <a:rPr lang="en-US" sz="900" dirty="0">
                          <a:solidFill>
                            <a:schemeClr val="tx1"/>
                          </a:solidFill>
                          <a:latin typeface="+mn-lt" pitchFamily="34" charset="0"/>
                          <a:ea typeface="+mn-lt" pitchFamily="34" charset="-122"/>
                          <a:cs typeface="+mn-lt" pitchFamily="34" charset="-120"/>
                        </a:rPr>
                        <a:t>Anterior cranial base</a:t>
                      </a:r>
                      <a:endParaRPr lang="en-US" sz="900" dirty="0">
                        <a:latin typeface="+mn-lt" charset="0"/>
                        <a:ea typeface="+mn-lt" charset="0"/>
                        <a:cs typeface="+mn-lt" charset="0"/>
                      </a:endParaRPr>
                    </a:p>
                  </a:txBody>
                  <a:tcPr marL="45720" marR="45720" marT="45720" marB="45720" anchor="t">
                    <a:lnL w="6350" cap="flat" cmpd="sng" algn="ctr">
                      <a:solidFill>
                        <a:srgbClr val="D9E0E8"/>
                      </a:solidFill>
                      <a:prstDash val="solid"/>
                      <a:round/>
                      <a:headEnd type="none" w="med" len="med"/>
                      <a:tailEnd type="none" w="med" len="med"/>
                    </a:lnL>
                    <a:lnR w="6350" cap="flat" cmpd="sng" algn="ctr">
                      <a:solidFill>
                        <a:srgbClr val="D9E0E8"/>
                      </a:solidFill>
                      <a:prstDash val="solid"/>
                      <a:round/>
                      <a:headEnd type="none" w="med" len="med"/>
                      <a:tailEnd type="none" w="med" len="med"/>
                    </a:lnR>
                    <a:lnT w="6350" cap="flat" cmpd="sng" algn="ctr">
                      <a:solidFill>
                        <a:srgbClr val="D9E0E8"/>
                      </a:solidFill>
                      <a:prstDash val="solid"/>
                      <a:round/>
                      <a:headEnd type="none" w="med" len="med"/>
                      <a:tailEnd type="none" w="med" len="med"/>
                    </a:lnT>
                    <a:lnB w="6350" cap="flat" cmpd="sng" algn="ctr">
                      <a:solidFill>
                        <a:srgbClr val="D9E0E8"/>
                      </a:solidFill>
                      <a:prstDash val="solid"/>
                      <a:round/>
                      <a:headEnd type="none" w="med" len="med"/>
                      <a:tailEnd type="none" w="med" len="med"/>
                    </a:lnB>
                    <a:solidFill>
                      <a:schemeClr val="bg2"/>
                    </a:solidFill>
                  </a:tcPr>
                </a:tc>
                <a:tc>
                  <a:txBody>
                    <a:bodyPr/>
                    <a:lstStyle/>
                    <a:p>
                      <a:pPr indent="0" marL="0">
                        <a:buNone/>
                      </a:pPr>
                      <a:r>
                        <a:rPr lang="en-US" sz="900" dirty="0">
                          <a:solidFill>
                            <a:schemeClr val="tx1"/>
                          </a:solidFill>
                          <a:latin typeface="+mn-lt" pitchFamily="34" charset="0"/>
                          <a:ea typeface="+mn-lt" pitchFamily="34" charset="-122"/>
                          <a:cs typeface="+mn-lt" pitchFamily="34" charset="-120"/>
                        </a:rPr>
                        <a:t>50</a:t>
                      </a:r>
                      <a:endParaRPr lang="en-US" sz="900" dirty="0">
                        <a:latin typeface="+mn-lt" charset="0"/>
                        <a:ea typeface="+mn-lt" charset="0"/>
                        <a:cs typeface="+mn-lt" charset="0"/>
                      </a:endParaRPr>
                    </a:p>
                  </a:txBody>
                  <a:tcPr marL="45720" marR="45720" marT="45720" marB="45720" anchor="t">
                    <a:lnL w="6350" cap="flat" cmpd="sng" algn="ctr">
                      <a:solidFill>
                        <a:srgbClr val="D9E0E8"/>
                      </a:solidFill>
                      <a:prstDash val="solid"/>
                      <a:round/>
                      <a:headEnd type="none" w="med" len="med"/>
                      <a:tailEnd type="none" w="med" len="med"/>
                    </a:lnL>
                    <a:lnR w="6350" cap="flat" cmpd="sng" algn="ctr">
                      <a:solidFill>
                        <a:srgbClr val="D9E0E8"/>
                      </a:solidFill>
                      <a:prstDash val="solid"/>
                      <a:round/>
                      <a:headEnd type="none" w="med" len="med"/>
                      <a:tailEnd type="none" w="med" len="med"/>
                    </a:lnR>
                    <a:lnT w="6350" cap="flat" cmpd="sng" algn="ctr">
                      <a:solidFill>
                        <a:srgbClr val="D9E0E8"/>
                      </a:solidFill>
                      <a:prstDash val="solid"/>
                      <a:round/>
                      <a:headEnd type="none" w="med" len="med"/>
                      <a:tailEnd type="none" w="med" len="med"/>
                    </a:lnT>
                    <a:lnB w="6350" cap="flat" cmpd="sng" algn="ctr">
                      <a:solidFill>
                        <a:srgbClr val="D9E0E8"/>
                      </a:solidFill>
                      <a:prstDash val="solid"/>
                      <a:round/>
                      <a:headEnd type="none" w="med" len="med"/>
                      <a:tailEnd type="none" w="med" len="med"/>
                    </a:lnB>
                    <a:solidFill>
                      <a:schemeClr val="bg2"/>
                    </a:solidFill>
                  </a:tcPr>
                </a:tc>
                <a:tc>
                  <a:txBody>
                    <a:bodyPr/>
                    <a:lstStyle/>
                    <a:p>
                      <a:pPr indent="0" marL="0">
                        <a:buNone/>
                      </a:pPr>
                      <a:r>
                        <a:rPr lang="en-US" sz="900" dirty="0">
                          <a:solidFill>
                            <a:schemeClr val="tx1"/>
                          </a:solidFill>
                          <a:latin typeface="+mn-lt" pitchFamily="34" charset="0"/>
                          <a:ea typeface="+mn-lt" pitchFamily="34" charset="-122"/>
                          <a:cs typeface="+mn-lt" pitchFamily="34" charset="-120"/>
                        </a:rPr>
                        <a:t>2.52</a:t>
                      </a:r>
                      <a:endParaRPr lang="en-US" sz="900" dirty="0">
                        <a:latin typeface="+mn-lt" charset="0"/>
                        <a:ea typeface="+mn-lt" charset="0"/>
                        <a:cs typeface="+mn-lt" charset="0"/>
                      </a:endParaRPr>
                    </a:p>
                  </a:txBody>
                  <a:tcPr marL="45720" marR="45720" marT="45720" marB="45720" anchor="t">
                    <a:lnL w="6350" cap="flat" cmpd="sng" algn="ctr">
                      <a:solidFill>
                        <a:srgbClr val="D9E0E8"/>
                      </a:solidFill>
                      <a:prstDash val="solid"/>
                      <a:round/>
                      <a:headEnd type="none" w="med" len="med"/>
                      <a:tailEnd type="none" w="med" len="med"/>
                    </a:lnL>
                    <a:lnR w="6350" cap="flat" cmpd="sng" algn="ctr">
                      <a:solidFill>
                        <a:srgbClr val="D9E0E8"/>
                      </a:solidFill>
                      <a:prstDash val="solid"/>
                      <a:round/>
                      <a:headEnd type="none" w="med" len="med"/>
                      <a:tailEnd type="none" w="med" len="med"/>
                    </a:lnR>
                    <a:lnT w="6350" cap="flat" cmpd="sng" algn="ctr">
                      <a:solidFill>
                        <a:srgbClr val="D9E0E8"/>
                      </a:solidFill>
                      <a:prstDash val="solid"/>
                      <a:round/>
                      <a:headEnd type="none" w="med" len="med"/>
                      <a:tailEnd type="none" w="med" len="med"/>
                    </a:lnT>
                    <a:lnB w="6350" cap="flat" cmpd="sng" algn="ctr">
                      <a:solidFill>
                        <a:srgbClr val="D9E0E8"/>
                      </a:solidFill>
                      <a:prstDash val="solid"/>
                      <a:round/>
                      <a:headEnd type="none" w="med" len="med"/>
                      <a:tailEnd type="none" w="med" len="med"/>
                    </a:lnB>
                    <a:solidFill>
                      <a:schemeClr val="bg2"/>
                    </a:solidFill>
                  </a:tcPr>
                </a:tc>
                <a:tc>
                  <a:txBody>
                    <a:bodyPr/>
                    <a:lstStyle/>
                    <a:p>
                      <a:pPr indent="0" marL="0">
                        <a:buNone/>
                      </a:pPr>
                      <a:r>
                        <a:rPr lang="en-US" sz="900" dirty="0">
                          <a:solidFill>
                            <a:schemeClr val="tx1"/>
                          </a:solidFill>
                          <a:latin typeface="+mn-lt" pitchFamily="34" charset="0"/>
                          <a:ea typeface="+mn-lt" pitchFamily="34" charset="-122"/>
                          <a:cs typeface="+mn-lt" pitchFamily="34" charset="-120"/>
                        </a:rPr>
                        <a:t>1.13</a:t>
                      </a:r>
                      <a:endParaRPr lang="en-US" sz="900" dirty="0">
                        <a:latin typeface="+mn-lt" charset="0"/>
                        <a:ea typeface="+mn-lt" charset="0"/>
                        <a:cs typeface="+mn-lt" charset="0"/>
                      </a:endParaRPr>
                    </a:p>
                  </a:txBody>
                  <a:tcPr marL="45720" marR="45720" marT="45720" marB="45720" anchor="t">
                    <a:lnL w="6350" cap="flat" cmpd="sng" algn="ctr">
                      <a:solidFill>
                        <a:srgbClr val="D9E0E8"/>
                      </a:solidFill>
                      <a:prstDash val="solid"/>
                      <a:round/>
                      <a:headEnd type="none" w="med" len="med"/>
                      <a:tailEnd type="none" w="med" len="med"/>
                    </a:lnL>
                    <a:lnR w="6350" cap="flat" cmpd="sng" algn="ctr">
                      <a:solidFill>
                        <a:srgbClr val="D9E0E8"/>
                      </a:solidFill>
                      <a:prstDash val="solid"/>
                      <a:round/>
                      <a:headEnd type="none" w="med" len="med"/>
                      <a:tailEnd type="none" w="med" len="med"/>
                    </a:lnR>
                    <a:lnT w="6350" cap="flat" cmpd="sng" algn="ctr">
                      <a:solidFill>
                        <a:srgbClr val="D9E0E8"/>
                      </a:solidFill>
                      <a:prstDash val="solid"/>
                      <a:round/>
                      <a:headEnd type="none" w="med" len="med"/>
                      <a:tailEnd type="none" w="med" len="med"/>
                    </a:lnT>
                    <a:lnB w="6350" cap="flat" cmpd="sng" algn="ctr">
                      <a:solidFill>
                        <a:srgbClr val="D9E0E8"/>
                      </a:solidFill>
                      <a:prstDash val="solid"/>
                      <a:round/>
                      <a:headEnd type="none" w="med" len="med"/>
                      <a:tailEnd type="none" w="med" len="med"/>
                    </a:lnB>
                    <a:solidFill>
                      <a:schemeClr val="bg2"/>
                    </a:solidFill>
                  </a:tcPr>
                </a:tc>
                <a:tc>
                  <a:txBody>
                    <a:bodyPr/>
                    <a:lstStyle/>
                    <a:p>
                      <a:pPr indent="0" marL="0">
                        <a:buNone/>
                      </a:pPr>
                      <a:r>
                        <a:rPr lang="en-US" sz="900" dirty="0">
                          <a:solidFill>
                            <a:schemeClr val="tx1"/>
                          </a:solidFill>
                          <a:latin typeface="+mn-lt" pitchFamily="34" charset="0"/>
                          <a:ea typeface="+mn-lt" pitchFamily="34" charset="-122"/>
                          <a:cs typeface="+mn-lt" pitchFamily="34" charset="-120"/>
                        </a:rPr>
                        <a:t>0.53</a:t>
                      </a:r>
                      <a:endParaRPr lang="en-US" sz="900" dirty="0">
                        <a:latin typeface="+mn-lt" charset="0"/>
                        <a:ea typeface="+mn-lt" charset="0"/>
                        <a:cs typeface="+mn-lt" charset="0"/>
                      </a:endParaRPr>
                    </a:p>
                  </a:txBody>
                  <a:tcPr marL="45720" marR="45720" marT="45720" marB="45720" anchor="t">
                    <a:lnL w="6350" cap="flat" cmpd="sng" algn="ctr">
                      <a:solidFill>
                        <a:srgbClr val="D9E0E8"/>
                      </a:solidFill>
                      <a:prstDash val="solid"/>
                      <a:round/>
                      <a:headEnd type="none" w="med" len="med"/>
                      <a:tailEnd type="none" w="med" len="med"/>
                    </a:lnL>
                    <a:lnR w="6350" cap="flat" cmpd="sng" algn="ctr">
                      <a:solidFill>
                        <a:srgbClr val="D9E0E8"/>
                      </a:solidFill>
                      <a:prstDash val="solid"/>
                      <a:round/>
                      <a:headEnd type="none" w="med" len="med"/>
                      <a:tailEnd type="none" w="med" len="med"/>
                    </a:lnR>
                    <a:lnT w="6350" cap="flat" cmpd="sng" algn="ctr">
                      <a:solidFill>
                        <a:srgbClr val="D9E0E8"/>
                      </a:solidFill>
                      <a:prstDash val="solid"/>
                      <a:round/>
                      <a:headEnd type="none" w="med" len="med"/>
                      <a:tailEnd type="none" w="med" len="med"/>
                    </a:lnT>
                    <a:lnB w="6350" cap="flat" cmpd="sng" algn="ctr">
                      <a:solidFill>
                        <a:srgbClr val="D9E0E8"/>
                      </a:solidFill>
                      <a:prstDash val="solid"/>
                      <a:round/>
                      <a:headEnd type="none" w="med" len="med"/>
                      <a:tailEnd type="none" w="med" len="med"/>
                    </a:lnB>
                    <a:solidFill>
                      <a:schemeClr val="bg2"/>
                    </a:solidFill>
                  </a:tcPr>
                </a:tc>
                <a:tc>
                  <a:txBody>
                    <a:bodyPr/>
                    <a:lstStyle/>
                    <a:p>
                      <a:pPr indent="0" marL="0">
                        <a:buNone/>
                      </a:pPr>
                      <a:r>
                        <a:rPr lang="en-US" sz="900" dirty="0">
                          <a:solidFill>
                            <a:schemeClr val="tx1"/>
                          </a:solidFill>
                          <a:latin typeface="+mn-lt" pitchFamily="34" charset="0"/>
                          <a:ea typeface="+mn-lt" pitchFamily="34" charset="-122"/>
                          <a:cs typeface="+mn-lt" pitchFamily="34" charset="-120"/>
                        </a:rPr>
                        <a:t>4.90</a:t>
                      </a:r>
                      <a:endParaRPr lang="en-US" sz="900" dirty="0">
                        <a:latin typeface="+mn-lt" charset="0"/>
                        <a:ea typeface="+mn-lt" charset="0"/>
                        <a:cs typeface="+mn-lt" charset="0"/>
                      </a:endParaRPr>
                    </a:p>
                  </a:txBody>
                  <a:tcPr marL="45720" marR="45720" marT="45720" marB="45720" anchor="t">
                    <a:lnL w="6350" cap="flat" cmpd="sng" algn="ctr">
                      <a:solidFill>
                        <a:srgbClr val="D9E0E8"/>
                      </a:solidFill>
                      <a:prstDash val="solid"/>
                      <a:round/>
                      <a:headEnd type="none" w="med" len="med"/>
                      <a:tailEnd type="none" w="med" len="med"/>
                    </a:lnL>
                    <a:lnR w="6350" cap="flat" cmpd="sng" algn="ctr">
                      <a:solidFill>
                        <a:srgbClr val="D9E0E8"/>
                      </a:solidFill>
                      <a:prstDash val="solid"/>
                      <a:round/>
                      <a:headEnd type="none" w="med" len="med"/>
                      <a:tailEnd type="none" w="med" len="med"/>
                    </a:lnR>
                    <a:lnT w="6350" cap="flat" cmpd="sng" algn="ctr">
                      <a:solidFill>
                        <a:srgbClr val="D9E0E8"/>
                      </a:solidFill>
                      <a:prstDash val="solid"/>
                      <a:round/>
                      <a:headEnd type="none" w="med" len="med"/>
                      <a:tailEnd type="none" w="med" len="med"/>
                    </a:lnT>
                    <a:lnB w="6350" cap="flat" cmpd="sng" algn="ctr">
                      <a:solidFill>
                        <a:srgbClr val="D9E0E8"/>
                      </a:solidFill>
                      <a:prstDash val="solid"/>
                      <a:round/>
                      <a:headEnd type="none" w="med" len="med"/>
                      <a:tailEnd type="none" w="med" len="med"/>
                    </a:lnB>
                    <a:solidFill>
                      <a:schemeClr val="bg2"/>
                    </a:solidFill>
                  </a:tcPr>
                </a:tc>
              </a:tr>
              <a:tr h="0">
                <a:tc>
                  <a:txBody>
                    <a:bodyPr/>
                    <a:lstStyle/>
                    <a:p>
                      <a:pPr indent="0" marL="0">
                        <a:buNone/>
                      </a:pPr>
                      <a:r>
                        <a:rPr lang="en-US" sz="900" dirty="0">
                          <a:solidFill>
                            <a:schemeClr val="tx1"/>
                          </a:solidFill>
                          <a:latin typeface="+mn-lt" pitchFamily="34" charset="0"/>
                          <a:ea typeface="+mn-lt" pitchFamily="34" charset="-122"/>
                          <a:cs typeface="+mn-lt" pitchFamily="34" charset="-120"/>
                        </a:rPr>
                        <a:t>Ethmoid triad</a:t>
                      </a:r>
                      <a:endParaRPr lang="en-US" sz="900" dirty="0">
                        <a:latin typeface="+mn-lt" charset="0"/>
                        <a:ea typeface="+mn-lt" charset="0"/>
                        <a:cs typeface="+mn-lt" charset="0"/>
                      </a:endParaRPr>
                    </a:p>
                  </a:txBody>
                  <a:tcPr marL="45720" marR="45720" marT="45720" marB="45720" anchor="t">
                    <a:lnL w="6350" cap="flat" cmpd="sng" algn="ctr">
                      <a:solidFill>
                        <a:srgbClr val="D9E0E8"/>
                      </a:solidFill>
                      <a:prstDash val="solid"/>
                      <a:round/>
                      <a:headEnd type="none" w="med" len="med"/>
                      <a:tailEnd type="none" w="med" len="med"/>
                    </a:lnL>
                    <a:lnR w="6350" cap="flat" cmpd="sng" algn="ctr">
                      <a:solidFill>
                        <a:srgbClr val="D9E0E8"/>
                      </a:solidFill>
                      <a:prstDash val="solid"/>
                      <a:round/>
                      <a:headEnd type="none" w="med" len="med"/>
                      <a:tailEnd type="none" w="med" len="med"/>
                    </a:lnR>
                    <a:lnT w="6350" cap="flat" cmpd="sng" algn="ctr">
                      <a:solidFill>
                        <a:srgbClr val="D9E0E8"/>
                      </a:solidFill>
                      <a:prstDash val="solid"/>
                      <a:round/>
                      <a:headEnd type="none" w="med" len="med"/>
                      <a:tailEnd type="none" w="med" len="med"/>
                    </a:lnT>
                    <a:lnB w="6350" cap="flat" cmpd="sng" algn="ctr">
                      <a:solidFill>
                        <a:srgbClr val="D9E0E8"/>
                      </a:solidFill>
                      <a:prstDash val="solid"/>
                      <a:round/>
                      <a:headEnd type="none" w="med" len="med"/>
                      <a:tailEnd type="none" w="med" len="med"/>
                    </a:lnB>
                    <a:solidFill>
                      <a:schemeClr val="bg1"/>
                    </a:solidFill>
                  </a:tcPr>
                </a:tc>
                <a:tc>
                  <a:txBody>
                    <a:bodyPr/>
                    <a:lstStyle/>
                    <a:p>
                      <a:pPr indent="0" marL="0">
                        <a:buNone/>
                      </a:pPr>
                      <a:r>
                        <a:rPr lang="en-US" sz="900" dirty="0">
                          <a:solidFill>
                            <a:schemeClr val="tx1"/>
                          </a:solidFill>
                          <a:latin typeface="+mn-lt" pitchFamily="34" charset="0"/>
                          <a:ea typeface="+mn-lt" pitchFamily="34" charset="-122"/>
                          <a:cs typeface="+mn-lt" pitchFamily="34" charset="-120"/>
                        </a:rPr>
                        <a:t>50</a:t>
                      </a:r>
                      <a:endParaRPr lang="en-US" sz="900" dirty="0">
                        <a:latin typeface="+mn-lt" charset="0"/>
                        <a:ea typeface="+mn-lt" charset="0"/>
                        <a:cs typeface="+mn-lt" charset="0"/>
                      </a:endParaRPr>
                    </a:p>
                  </a:txBody>
                  <a:tcPr marL="45720" marR="45720" marT="45720" marB="45720" anchor="t">
                    <a:lnL w="6350" cap="flat" cmpd="sng" algn="ctr">
                      <a:solidFill>
                        <a:srgbClr val="D9E0E8"/>
                      </a:solidFill>
                      <a:prstDash val="solid"/>
                      <a:round/>
                      <a:headEnd type="none" w="med" len="med"/>
                      <a:tailEnd type="none" w="med" len="med"/>
                    </a:lnL>
                    <a:lnR w="6350" cap="flat" cmpd="sng" algn="ctr">
                      <a:solidFill>
                        <a:srgbClr val="D9E0E8"/>
                      </a:solidFill>
                      <a:prstDash val="solid"/>
                      <a:round/>
                      <a:headEnd type="none" w="med" len="med"/>
                      <a:tailEnd type="none" w="med" len="med"/>
                    </a:lnR>
                    <a:lnT w="6350" cap="flat" cmpd="sng" algn="ctr">
                      <a:solidFill>
                        <a:srgbClr val="D9E0E8"/>
                      </a:solidFill>
                      <a:prstDash val="solid"/>
                      <a:round/>
                      <a:headEnd type="none" w="med" len="med"/>
                      <a:tailEnd type="none" w="med" len="med"/>
                    </a:lnT>
                    <a:lnB w="6350" cap="flat" cmpd="sng" algn="ctr">
                      <a:solidFill>
                        <a:srgbClr val="D9E0E8"/>
                      </a:solidFill>
                      <a:prstDash val="solid"/>
                      <a:round/>
                      <a:headEnd type="none" w="med" len="med"/>
                      <a:tailEnd type="none" w="med" len="med"/>
                    </a:lnB>
                    <a:solidFill>
                      <a:schemeClr val="bg1"/>
                    </a:solidFill>
                  </a:tcPr>
                </a:tc>
                <a:tc>
                  <a:txBody>
                    <a:bodyPr/>
                    <a:lstStyle/>
                    <a:p>
                      <a:pPr indent="0" marL="0">
                        <a:buNone/>
                      </a:pPr>
                      <a:r>
                        <a:rPr lang="en-US" sz="900" dirty="0">
                          <a:solidFill>
                            <a:schemeClr val="tx1"/>
                          </a:solidFill>
                          <a:latin typeface="+mn-lt" pitchFamily="34" charset="0"/>
                          <a:ea typeface="+mn-lt" pitchFamily="34" charset="-122"/>
                          <a:cs typeface="+mn-lt" pitchFamily="34" charset="-120"/>
                        </a:rPr>
                        <a:t>2.52</a:t>
                      </a:r>
                      <a:endParaRPr lang="en-US" sz="900" dirty="0">
                        <a:latin typeface="+mn-lt" charset="0"/>
                        <a:ea typeface="+mn-lt" charset="0"/>
                        <a:cs typeface="+mn-lt" charset="0"/>
                      </a:endParaRPr>
                    </a:p>
                  </a:txBody>
                  <a:tcPr marL="45720" marR="45720" marT="45720" marB="45720" anchor="t">
                    <a:lnL w="6350" cap="flat" cmpd="sng" algn="ctr">
                      <a:solidFill>
                        <a:srgbClr val="D9E0E8"/>
                      </a:solidFill>
                      <a:prstDash val="solid"/>
                      <a:round/>
                      <a:headEnd type="none" w="med" len="med"/>
                      <a:tailEnd type="none" w="med" len="med"/>
                    </a:lnL>
                    <a:lnR w="6350" cap="flat" cmpd="sng" algn="ctr">
                      <a:solidFill>
                        <a:srgbClr val="D9E0E8"/>
                      </a:solidFill>
                      <a:prstDash val="solid"/>
                      <a:round/>
                      <a:headEnd type="none" w="med" len="med"/>
                      <a:tailEnd type="none" w="med" len="med"/>
                    </a:lnR>
                    <a:lnT w="6350" cap="flat" cmpd="sng" algn="ctr">
                      <a:solidFill>
                        <a:srgbClr val="D9E0E8"/>
                      </a:solidFill>
                      <a:prstDash val="solid"/>
                      <a:round/>
                      <a:headEnd type="none" w="med" len="med"/>
                      <a:tailEnd type="none" w="med" len="med"/>
                    </a:lnT>
                    <a:lnB w="6350" cap="flat" cmpd="sng" algn="ctr">
                      <a:solidFill>
                        <a:srgbClr val="D9E0E8"/>
                      </a:solidFill>
                      <a:prstDash val="solid"/>
                      <a:round/>
                      <a:headEnd type="none" w="med" len="med"/>
                      <a:tailEnd type="none" w="med" len="med"/>
                    </a:lnB>
                    <a:solidFill>
                      <a:schemeClr val="bg1"/>
                    </a:solidFill>
                  </a:tcPr>
                </a:tc>
                <a:tc>
                  <a:txBody>
                    <a:bodyPr/>
                    <a:lstStyle/>
                    <a:p>
                      <a:pPr indent="0" marL="0">
                        <a:buNone/>
                      </a:pPr>
                      <a:r>
                        <a:rPr lang="en-US" sz="900" dirty="0">
                          <a:solidFill>
                            <a:schemeClr val="tx1"/>
                          </a:solidFill>
                          <a:latin typeface="+mn-lt" pitchFamily="34" charset="0"/>
                          <a:ea typeface="+mn-lt" pitchFamily="34" charset="-122"/>
                          <a:cs typeface="+mn-lt" pitchFamily="34" charset="-120"/>
                        </a:rPr>
                        <a:t>2.01</a:t>
                      </a:r>
                      <a:endParaRPr lang="en-US" sz="900" dirty="0">
                        <a:latin typeface="+mn-lt" charset="0"/>
                        <a:ea typeface="+mn-lt" charset="0"/>
                        <a:cs typeface="+mn-lt" charset="0"/>
                      </a:endParaRPr>
                    </a:p>
                  </a:txBody>
                  <a:tcPr marL="45720" marR="45720" marT="45720" marB="45720" anchor="t">
                    <a:lnL w="6350" cap="flat" cmpd="sng" algn="ctr">
                      <a:solidFill>
                        <a:srgbClr val="D9E0E8"/>
                      </a:solidFill>
                      <a:prstDash val="solid"/>
                      <a:round/>
                      <a:headEnd type="none" w="med" len="med"/>
                      <a:tailEnd type="none" w="med" len="med"/>
                    </a:lnL>
                    <a:lnR w="6350" cap="flat" cmpd="sng" algn="ctr">
                      <a:solidFill>
                        <a:srgbClr val="D9E0E8"/>
                      </a:solidFill>
                      <a:prstDash val="solid"/>
                      <a:round/>
                      <a:headEnd type="none" w="med" len="med"/>
                      <a:tailEnd type="none" w="med" len="med"/>
                    </a:lnR>
                    <a:lnT w="6350" cap="flat" cmpd="sng" algn="ctr">
                      <a:solidFill>
                        <a:srgbClr val="D9E0E8"/>
                      </a:solidFill>
                      <a:prstDash val="solid"/>
                      <a:round/>
                      <a:headEnd type="none" w="med" len="med"/>
                      <a:tailEnd type="none" w="med" len="med"/>
                    </a:lnT>
                    <a:lnB w="6350" cap="flat" cmpd="sng" algn="ctr">
                      <a:solidFill>
                        <a:srgbClr val="D9E0E8"/>
                      </a:solidFill>
                      <a:prstDash val="solid"/>
                      <a:round/>
                      <a:headEnd type="none" w="med" len="med"/>
                      <a:tailEnd type="none" w="med" len="med"/>
                    </a:lnB>
                    <a:solidFill>
                      <a:schemeClr val="bg1"/>
                    </a:solidFill>
                  </a:tcPr>
                </a:tc>
                <a:tc>
                  <a:txBody>
                    <a:bodyPr/>
                    <a:lstStyle/>
                    <a:p>
                      <a:pPr indent="0" marL="0">
                        <a:buNone/>
                      </a:pPr>
                      <a:r>
                        <a:rPr lang="en-US" sz="900" dirty="0">
                          <a:solidFill>
                            <a:schemeClr val="tx1"/>
                          </a:solidFill>
                          <a:latin typeface="+mn-lt" pitchFamily="34" charset="0"/>
                          <a:ea typeface="+mn-lt" pitchFamily="34" charset="-122"/>
                          <a:cs typeface="+mn-lt" pitchFamily="34" charset="-120"/>
                        </a:rPr>
                        <a:t>0.23</a:t>
                      </a:r>
                      <a:endParaRPr lang="en-US" sz="900" dirty="0">
                        <a:latin typeface="+mn-lt" charset="0"/>
                        <a:ea typeface="+mn-lt" charset="0"/>
                        <a:cs typeface="+mn-lt" charset="0"/>
                      </a:endParaRPr>
                    </a:p>
                  </a:txBody>
                  <a:tcPr marL="45720" marR="45720" marT="45720" marB="45720" anchor="t">
                    <a:lnL w="6350" cap="flat" cmpd="sng" algn="ctr">
                      <a:solidFill>
                        <a:srgbClr val="D9E0E8"/>
                      </a:solidFill>
                      <a:prstDash val="solid"/>
                      <a:round/>
                      <a:headEnd type="none" w="med" len="med"/>
                      <a:tailEnd type="none" w="med" len="med"/>
                    </a:lnL>
                    <a:lnR w="6350" cap="flat" cmpd="sng" algn="ctr">
                      <a:solidFill>
                        <a:srgbClr val="D9E0E8"/>
                      </a:solidFill>
                      <a:prstDash val="solid"/>
                      <a:round/>
                      <a:headEnd type="none" w="med" len="med"/>
                      <a:tailEnd type="none" w="med" len="med"/>
                    </a:lnR>
                    <a:lnT w="6350" cap="flat" cmpd="sng" algn="ctr">
                      <a:solidFill>
                        <a:srgbClr val="D9E0E8"/>
                      </a:solidFill>
                      <a:prstDash val="solid"/>
                      <a:round/>
                      <a:headEnd type="none" w="med" len="med"/>
                      <a:tailEnd type="none" w="med" len="med"/>
                    </a:lnT>
                    <a:lnB w="6350" cap="flat" cmpd="sng" algn="ctr">
                      <a:solidFill>
                        <a:srgbClr val="D9E0E8"/>
                      </a:solidFill>
                      <a:prstDash val="solid"/>
                      <a:round/>
                      <a:headEnd type="none" w="med" len="med"/>
                      <a:tailEnd type="none" w="med" len="med"/>
                    </a:lnB>
                    <a:solidFill>
                      <a:schemeClr val="bg1"/>
                    </a:solidFill>
                  </a:tcPr>
                </a:tc>
                <a:tc>
                  <a:txBody>
                    <a:bodyPr/>
                    <a:lstStyle/>
                    <a:p>
                      <a:pPr indent="0" marL="0">
                        <a:buNone/>
                      </a:pPr>
                      <a:r>
                        <a:rPr lang="en-US" sz="900" dirty="0">
                          <a:solidFill>
                            <a:schemeClr val="tx1"/>
                          </a:solidFill>
                          <a:latin typeface="+mn-lt" pitchFamily="34" charset="0"/>
                          <a:ea typeface="+mn-lt" pitchFamily="34" charset="-122"/>
                          <a:cs typeface="+mn-lt" pitchFamily="34" charset="-120"/>
                        </a:rPr>
                        <a:t>11.99</a:t>
                      </a:r>
                      <a:endParaRPr lang="en-US" sz="900" dirty="0">
                        <a:latin typeface="+mn-lt" charset="0"/>
                        <a:ea typeface="+mn-lt" charset="0"/>
                        <a:cs typeface="+mn-lt" charset="0"/>
                      </a:endParaRPr>
                    </a:p>
                  </a:txBody>
                  <a:tcPr marL="45720" marR="45720" marT="45720" marB="45720" anchor="t">
                    <a:lnL w="6350" cap="flat" cmpd="sng" algn="ctr">
                      <a:solidFill>
                        <a:srgbClr val="D9E0E8"/>
                      </a:solidFill>
                      <a:prstDash val="solid"/>
                      <a:round/>
                      <a:headEnd type="none" w="med" len="med"/>
                      <a:tailEnd type="none" w="med" len="med"/>
                    </a:lnL>
                    <a:lnR w="6350" cap="flat" cmpd="sng" algn="ctr">
                      <a:solidFill>
                        <a:srgbClr val="D9E0E8"/>
                      </a:solidFill>
                      <a:prstDash val="solid"/>
                      <a:round/>
                      <a:headEnd type="none" w="med" len="med"/>
                      <a:tailEnd type="none" w="med" len="med"/>
                    </a:lnR>
                    <a:lnT w="6350" cap="flat" cmpd="sng" algn="ctr">
                      <a:solidFill>
                        <a:srgbClr val="D9E0E8"/>
                      </a:solidFill>
                      <a:prstDash val="solid"/>
                      <a:round/>
                      <a:headEnd type="none" w="med" len="med"/>
                      <a:tailEnd type="none" w="med" len="med"/>
                    </a:lnT>
                    <a:lnB w="6350" cap="flat" cmpd="sng" algn="ctr">
                      <a:solidFill>
                        <a:srgbClr val="D9E0E8"/>
                      </a:solidFill>
                      <a:prstDash val="solid"/>
                      <a:round/>
                      <a:headEnd type="none" w="med" len="med"/>
                      <a:tailEnd type="none" w="med" len="med"/>
                    </a:lnB>
                    <a:solidFill>
                      <a:schemeClr val="bg1"/>
                    </a:solidFill>
                  </a:tcPr>
                </a:tc>
              </a:tr>
              <a:tr h="0">
                <a:tc>
                  <a:txBody>
                    <a:bodyPr/>
                    <a:lstStyle/>
                    <a:p>
                      <a:pPr indent="0" marL="0">
                        <a:buNone/>
                      </a:pPr>
                      <a:r>
                        <a:rPr lang="en-US" sz="900" dirty="0">
                          <a:solidFill>
                            <a:schemeClr val="tx1"/>
                          </a:solidFill>
                          <a:latin typeface="+mn-lt" pitchFamily="34" charset="0"/>
                          <a:ea typeface="+mn-lt" pitchFamily="34" charset="-122"/>
                          <a:cs typeface="+mn-lt" pitchFamily="34" charset="-120"/>
                        </a:rPr>
                        <a:t>Posterior key ridge</a:t>
                      </a:r>
                      <a:endParaRPr lang="en-US" sz="900" dirty="0">
                        <a:latin typeface="+mn-lt" charset="0"/>
                        <a:ea typeface="+mn-lt" charset="0"/>
                        <a:cs typeface="+mn-lt" charset="0"/>
                      </a:endParaRPr>
                    </a:p>
                  </a:txBody>
                  <a:tcPr marL="45720" marR="45720" marT="45720" marB="45720" anchor="t">
                    <a:lnL w="6350" cap="flat" cmpd="sng" algn="ctr">
                      <a:solidFill>
                        <a:srgbClr val="D9E0E8"/>
                      </a:solidFill>
                      <a:prstDash val="solid"/>
                      <a:round/>
                      <a:headEnd type="none" w="med" len="med"/>
                      <a:tailEnd type="none" w="med" len="med"/>
                    </a:lnL>
                    <a:lnR w="6350" cap="flat" cmpd="sng" algn="ctr">
                      <a:solidFill>
                        <a:srgbClr val="D9E0E8"/>
                      </a:solidFill>
                      <a:prstDash val="solid"/>
                      <a:round/>
                      <a:headEnd type="none" w="med" len="med"/>
                      <a:tailEnd type="none" w="med" len="med"/>
                    </a:lnR>
                    <a:lnT w="6350" cap="flat" cmpd="sng" algn="ctr">
                      <a:solidFill>
                        <a:srgbClr val="D9E0E8"/>
                      </a:solidFill>
                      <a:prstDash val="solid"/>
                      <a:round/>
                      <a:headEnd type="none" w="med" len="med"/>
                      <a:tailEnd type="none" w="med" len="med"/>
                    </a:lnT>
                    <a:lnB w="6350" cap="flat" cmpd="sng" algn="ctr">
                      <a:solidFill>
                        <a:srgbClr val="D9E0E8"/>
                      </a:solidFill>
                      <a:prstDash val="solid"/>
                      <a:round/>
                      <a:headEnd type="none" w="med" len="med"/>
                      <a:tailEnd type="none" w="med" len="med"/>
                    </a:lnB>
                    <a:solidFill>
                      <a:schemeClr val="bg2"/>
                    </a:solidFill>
                  </a:tcPr>
                </a:tc>
                <a:tc>
                  <a:txBody>
                    <a:bodyPr/>
                    <a:lstStyle/>
                    <a:p>
                      <a:pPr indent="0" marL="0">
                        <a:buNone/>
                      </a:pPr>
                      <a:r>
                        <a:rPr lang="en-US" sz="900" dirty="0">
                          <a:solidFill>
                            <a:schemeClr val="tx1"/>
                          </a:solidFill>
                          <a:latin typeface="+mn-lt" pitchFamily="34" charset="0"/>
                          <a:ea typeface="+mn-lt" pitchFamily="34" charset="-122"/>
                          <a:cs typeface="+mn-lt" pitchFamily="34" charset="-120"/>
                        </a:rPr>
                        <a:t>50</a:t>
                      </a:r>
                      <a:endParaRPr lang="en-US" sz="900" dirty="0">
                        <a:latin typeface="+mn-lt" charset="0"/>
                        <a:ea typeface="+mn-lt" charset="0"/>
                        <a:cs typeface="+mn-lt" charset="0"/>
                      </a:endParaRPr>
                    </a:p>
                  </a:txBody>
                  <a:tcPr marL="45720" marR="45720" marT="45720" marB="45720" anchor="t">
                    <a:lnL w="6350" cap="flat" cmpd="sng" algn="ctr">
                      <a:solidFill>
                        <a:srgbClr val="D9E0E8"/>
                      </a:solidFill>
                      <a:prstDash val="solid"/>
                      <a:round/>
                      <a:headEnd type="none" w="med" len="med"/>
                      <a:tailEnd type="none" w="med" len="med"/>
                    </a:lnL>
                    <a:lnR w="6350" cap="flat" cmpd="sng" algn="ctr">
                      <a:solidFill>
                        <a:srgbClr val="D9E0E8"/>
                      </a:solidFill>
                      <a:prstDash val="solid"/>
                      <a:round/>
                      <a:headEnd type="none" w="med" len="med"/>
                      <a:tailEnd type="none" w="med" len="med"/>
                    </a:lnR>
                    <a:lnT w="6350" cap="flat" cmpd="sng" algn="ctr">
                      <a:solidFill>
                        <a:srgbClr val="D9E0E8"/>
                      </a:solidFill>
                      <a:prstDash val="solid"/>
                      <a:round/>
                      <a:headEnd type="none" w="med" len="med"/>
                      <a:tailEnd type="none" w="med" len="med"/>
                    </a:lnT>
                    <a:lnB w="6350" cap="flat" cmpd="sng" algn="ctr">
                      <a:solidFill>
                        <a:srgbClr val="D9E0E8"/>
                      </a:solidFill>
                      <a:prstDash val="solid"/>
                      <a:round/>
                      <a:headEnd type="none" w="med" len="med"/>
                      <a:tailEnd type="none" w="med" len="med"/>
                    </a:lnB>
                    <a:solidFill>
                      <a:schemeClr val="bg2"/>
                    </a:solidFill>
                  </a:tcPr>
                </a:tc>
                <a:tc>
                  <a:txBody>
                    <a:bodyPr/>
                    <a:lstStyle/>
                    <a:p>
                      <a:pPr indent="0" marL="0">
                        <a:buNone/>
                      </a:pPr>
                      <a:r>
                        <a:rPr lang="en-US" sz="900" dirty="0">
                          <a:solidFill>
                            <a:schemeClr val="tx1"/>
                          </a:solidFill>
                          <a:latin typeface="+mn-lt" pitchFamily="34" charset="0"/>
                          <a:ea typeface="+mn-lt" pitchFamily="34" charset="-122"/>
                          <a:cs typeface="+mn-lt" pitchFamily="34" charset="-120"/>
                        </a:rPr>
                        <a:t>0.97</a:t>
                      </a:r>
                      <a:endParaRPr lang="en-US" sz="900" dirty="0">
                        <a:latin typeface="+mn-lt" charset="0"/>
                        <a:ea typeface="+mn-lt" charset="0"/>
                        <a:cs typeface="+mn-lt" charset="0"/>
                      </a:endParaRPr>
                    </a:p>
                  </a:txBody>
                  <a:tcPr marL="45720" marR="45720" marT="45720" marB="45720" anchor="t">
                    <a:lnL w="6350" cap="flat" cmpd="sng" algn="ctr">
                      <a:solidFill>
                        <a:srgbClr val="D9E0E8"/>
                      </a:solidFill>
                      <a:prstDash val="solid"/>
                      <a:round/>
                      <a:headEnd type="none" w="med" len="med"/>
                      <a:tailEnd type="none" w="med" len="med"/>
                    </a:lnL>
                    <a:lnR w="6350" cap="flat" cmpd="sng" algn="ctr">
                      <a:solidFill>
                        <a:srgbClr val="D9E0E8"/>
                      </a:solidFill>
                      <a:prstDash val="solid"/>
                      <a:round/>
                      <a:headEnd type="none" w="med" len="med"/>
                      <a:tailEnd type="none" w="med" len="med"/>
                    </a:lnR>
                    <a:lnT w="6350" cap="flat" cmpd="sng" algn="ctr">
                      <a:solidFill>
                        <a:srgbClr val="D9E0E8"/>
                      </a:solidFill>
                      <a:prstDash val="solid"/>
                      <a:round/>
                      <a:headEnd type="none" w="med" len="med"/>
                      <a:tailEnd type="none" w="med" len="med"/>
                    </a:lnT>
                    <a:lnB w="6350" cap="flat" cmpd="sng" algn="ctr">
                      <a:solidFill>
                        <a:srgbClr val="D9E0E8"/>
                      </a:solidFill>
                      <a:prstDash val="solid"/>
                      <a:round/>
                      <a:headEnd type="none" w="med" len="med"/>
                      <a:tailEnd type="none" w="med" len="med"/>
                    </a:lnB>
                    <a:solidFill>
                      <a:schemeClr val="bg2"/>
                    </a:solidFill>
                  </a:tcPr>
                </a:tc>
                <a:tc>
                  <a:txBody>
                    <a:bodyPr/>
                    <a:lstStyle/>
                    <a:p>
                      <a:pPr indent="0" marL="0">
                        <a:buNone/>
                      </a:pPr>
                      <a:r>
                        <a:rPr lang="en-US" sz="900" dirty="0">
                          <a:solidFill>
                            <a:schemeClr val="tx1"/>
                          </a:solidFill>
                          <a:latin typeface="+mn-lt" pitchFamily="34" charset="0"/>
                          <a:ea typeface="+mn-lt" pitchFamily="34" charset="-122"/>
                          <a:cs typeface="+mn-lt" pitchFamily="34" charset="-120"/>
                        </a:rPr>
                        <a:t>0.43</a:t>
                      </a:r>
                      <a:endParaRPr lang="en-US" sz="900" dirty="0">
                        <a:latin typeface="+mn-lt" charset="0"/>
                        <a:ea typeface="+mn-lt" charset="0"/>
                        <a:cs typeface="+mn-lt" charset="0"/>
                      </a:endParaRPr>
                    </a:p>
                  </a:txBody>
                  <a:tcPr marL="45720" marR="45720" marT="45720" marB="45720" anchor="t">
                    <a:lnL w="6350" cap="flat" cmpd="sng" algn="ctr">
                      <a:solidFill>
                        <a:srgbClr val="D9E0E8"/>
                      </a:solidFill>
                      <a:prstDash val="solid"/>
                      <a:round/>
                      <a:headEnd type="none" w="med" len="med"/>
                      <a:tailEnd type="none" w="med" len="med"/>
                    </a:lnL>
                    <a:lnR w="6350" cap="flat" cmpd="sng" algn="ctr">
                      <a:solidFill>
                        <a:srgbClr val="D9E0E8"/>
                      </a:solidFill>
                      <a:prstDash val="solid"/>
                      <a:round/>
                      <a:headEnd type="none" w="med" len="med"/>
                      <a:tailEnd type="none" w="med" len="med"/>
                    </a:lnR>
                    <a:lnT w="6350" cap="flat" cmpd="sng" algn="ctr">
                      <a:solidFill>
                        <a:srgbClr val="D9E0E8"/>
                      </a:solidFill>
                      <a:prstDash val="solid"/>
                      <a:round/>
                      <a:headEnd type="none" w="med" len="med"/>
                      <a:tailEnd type="none" w="med" len="med"/>
                    </a:lnT>
                    <a:lnB w="6350" cap="flat" cmpd="sng" algn="ctr">
                      <a:solidFill>
                        <a:srgbClr val="D9E0E8"/>
                      </a:solidFill>
                      <a:prstDash val="solid"/>
                      <a:round/>
                      <a:headEnd type="none" w="med" len="med"/>
                      <a:tailEnd type="none" w="med" len="med"/>
                    </a:lnB>
                    <a:solidFill>
                      <a:schemeClr val="bg2"/>
                    </a:solidFill>
                  </a:tcPr>
                </a:tc>
                <a:tc>
                  <a:txBody>
                    <a:bodyPr/>
                    <a:lstStyle/>
                    <a:p>
                      <a:pPr indent="0" marL="0">
                        <a:buNone/>
                      </a:pPr>
                      <a:r>
                        <a:rPr lang="en-US" sz="900" dirty="0">
                          <a:solidFill>
                            <a:schemeClr val="tx1"/>
                          </a:solidFill>
                          <a:latin typeface="+mn-lt" pitchFamily="34" charset="0"/>
                          <a:ea typeface="+mn-lt" pitchFamily="34" charset="-122"/>
                          <a:cs typeface="+mn-lt" pitchFamily="34" charset="-120"/>
                        </a:rPr>
                        <a:t>0.47</a:t>
                      </a:r>
                      <a:endParaRPr lang="en-US" sz="900" dirty="0">
                        <a:latin typeface="+mn-lt" charset="0"/>
                        <a:ea typeface="+mn-lt" charset="0"/>
                        <a:cs typeface="+mn-lt" charset="0"/>
                      </a:endParaRPr>
                    </a:p>
                  </a:txBody>
                  <a:tcPr marL="45720" marR="45720" marT="45720" marB="45720" anchor="t">
                    <a:lnL w="6350" cap="flat" cmpd="sng" algn="ctr">
                      <a:solidFill>
                        <a:srgbClr val="D9E0E8"/>
                      </a:solidFill>
                      <a:prstDash val="solid"/>
                      <a:round/>
                      <a:headEnd type="none" w="med" len="med"/>
                      <a:tailEnd type="none" w="med" len="med"/>
                    </a:lnL>
                    <a:lnR w="6350" cap="flat" cmpd="sng" algn="ctr">
                      <a:solidFill>
                        <a:srgbClr val="D9E0E8"/>
                      </a:solidFill>
                      <a:prstDash val="solid"/>
                      <a:round/>
                      <a:headEnd type="none" w="med" len="med"/>
                      <a:tailEnd type="none" w="med" len="med"/>
                    </a:lnR>
                    <a:lnT w="6350" cap="flat" cmpd="sng" algn="ctr">
                      <a:solidFill>
                        <a:srgbClr val="D9E0E8"/>
                      </a:solidFill>
                      <a:prstDash val="solid"/>
                      <a:round/>
                      <a:headEnd type="none" w="med" len="med"/>
                      <a:tailEnd type="none" w="med" len="med"/>
                    </a:lnT>
                    <a:lnB w="6350" cap="flat" cmpd="sng" algn="ctr">
                      <a:solidFill>
                        <a:srgbClr val="D9E0E8"/>
                      </a:solidFill>
                      <a:prstDash val="solid"/>
                      <a:round/>
                      <a:headEnd type="none" w="med" len="med"/>
                      <a:tailEnd type="none" w="med" len="med"/>
                    </a:lnB>
                    <a:solidFill>
                      <a:schemeClr val="bg2"/>
                    </a:solidFill>
                  </a:tcPr>
                </a:tc>
                <a:tc>
                  <a:txBody>
                    <a:bodyPr/>
                    <a:lstStyle/>
                    <a:p>
                      <a:pPr indent="0" marL="0">
                        <a:buNone/>
                      </a:pPr>
                      <a:r>
                        <a:rPr lang="en-US" sz="900" dirty="0">
                          <a:solidFill>
                            <a:schemeClr val="tx1"/>
                          </a:solidFill>
                          <a:latin typeface="+mn-lt" pitchFamily="34" charset="0"/>
                          <a:ea typeface="+mn-lt" pitchFamily="34" charset="-122"/>
                          <a:cs typeface="+mn-lt" pitchFamily="34" charset="-120"/>
                        </a:rPr>
                        <a:t>3.12</a:t>
                      </a:r>
                      <a:endParaRPr lang="en-US" sz="900" dirty="0">
                        <a:latin typeface="+mn-lt" charset="0"/>
                        <a:ea typeface="+mn-lt" charset="0"/>
                        <a:cs typeface="+mn-lt" charset="0"/>
                      </a:endParaRPr>
                    </a:p>
                  </a:txBody>
                  <a:tcPr marL="45720" marR="45720" marT="45720" marB="45720" anchor="t">
                    <a:lnL w="6350" cap="flat" cmpd="sng" algn="ctr">
                      <a:solidFill>
                        <a:srgbClr val="D9E0E8"/>
                      </a:solidFill>
                      <a:prstDash val="solid"/>
                      <a:round/>
                      <a:headEnd type="none" w="med" len="med"/>
                      <a:tailEnd type="none" w="med" len="med"/>
                    </a:lnL>
                    <a:lnR w="6350" cap="flat" cmpd="sng" algn="ctr">
                      <a:solidFill>
                        <a:srgbClr val="D9E0E8"/>
                      </a:solidFill>
                      <a:prstDash val="solid"/>
                      <a:round/>
                      <a:headEnd type="none" w="med" len="med"/>
                      <a:tailEnd type="none" w="med" len="med"/>
                    </a:lnR>
                    <a:lnT w="6350" cap="flat" cmpd="sng" algn="ctr">
                      <a:solidFill>
                        <a:srgbClr val="D9E0E8"/>
                      </a:solidFill>
                      <a:prstDash val="solid"/>
                      <a:round/>
                      <a:headEnd type="none" w="med" len="med"/>
                      <a:tailEnd type="none" w="med" len="med"/>
                    </a:lnT>
                    <a:lnB w="6350" cap="flat" cmpd="sng" algn="ctr">
                      <a:solidFill>
                        <a:srgbClr val="D9E0E8"/>
                      </a:solidFill>
                      <a:prstDash val="solid"/>
                      <a:round/>
                      <a:headEnd type="none" w="med" len="med"/>
                      <a:tailEnd type="none" w="med" len="med"/>
                    </a:lnB>
                    <a:solidFill>
                      <a:schemeClr val="bg2"/>
                    </a:solidFill>
                  </a:tcPr>
                </a:tc>
              </a:tr>
              <a:tr h="0">
                <a:tc>
                  <a:txBody>
                    <a:bodyPr/>
                    <a:lstStyle/>
                    <a:p>
                      <a:pPr indent="0" marL="0">
                        <a:buNone/>
                      </a:pPr>
                      <a:r>
                        <a:rPr lang="en-US" sz="900" dirty="0">
                          <a:solidFill>
                            <a:schemeClr val="tx1"/>
                          </a:solidFill>
                          <a:latin typeface="+mn-lt" pitchFamily="34" charset="0"/>
                          <a:ea typeface="+mn-lt" pitchFamily="34" charset="-122"/>
                          <a:cs typeface="+mn-lt" pitchFamily="34" charset="-120"/>
                        </a:rPr>
                        <a:t>Anterior key ridge</a:t>
                      </a:r>
                      <a:endParaRPr lang="en-US" sz="900" dirty="0">
                        <a:latin typeface="+mn-lt" charset="0"/>
                        <a:ea typeface="+mn-lt" charset="0"/>
                        <a:cs typeface="+mn-lt" charset="0"/>
                      </a:endParaRPr>
                    </a:p>
                  </a:txBody>
                  <a:tcPr marL="45720" marR="45720" marT="45720" marB="45720" anchor="t">
                    <a:lnL w="6350" cap="flat" cmpd="sng" algn="ctr">
                      <a:solidFill>
                        <a:srgbClr val="D9E0E8"/>
                      </a:solidFill>
                      <a:prstDash val="solid"/>
                      <a:round/>
                      <a:headEnd type="none" w="med" len="med"/>
                      <a:tailEnd type="none" w="med" len="med"/>
                    </a:lnL>
                    <a:lnR w="6350" cap="flat" cmpd="sng" algn="ctr">
                      <a:solidFill>
                        <a:srgbClr val="D9E0E8"/>
                      </a:solidFill>
                      <a:prstDash val="solid"/>
                      <a:round/>
                      <a:headEnd type="none" w="med" len="med"/>
                      <a:tailEnd type="none" w="med" len="med"/>
                    </a:lnR>
                    <a:lnT w="6350" cap="flat" cmpd="sng" algn="ctr">
                      <a:solidFill>
                        <a:srgbClr val="D9E0E8"/>
                      </a:solidFill>
                      <a:prstDash val="solid"/>
                      <a:round/>
                      <a:headEnd type="none" w="med" len="med"/>
                      <a:tailEnd type="none" w="med" len="med"/>
                    </a:lnT>
                    <a:lnB w="6350" cap="flat" cmpd="sng" algn="ctr">
                      <a:solidFill>
                        <a:srgbClr val="D9E0E8"/>
                      </a:solidFill>
                      <a:prstDash val="solid"/>
                      <a:round/>
                      <a:headEnd type="none" w="med" len="med"/>
                      <a:tailEnd type="none" w="med" len="med"/>
                    </a:lnB>
                    <a:solidFill>
                      <a:schemeClr val="bg1"/>
                    </a:solidFill>
                  </a:tcPr>
                </a:tc>
                <a:tc>
                  <a:txBody>
                    <a:bodyPr/>
                    <a:lstStyle/>
                    <a:p>
                      <a:pPr indent="0" marL="0">
                        <a:buNone/>
                      </a:pPr>
                      <a:r>
                        <a:rPr lang="en-US" sz="900" dirty="0">
                          <a:solidFill>
                            <a:schemeClr val="tx1"/>
                          </a:solidFill>
                          <a:latin typeface="+mn-lt" pitchFamily="34" charset="0"/>
                          <a:ea typeface="+mn-lt" pitchFamily="34" charset="-122"/>
                          <a:cs typeface="+mn-lt" pitchFamily="34" charset="-120"/>
                        </a:rPr>
                        <a:t>40</a:t>
                      </a:r>
                      <a:endParaRPr lang="en-US" sz="900" dirty="0">
                        <a:latin typeface="+mn-lt" charset="0"/>
                        <a:ea typeface="+mn-lt" charset="0"/>
                        <a:cs typeface="+mn-lt" charset="0"/>
                      </a:endParaRPr>
                    </a:p>
                  </a:txBody>
                  <a:tcPr marL="45720" marR="45720" marT="45720" marB="45720" anchor="t">
                    <a:lnL w="6350" cap="flat" cmpd="sng" algn="ctr">
                      <a:solidFill>
                        <a:srgbClr val="D9E0E8"/>
                      </a:solidFill>
                      <a:prstDash val="solid"/>
                      <a:round/>
                      <a:headEnd type="none" w="med" len="med"/>
                      <a:tailEnd type="none" w="med" len="med"/>
                    </a:lnL>
                    <a:lnR w="6350" cap="flat" cmpd="sng" algn="ctr">
                      <a:solidFill>
                        <a:srgbClr val="D9E0E8"/>
                      </a:solidFill>
                      <a:prstDash val="solid"/>
                      <a:round/>
                      <a:headEnd type="none" w="med" len="med"/>
                      <a:tailEnd type="none" w="med" len="med"/>
                    </a:lnR>
                    <a:lnT w="6350" cap="flat" cmpd="sng" algn="ctr">
                      <a:solidFill>
                        <a:srgbClr val="D9E0E8"/>
                      </a:solidFill>
                      <a:prstDash val="solid"/>
                      <a:round/>
                      <a:headEnd type="none" w="med" len="med"/>
                      <a:tailEnd type="none" w="med" len="med"/>
                    </a:lnT>
                    <a:lnB w="6350" cap="flat" cmpd="sng" algn="ctr">
                      <a:solidFill>
                        <a:srgbClr val="D9E0E8"/>
                      </a:solidFill>
                      <a:prstDash val="solid"/>
                      <a:round/>
                      <a:headEnd type="none" w="med" len="med"/>
                      <a:tailEnd type="none" w="med" len="med"/>
                    </a:lnB>
                    <a:solidFill>
                      <a:schemeClr val="bg1"/>
                    </a:solidFill>
                  </a:tcPr>
                </a:tc>
                <a:tc>
                  <a:txBody>
                    <a:bodyPr/>
                    <a:lstStyle/>
                    <a:p>
                      <a:pPr indent="0" marL="0">
                        <a:buNone/>
                      </a:pPr>
                      <a:r>
                        <a:rPr lang="en-US" sz="900" dirty="0">
                          <a:solidFill>
                            <a:schemeClr val="tx1"/>
                          </a:solidFill>
                          <a:latin typeface="+mn-lt" pitchFamily="34" charset="0"/>
                          <a:ea typeface="+mn-lt" pitchFamily="34" charset="-122"/>
                          <a:cs typeface="+mn-lt" pitchFamily="34" charset="-120"/>
                        </a:rPr>
                        <a:t>0.95</a:t>
                      </a:r>
                      <a:endParaRPr lang="en-US" sz="900" dirty="0">
                        <a:latin typeface="+mn-lt" charset="0"/>
                        <a:ea typeface="+mn-lt" charset="0"/>
                        <a:cs typeface="+mn-lt" charset="0"/>
                      </a:endParaRPr>
                    </a:p>
                  </a:txBody>
                  <a:tcPr marL="45720" marR="45720" marT="45720" marB="45720" anchor="t">
                    <a:lnL w="6350" cap="flat" cmpd="sng" algn="ctr">
                      <a:solidFill>
                        <a:srgbClr val="D9E0E8"/>
                      </a:solidFill>
                      <a:prstDash val="solid"/>
                      <a:round/>
                      <a:headEnd type="none" w="med" len="med"/>
                      <a:tailEnd type="none" w="med" len="med"/>
                    </a:lnL>
                    <a:lnR w="6350" cap="flat" cmpd="sng" algn="ctr">
                      <a:solidFill>
                        <a:srgbClr val="D9E0E8"/>
                      </a:solidFill>
                      <a:prstDash val="solid"/>
                      <a:round/>
                      <a:headEnd type="none" w="med" len="med"/>
                      <a:tailEnd type="none" w="med" len="med"/>
                    </a:lnR>
                    <a:lnT w="6350" cap="flat" cmpd="sng" algn="ctr">
                      <a:solidFill>
                        <a:srgbClr val="D9E0E8"/>
                      </a:solidFill>
                      <a:prstDash val="solid"/>
                      <a:round/>
                      <a:headEnd type="none" w="med" len="med"/>
                      <a:tailEnd type="none" w="med" len="med"/>
                    </a:lnT>
                    <a:lnB w="6350" cap="flat" cmpd="sng" algn="ctr">
                      <a:solidFill>
                        <a:srgbClr val="D9E0E8"/>
                      </a:solidFill>
                      <a:prstDash val="solid"/>
                      <a:round/>
                      <a:headEnd type="none" w="med" len="med"/>
                      <a:tailEnd type="none" w="med" len="med"/>
                    </a:lnB>
                    <a:solidFill>
                      <a:schemeClr val="bg1"/>
                    </a:solidFill>
                  </a:tcPr>
                </a:tc>
                <a:tc>
                  <a:txBody>
                    <a:bodyPr/>
                    <a:lstStyle/>
                    <a:p>
                      <a:pPr indent="0" marL="0">
                        <a:buNone/>
                      </a:pPr>
                      <a:r>
                        <a:rPr lang="en-US" sz="900" dirty="0">
                          <a:solidFill>
                            <a:schemeClr val="tx1"/>
                          </a:solidFill>
                          <a:latin typeface="+mn-lt" pitchFamily="34" charset="0"/>
                          <a:ea typeface="+mn-lt" pitchFamily="34" charset="-122"/>
                          <a:cs typeface="+mn-lt" pitchFamily="34" charset="-120"/>
                        </a:rPr>
                        <a:t>0.57</a:t>
                      </a:r>
                      <a:endParaRPr lang="en-US" sz="900" dirty="0">
                        <a:latin typeface="+mn-lt" charset="0"/>
                        <a:ea typeface="+mn-lt" charset="0"/>
                        <a:cs typeface="+mn-lt" charset="0"/>
                      </a:endParaRPr>
                    </a:p>
                  </a:txBody>
                  <a:tcPr marL="45720" marR="45720" marT="45720" marB="45720" anchor="t">
                    <a:lnL w="6350" cap="flat" cmpd="sng" algn="ctr">
                      <a:solidFill>
                        <a:srgbClr val="D9E0E8"/>
                      </a:solidFill>
                      <a:prstDash val="solid"/>
                      <a:round/>
                      <a:headEnd type="none" w="med" len="med"/>
                      <a:tailEnd type="none" w="med" len="med"/>
                    </a:lnL>
                    <a:lnR w="6350" cap="flat" cmpd="sng" algn="ctr">
                      <a:solidFill>
                        <a:srgbClr val="D9E0E8"/>
                      </a:solidFill>
                      <a:prstDash val="solid"/>
                      <a:round/>
                      <a:headEnd type="none" w="med" len="med"/>
                      <a:tailEnd type="none" w="med" len="med"/>
                    </a:lnR>
                    <a:lnT w="6350" cap="flat" cmpd="sng" algn="ctr">
                      <a:solidFill>
                        <a:srgbClr val="D9E0E8"/>
                      </a:solidFill>
                      <a:prstDash val="solid"/>
                      <a:round/>
                      <a:headEnd type="none" w="med" len="med"/>
                      <a:tailEnd type="none" w="med" len="med"/>
                    </a:lnT>
                    <a:lnB w="6350" cap="flat" cmpd="sng" algn="ctr">
                      <a:solidFill>
                        <a:srgbClr val="D9E0E8"/>
                      </a:solidFill>
                      <a:prstDash val="solid"/>
                      <a:round/>
                      <a:headEnd type="none" w="med" len="med"/>
                      <a:tailEnd type="none" w="med" len="med"/>
                    </a:lnB>
                    <a:solidFill>
                      <a:schemeClr val="bg1"/>
                    </a:solidFill>
                  </a:tcPr>
                </a:tc>
                <a:tc>
                  <a:txBody>
                    <a:bodyPr/>
                    <a:lstStyle/>
                    <a:p>
                      <a:pPr indent="0" marL="0">
                        <a:buNone/>
                      </a:pPr>
                      <a:r>
                        <a:rPr lang="en-US" sz="900" dirty="0">
                          <a:solidFill>
                            <a:schemeClr val="tx1"/>
                          </a:solidFill>
                          <a:latin typeface="+mn-lt" pitchFamily="34" charset="0"/>
                          <a:ea typeface="+mn-lt" pitchFamily="34" charset="-122"/>
                          <a:cs typeface="+mn-lt" pitchFamily="34" charset="-120"/>
                        </a:rPr>
                        <a:t>0.15</a:t>
                      </a:r>
                      <a:endParaRPr lang="en-US" sz="900" dirty="0">
                        <a:latin typeface="+mn-lt" charset="0"/>
                        <a:ea typeface="+mn-lt" charset="0"/>
                        <a:cs typeface="+mn-lt" charset="0"/>
                      </a:endParaRPr>
                    </a:p>
                  </a:txBody>
                  <a:tcPr marL="45720" marR="45720" marT="45720" marB="45720" anchor="t">
                    <a:lnL w="6350" cap="flat" cmpd="sng" algn="ctr">
                      <a:solidFill>
                        <a:srgbClr val="D9E0E8"/>
                      </a:solidFill>
                      <a:prstDash val="solid"/>
                      <a:round/>
                      <a:headEnd type="none" w="med" len="med"/>
                      <a:tailEnd type="none" w="med" len="med"/>
                    </a:lnL>
                    <a:lnR w="6350" cap="flat" cmpd="sng" algn="ctr">
                      <a:solidFill>
                        <a:srgbClr val="D9E0E8"/>
                      </a:solidFill>
                      <a:prstDash val="solid"/>
                      <a:round/>
                      <a:headEnd type="none" w="med" len="med"/>
                      <a:tailEnd type="none" w="med" len="med"/>
                    </a:lnR>
                    <a:lnT w="6350" cap="flat" cmpd="sng" algn="ctr">
                      <a:solidFill>
                        <a:srgbClr val="D9E0E8"/>
                      </a:solidFill>
                      <a:prstDash val="solid"/>
                      <a:round/>
                      <a:headEnd type="none" w="med" len="med"/>
                      <a:tailEnd type="none" w="med" len="med"/>
                    </a:lnT>
                    <a:lnB w="6350" cap="flat" cmpd="sng" algn="ctr">
                      <a:solidFill>
                        <a:srgbClr val="D9E0E8"/>
                      </a:solidFill>
                      <a:prstDash val="solid"/>
                      <a:round/>
                      <a:headEnd type="none" w="med" len="med"/>
                      <a:tailEnd type="none" w="med" len="med"/>
                    </a:lnB>
                    <a:solidFill>
                      <a:schemeClr val="bg1"/>
                    </a:solidFill>
                  </a:tcPr>
                </a:tc>
                <a:tc>
                  <a:txBody>
                    <a:bodyPr/>
                    <a:lstStyle/>
                    <a:p>
                      <a:pPr indent="0" marL="0">
                        <a:buNone/>
                      </a:pPr>
                      <a:r>
                        <a:rPr lang="en-US" sz="900" dirty="0">
                          <a:solidFill>
                            <a:schemeClr val="tx1"/>
                          </a:solidFill>
                          <a:latin typeface="+mn-lt" pitchFamily="34" charset="0"/>
                          <a:ea typeface="+mn-lt" pitchFamily="34" charset="-122"/>
                          <a:cs typeface="+mn-lt" pitchFamily="34" charset="-120"/>
                        </a:rPr>
                        <a:t>2.56</a:t>
                      </a:r>
                      <a:endParaRPr lang="en-US" sz="900" dirty="0">
                        <a:latin typeface="+mn-lt" charset="0"/>
                        <a:ea typeface="+mn-lt" charset="0"/>
                        <a:cs typeface="+mn-lt" charset="0"/>
                      </a:endParaRPr>
                    </a:p>
                  </a:txBody>
                  <a:tcPr marL="45720" marR="45720" marT="45720" marB="45720" anchor="t">
                    <a:lnL w="6350" cap="flat" cmpd="sng" algn="ctr">
                      <a:solidFill>
                        <a:srgbClr val="D9E0E8"/>
                      </a:solidFill>
                      <a:prstDash val="solid"/>
                      <a:round/>
                      <a:headEnd type="none" w="med" len="med"/>
                      <a:tailEnd type="none" w="med" len="med"/>
                    </a:lnL>
                    <a:lnR w="6350" cap="flat" cmpd="sng" algn="ctr">
                      <a:solidFill>
                        <a:srgbClr val="D9E0E8"/>
                      </a:solidFill>
                      <a:prstDash val="solid"/>
                      <a:round/>
                      <a:headEnd type="none" w="med" len="med"/>
                      <a:tailEnd type="none" w="med" len="med"/>
                    </a:lnR>
                    <a:lnT w="6350" cap="flat" cmpd="sng" algn="ctr">
                      <a:solidFill>
                        <a:srgbClr val="D9E0E8"/>
                      </a:solidFill>
                      <a:prstDash val="solid"/>
                      <a:round/>
                      <a:headEnd type="none" w="med" len="med"/>
                      <a:tailEnd type="none" w="med" len="med"/>
                    </a:lnT>
                    <a:lnB w="6350" cap="flat" cmpd="sng" algn="ctr">
                      <a:solidFill>
                        <a:srgbClr val="D9E0E8"/>
                      </a:solidFill>
                      <a:prstDash val="solid"/>
                      <a:round/>
                      <a:headEnd type="none" w="med" len="med"/>
                      <a:tailEnd type="none" w="med" len="med"/>
                    </a:lnB>
                    <a:solidFill>
                      <a:schemeClr val="bg1"/>
                    </a:solidFill>
                  </a:tcPr>
                </a:tc>
              </a:tr>
              <a:tr h="0">
                <a:tc>
                  <a:txBody>
                    <a:bodyPr/>
                    <a:lstStyle/>
                    <a:p>
                      <a:pPr indent="0" marL="0">
                        <a:buNone/>
                      </a:pPr>
                      <a:r>
                        <a:rPr lang="en-US" sz="900" dirty="0">
                          <a:solidFill>
                            <a:schemeClr val="tx1"/>
                          </a:solidFill>
                          <a:latin typeface="+mn-lt" pitchFamily="34" charset="0"/>
                          <a:ea typeface="+mn-lt" pitchFamily="34" charset="-122"/>
                          <a:cs typeface="+mn-lt" pitchFamily="34" charset="-120"/>
                        </a:rPr>
                        <a:t>Lateral border of orbit</a:t>
                      </a:r>
                      <a:endParaRPr lang="en-US" sz="900" dirty="0">
                        <a:latin typeface="+mn-lt" charset="0"/>
                        <a:ea typeface="+mn-lt" charset="0"/>
                        <a:cs typeface="+mn-lt" charset="0"/>
                      </a:endParaRPr>
                    </a:p>
                  </a:txBody>
                  <a:tcPr marL="45720" marR="45720" marT="45720" marB="45720" anchor="t">
                    <a:lnL w="6350" cap="flat" cmpd="sng" algn="ctr">
                      <a:solidFill>
                        <a:srgbClr val="D9E0E8"/>
                      </a:solidFill>
                      <a:prstDash val="solid"/>
                      <a:round/>
                      <a:headEnd type="none" w="med" len="med"/>
                      <a:tailEnd type="none" w="med" len="med"/>
                    </a:lnL>
                    <a:lnR w="6350" cap="flat" cmpd="sng" algn="ctr">
                      <a:solidFill>
                        <a:srgbClr val="D9E0E8"/>
                      </a:solidFill>
                      <a:prstDash val="solid"/>
                      <a:round/>
                      <a:headEnd type="none" w="med" len="med"/>
                      <a:tailEnd type="none" w="med" len="med"/>
                    </a:lnR>
                    <a:lnT w="6350" cap="flat" cmpd="sng" algn="ctr">
                      <a:solidFill>
                        <a:srgbClr val="D9E0E8"/>
                      </a:solidFill>
                      <a:prstDash val="solid"/>
                      <a:round/>
                      <a:headEnd type="none" w="med" len="med"/>
                      <a:tailEnd type="none" w="med" len="med"/>
                    </a:lnT>
                    <a:lnB w="6350" cap="flat" cmpd="sng" algn="ctr">
                      <a:solidFill>
                        <a:srgbClr val="D9E0E8"/>
                      </a:solidFill>
                      <a:prstDash val="solid"/>
                      <a:round/>
                      <a:headEnd type="none" w="med" len="med"/>
                      <a:tailEnd type="none" w="med" len="med"/>
                    </a:lnB>
                    <a:solidFill>
                      <a:schemeClr val="bg2"/>
                    </a:solidFill>
                  </a:tcPr>
                </a:tc>
                <a:tc>
                  <a:txBody>
                    <a:bodyPr/>
                    <a:lstStyle/>
                    <a:p>
                      <a:pPr indent="0" marL="0">
                        <a:buNone/>
                      </a:pPr>
                      <a:r>
                        <a:rPr lang="en-US" sz="900" dirty="0">
                          <a:solidFill>
                            <a:schemeClr val="tx1"/>
                          </a:solidFill>
                          <a:latin typeface="+mn-lt" pitchFamily="34" charset="0"/>
                          <a:ea typeface="+mn-lt" pitchFamily="34" charset="-122"/>
                          <a:cs typeface="+mn-lt" pitchFamily="34" charset="-120"/>
                        </a:rPr>
                        <a:t>50</a:t>
                      </a:r>
                      <a:endParaRPr lang="en-US" sz="900" dirty="0">
                        <a:latin typeface="+mn-lt" charset="0"/>
                        <a:ea typeface="+mn-lt" charset="0"/>
                        <a:cs typeface="+mn-lt" charset="0"/>
                      </a:endParaRPr>
                    </a:p>
                  </a:txBody>
                  <a:tcPr marL="45720" marR="45720" marT="45720" marB="45720" anchor="t">
                    <a:lnL w="6350" cap="flat" cmpd="sng" algn="ctr">
                      <a:solidFill>
                        <a:srgbClr val="D9E0E8"/>
                      </a:solidFill>
                      <a:prstDash val="solid"/>
                      <a:round/>
                      <a:headEnd type="none" w="med" len="med"/>
                      <a:tailEnd type="none" w="med" len="med"/>
                    </a:lnL>
                    <a:lnR w="6350" cap="flat" cmpd="sng" algn="ctr">
                      <a:solidFill>
                        <a:srgbClr val="D9E0E8"/>
                      </a:solidFill>
                      <a:prstDash val="solid"/>
                      <a:round/>
                      <a:headEnd type="none" w="med" len="med"/>
                      <a:tailEnd type="none" w="med" len="med"/>
                    </a:lnR>
                    <a:lnT w="6350" cap="flat" cmpd="sng" algn="ctr">
                      <a:solidFill>
                        <a:srgbClr val="D9E0E8"/>
                      </a:solidFill>
                      <a:prstDash val="solid"/>
                      <a:round/>
                      <a:headEnd type="none" w="med" len="med"/>
                      <a:tailEnd type="none" w="med" len="med"/>
                    </a:lnT>
                    <a:lnB w="6350" cap="flat" cmpd="sng" algn="ctr">
                      <a:solidFill>
                        <a:srgbClr val="D9E0E8"/>
                      </a:solidFill>
                      <a:prstDash val="solid"/>
                      <a:round/>
                      <a:headEnd type="none" w="med" len="med"/>
                      <a:tailEnd type="none" w="med" len="med"/>
                    </a:lnB>
                    <a:solidFill>
                      <a:schemeClr val="bg2"/>
                    </a:solidFill>
                  </a:tcPr>
                </a:tc>
                <a:tc>
                  <a:txBody>
                    <a:bodyPr/>
                    <a:lstStyle/>
                    <a:p>
                      <a:pPr indent="0" marL="0">
                        <a:buNone/>
                      </a:pPr>
                      <a:r>
                        <a:rPr lang="en-US" sz="900" dirty="0">
                          <a:solidFill>
                            <a:schemeClr val="tx1"/>
                          </a:solidFill>
                          <a:latin typeface="+mn-lt" pitchFamily="34" charset="0"/>
                          <a:ea typeface="+mn-lt" pitchFamily="34" charset="-122"/>
                          <a:cs typeface="+mn-lt" pitchFamily="34" charset="-120"/>
                        </a:rPr>
                        <a:t>1.27</a:t>
                      </a:r>
                      <a:endParaRPr lang="en-US" sz="900" dirty="0">
                        <a:latin typeface="+mn-lt" charset="0"/>
                        <a:ea typeface="+mn-lt" charset="0"/>
                        <a:cs typeface="+mn-lt" charset="0"/>
                      </a:endParaRPr>
                    </a:p>
                  </a:txBody>
                  <a:tcPr marL="45720" marR="45720" marT="45720" marB="45720" anchor="t">
                    <a:lnL w="6350" cap="flat" cmpd="sng" algn="ctr">
                      <a:solidFill>
                        <a:srgbClr val="D9E0E8"/>
                      </a:solidFill>
                      <a:prstDash val="solid"/>
                      <a:round/>
                      <a:headEnd type="none" w="med" len="med"/>
                      <a:tailEnd type="none" w="med" len="med"/>
                    </a:lnL>
                    <a:lnR w="6350" cap="flat" cmpd="sng" algn="ctr">
                      <a:solidFill>
                        <a:srgbClr val="D9E0E8"/>
                      </a:solidFill>
                      <a:prstDash val="solid"/>
                      <a:round/>
                      <a:headEnd type="none" w="med" len="med"/>
                      <a:tailEnd type="none" w="med" len="med"/>
                    </a:lnR>
                    <a:lnT w="6350" cap="flat" cmpd="sng" algn="ctr">
                      <a:solidFill>
                        <a:srgbClr val="D9E0E8"/>
                      </a:solidFill>
                      <a:prstDash val="solid"/>
                      <a:round/>
                      <a:headEnd type="none" w="med" len="med"/>
                      <a:tailEnd type="none" w="med" len="med"/>
                    </a:lnT>
                    <a:lnB w="6350" cap="flat" cmpd="sng" algn="ctr">
                      <a:solidFill>
                        <a:srgbClr val="D9E0E8"/>
                      </a:solidFill>
                      <a:prstDash val="solid"/>
                      <a:round/>
                      <a:headEnd type="none" w="med" len="med"/>
                      <a:tailEnd type="none" w="med" len="med"/>
                    </a:lnB>
                    <a:solidFill>
                      <a:schemeClr val="bg2"/>
                    </a:solidFill>
                  </a:tcPr>
                </a:tc>
                <a:tc>
                  <a:txBody>
                    <a:bodyPr/>
                    <a:lstStyle/>
                    <a:p>
                      <a:pPr indent="0" marL="0">
                        <a:buNone/>
                      </a:pPr>
                      <a:r>
                        <a:rPr lang="en-US" sz="900" dirty="0">
                          <a:solidFill>
                            <a:schemeClr val="tx1"/>
                          </a:solidFill>
                          <a:latin typeface="+mn-lt" pitchFamily="34" charset="0"/>
                          <a:ea typeface="+mn-lt" pitchFamily="34" charset="-122"/>
                          <a:cs typeface="+mn-lt" pitchFamily="34" charset="-120"/>
                        </a:rPr>
                        <a:t>0.72</a:t>
                      </a:r>
                      <a:endParaRPr lang="en-US" sz="900" dirty="0">
                        <a:latin typeface="+mn-lt" charset="0"/>
                        <a:ea typeface="+mn-lt" charset="0"/>
                        <a:cs typeface="+mn-lt" charset="0"/>
                      </a:endParaRPr>
                    </a:p>
                  </a:txBody>
                  <a:tcPr marL="45720" marR="45720" marT="45720" marB="45720" anchor="t">
                    <a:lnL w="6350" cap="flat" cmpd="sng" algn="ctr">
                      <a:solidFill>
                        <a:srgbClr val="D9E0E8"/>
                      </a:solidFill>
                      <a:prstDash val="solid"/>
                      <a:round/>
                      <a:headEnd type="none" w="med" len="med"/>
                      <a:tailEnd type="none" w="med" len="med"/>
                    </a:lnL>
                    <a:lnR w="6350" cap="flat" cmpd="sng" algn="ctr">
                      <a:solidFill>
                        <a:srgbClr val="D9E0E8"/>
                      </a:solidFill>
                      <a:prstDash val="solid"/>
                      <a:round/>
                      <a:headEnd type="none" w="med" len="med"/>
                      <a:tailEnd type="none" w="med" len="med"/>
                    </a:lnR>
                    <a:lnT w="6350" cap="flat" cmpd="sng" algn="ctr">
                      <a:solidFill>
                        <a:srgbClr val="D9E0E8"/>
                      </a:solidFill>
                      <a:prstDash val="solid"/>
                      <a:round/>
                      <a:headEnd type="none" w="med" len="med"/>
                      <a:tailEnd type="none" w="med" len="med"/>
                    </a:lnT>
                    <a:lnB w="6350" cap="flat" cmpd="sng" algn="ctr">
                      <a:solidFill>
                        <a:srgbClr val="D9E0E8"/>
                      </a:solidFill>
                      <a:prstDash val="solid"/>
                      <a:round/>
                      <a:headEnd type="none" w="med" len="med"/>
                      <a:tailEnd type="none" w="med" len="med"/>
                    </a:lnB>
                    <a:solidFill>
                      <a:schemeClr val="bg2"/>
                    </a:solidFill>
                  </a:tcPr>
                </a:tc>
                <a:tc>
                  <a:txBody>
                    <a:bodyPr/>
                    <a:lstStyle/>
                    <a:p>
                      <a:pPr indent="0" marL="0">
                        <a:buNone/>
                      </a:pPr>
                      <a:r>
                        <a:rPr lang="en-US" sz="900" dirty="0">
                          <a:solidFill>
                            <a:schemeClr val="tx1"/>
                          </a:solidFill>
                          <a:latin typeface="+mn-lt" pitchFamily="34" charset="0"/>
                          <a:ea typeface="+mn-lt" pitchFamily="34" charset="-122"/>
                          <a:cs typeface="+mn-lt" pitchFamily="34" charset="-120"/>
                        </a:rPr>
                        <a:t>0.41</a:t>
                      </a:r>
                      <a:endParaRPr lang="en-US" sz="900" dirty="0">
                        <a:latin typeface="+mn-lt" charset="0"/>
                        <a:ea typeface="+mn-lt" charset="0"/>
                        <a:cs typeface="+mn-lt" charset="0"/>
                      </a:endParaRPr>
                    </a:p>
                  </a:txBody>
                  <a:tcPr marL="45720" marR="45720" marT="45720" marB="45720" anchor="t">
                    <a:lnL w="6350" cap="flat" cmpd="sng" algn="ctr">
                      <a:solidFill>
                        <a:srgbClr val="D9E0E8"/>
                      </a:solidFill>
                      <a:prstDash val="solid"/>
                      <a:round/>
                      <a:headEnd type="none" w="med" len="med"/>
                      <a:tailEnd type="none" w="med" len="med"/>
                    </a:lnL>
                    <a:lnR w="6350" cap="flat" cmpd="sng" algn="ctr">
                      <a:solidFill>
                        <a:srgbClr val="D9E0E8"/>
                      </a:solidFill>
                      <a:prstDash val="solid"/>
                      <a:round/>
                      <a:headEnd type="none" w="med" len="med"/>
                      <a:tailEnd type="none" w="med" len="med"/>
                    </a:lnR>
                    <a:lnT w="6350" cap="flat" cmpd="sng" algn="ctr">
                      <a:solidFill>
                        <a:srgbClr val="D9E0E8"/>
                      </a:solidFill>
                      <a:prstDash val="solid"/>
                      <a:round/>
                      <a:headEnd type="none" w="med" len="med"/>
                      <a:tailEnd type="none" w="med" len="med"/>
                    </a:lnT>
                    <a:lnB w="6350" cap="flat" cmpd="sng" algn="ctr">
                      <a:solidFill>
                        <a:srgbClr val="D9E0E8"/>
                      </a:solidFill>
                      <a:prstDash val="solid"/>
                      <a:round/>
                      <a:headEnd type="none" w="med" len="med"/>
                      <a:tailEnd type="none" w="med" len="med"/>
                    </a:lnB>
                    <a:solidFill>
                      <a:schemeClr val="bg2"/>
                    </a:solidFill>
                  </a:tcPr>
                </a:tc>
                <a:tc>
                  <a:txBody>
                    <a:bodyPr/>
                    <a:lstStyle/>
                    <a:p>
                      <a:pPr indent="0" marL="0">
                        <a:buNone/>
                      </a:pPr>
                      <a:r>
                        <a:rPr lang="en-US" sz="900" dirty="0">
                          <a:solidFill>
                            <a:schemeClr val="tx1"/>
                          </a:solidFill>
                          <a:latin typeface="+mn-lt" pitchFamily="34" charset="0"/>
                          <a:ea typeface="+mn-lt" pitchFamily="34" charset="-122"/>
                          <a:cs typeface="+mn-lt" pitchFamily="34" charset="-120"/>
                        </a:rPr>
                        <a:t>4.29</a:t>
                      </a:r>
                      <a:endParaRPr lang="en-US" sz="900" dirty="0">
                        <a:latin typeface="+mn-lt" charset="0"/>
                        <a:ea typeface="+mn-lt" charset="0"/>
                        <a:cs typeface="+mn-lt" charset="0"/>
                      </a:endParaRPr>
                    </a:p>
                  </a:txBody>
                  <a:tcPr marL="45720" marR="45720" marT="45720" marB="45720" anchor="t">
                    <a:lnL w="6350" cap="flat" cmpd="sng" algn="ctr">
                      <a:solidFill>
                        <a:srgbClr val="D9E0E8"/>
                      </a:solidFill>
                      <a:prstDash val="solid"/>
                      <a:round/>
                      <a:headEnd type="none" w="med" len="med"/>
                      <a:tailEnd type="none" w="med" len="med"/>
                    </a:lnL>
                    <a:lnR w="6350" cap="flat" cmpd="sng" algn="ctr">
                      <a:solidFill>
                        <a:srgbClr val="D9E0E8"/>
                      </a:solidFill>
                      <a:prstDash val="solid"/>
                      <a:round/>
                      <a:headEnd type="none" w="med" len="med"/>
                      <a:tailEnd type="none" w="med" len="med"/>
                    </a:lnR>
                    <a:lnT w="6350" cap="flat" cmpd="sng" algn="ctr">
                      <a:solidFill>
                        <a:srgbClr val="D9E0E8"/>
                      </a:solidFill>
                      <a:prstDash val="solid"/>
                      <a:round/>
                      <a:headEnd type="none" w="med" len="med"/>
                      <a:tailEnd type="none" w="med" len="med"/>
                    </a:lnT>
                    <a:lnB w="6350" cap="flat" cmpd="sng" algn="ctr">
                      <a:solidFill>
                        <a:srgbClr val="D9E0E8"/>
                      </a:solidFill>
                      <a:prstDash val="solid"/>
                      <a:round/>
                      <a:headEnd type="none" w="med" len="med"/>
                      <a:tailEnd type="none" w="med" len="med"/>
                    </a:lnB>
                    <a:solidFill>
                      <a:schemeClr val="bg2"/>
                    </a:solidFill>
                  </a:tcPr>
                </a:tc>
              </a:tr>
              <a:tr h="0">
                <a:tc>
                  <a:txBody>
                    <a:bodyPr/>
                    <a:lstStyle/>
                    <a:p>
                      <a:pPr indent="0" marL="0">
                        <a:buNone/>
                      </a:pPr>
                      <a:r>
                        <a:rPr lang="en-US" sz="900" dirty="0">
                          <a:solidFill>
                            <a:schemeClr val="tx1"/>
                          </a:solidFill>
                          <a:latin typeface="+mn-lt" pitchFamily="34" charset="0"/>
                          <a:ea typeface="+mn-lt" pitchFamily="34" charset="-122"/>
                          <a:cs typeface="+mn-lt" pitchFamily="34" charset="-120"/>
                        </a:rPr>
                        <a:t>Orbital floor</a:t>
                      </a:r>
                      <a:endParaRPr lang="en-US" sz="900" dirty="0">
                        <a:latin typeface="+mn-lt" charset="0"/>
                        <a:ea typeface="+mn-lt" charset="0"/>
                        <a:cs typeface="+mn-lt" charset="0"/>
                      </a:endParaRPr>
                    </a:p>
                  </a:txBody>
                  <a:tcPr marL="45720" marR="45720" marT="45720" marB="45720" anchor="t">
                    <a:lnL w="6350" cap="flat" cmpd="sng" algn="ctr">
                      <a:solidFill>
                        <a:srgbClr val="D9E0E8"/>
                      </a:solidFill>
                      <a:prstDash val="solid"/>
                      <a:round/>
                      <a:headEnd type="none" w="med" len="med"/>
                      <a:tailEnd type="none" w="med" len="med"/>
                    </a:lnL>
                    <a:lnR w="6350" cap="flat" cmpd="sng" algn="ctr">
                      <a:solidFill>
                        <a:srgbClr val="D9E0E8"/>
                      </a:solidFill>
                      <a:prstDash val="solid"/>
                      <a:round/>
                      <a:headEnd type="none" w="med" len="med"/>
                      <a:tailEnd type="none" w="med" len="med"/>
                    </a:lnR>
                    <a:lnT w="6350" cap="flat" cmpd="sng" algn="ctr">
                      <a:solidFill>
                        <a:srgbClr val="D9E0E8"/>
                      </a:solidFill>
                      <a:prstDash val="solid"/>
                      <a:round/>
                      <a:headEnd type="none" w="med" len="med"/>
                      <a:tailEnd type="none" w="med" len="med"/>
                    </a:lnT>
                    <a:lnB w="6350" cap="flat" cmpd="sng" algn="ctr">
                      <a:solidFill>
                        <a:srgbClr val="D9E0E8"/>
                      </a:solidFill>
                      <a:prstDash val="solid"/>
                      <a:round/>
                      <a:headEnd type="none" w="med" len="med"/>
                      <a:tailEnd type="none" w="med" len="med"/>
                    </a:lnB>
                    <a:solidFill>
                      <a:schemeClr val="bg1"/>
                    </a:solidFill>
                  </a:tcPr>
                </a:tc>
                <a:tc>
                  <a:txBody>
                    <a:bodyPr/>
                    <a:lstStyle/>
                    <a:p>
                      <a:pPr indent="0" marL="0">
                        <a:buNone/>
                      </a:pPr>
                      <a:r>
                        <a:rPr lang="en-US" sz="900" dirty="0">
                          <a:solidFill>
                            <a:schemeClr val="tx1"/>
                          </a:solidFill>
                          <a:latin typeface="+mn-lt" pitchFamily="34" charset="0"/>
                          <a:ea typeface="+mn-lt" pitchFamily="34" charset="-122"/>
                          <a:cs typeface="+mn-lt" pitchFamily="34" charset="-120"/>
                        </a:rPr>
                        <a:t>47</a:t>
                      </a:r>
                      <a:endParaRPr lang="en-US" sz="900" dirty="0">
                        <a:latin typeface="+mn-lt" charset="0"/>
                        <a:ea typeface="+mn-lt" charset="0"/>
                        <a:cs typeface="+mn-lt" charset="0"/>
                      </a:endParaRPr>
                    </a:p>
                  </a:txBody>
                  <a:tcPr marL="45720" marR="45720" marT="45720" marB="45720" anchor="t">
                    <a:lnL w="6350" cap="flat" cmpd="sng" algn="ctr">
                      <a:solidFill>
                        <a:srgbClr val="D9E0E8"/>
                      </a:solidFill>
                      <a:prstDash val="solid"/>
                      <a:round/>
                      <a:headEnd type="none" w="med" len="med"/>
                      <a:tailEnd type="none" w="med" len="med"/>
                    </a:lnL>
                    <a:lnR w="6350" cap="flat" cmpd="sng" algn="ctr">
                      <a:solidFill>
                        <a:srgbClr val="D9E0E8"/>
                      </a:solidFill>
                      <a:prstDash val="solid"/>
                      <a:round/>
                      <a:headEnd type="none" w="med" len="med"/>
                      <a:tailEnd type="none" w="med" len="med"/>
                    </a:lnR>
                    <a:lnT w="6350" cap="flat" cmpd="sng" algn="ctr">
                      <a:solidFill>
                        <a:srgbClr val="D9E0E8"/>
                      </a:solidFill>
                      <a:prstDash val="solid"/>
                      <a:round/>
                      <a:headEnd type="none" w="med" len="med"/>
                      <a:tailEnd type="none" w="med" len="med"/>
                    </a:lnT>
                    <a:lnB w="6350" cap="flat" cmpd="sng" algn="ctr">
                      <a:solidFill>
                        <a:srgbClr val="D9E0E8"/>
                      </a:solidFill>
                      <a:prstDash val="solid"/>
                      <a:round/>
                      <a:headEnd type="none" w="med" len="med"/>
                      <a:tailEnd type="none" w="med" len="med"/>
                    </a:lnB>
                    <a:solidFill>
                      <a:schemeClr val="bg1"/>
                    </a:solidFill>
                  </a:tcPr>
                </a:tc>
                <a:tc>
                  <a:txBody>
                    <a:bodyPr/>
                    <a:lstStyle/>
                    <a:p>
                      <a:pPr indent="0" marL="0">
                        <a:buNone/>
                      </a:pPr>
                      <a:r>
                        <a:rPr lang="en-US" sz="900" dirty="0">
                          <a:solidFill>
                            <a:schemeClr val="tx1"/>
                          </a:solidFill>
                          <a:latin typeface="+mn-lt" pitchFamily="34" charset="0"/>
                          <a:ea typeface="+mn-lt" pitchFamily="34" charset="-122"/>
                          <a:cs typeface="+mn-lt" pitchFamily="34" charset="-120"/>
                        </a:rPr>
                        <a:t>1.40</a:t>
                      </a:r>
                      <a:endParaRPr lang="en-US" sz="900" dirty="0">
                        <a:latin typeface="+mn-lt" charset="0"/>
                        <a:ea typeface="+mn-lt" charset="0"/>
                        <a:cs typeface="+mn-lt" charset="0"/>
                      </a:endParaRPr>
                    </a:p>
                  </a:txBody>
                  <a:tcPr marL="45720" marR="45720" marT="45720" marB="45720" anchor="t">
                    <a:lnL w="6350" cap="flat" cmpd="sng" algn="ctr">
                      <a:solidFill>
                        <a:srgbClr val="D9E0E8"/>
                      </a:solidFill>
                      <a:prstDash val="solid"/>
                      <a:round/>
                      <a:headEnd type="none" w="med" len="med"/>
                      <a:tailEnd type="none" w="med" len="med"/>
                    </a:lnL>
                    <a:lnR w="6350" cap="flat" cmpd="sng" algn="ctr">
                      <a:solidFill>
                        <a:srgbClr val="D9E0E8"/>
                      </a:solidFill>
                      <a:prstDash val="solid"/>
                      <a:round/>
                      <a:headEnd type="none" w="med" len="med"/>
                      <a:tailEnd type="none" w="med" len="med"/>
                    </a:lnR>
                    <a:lnT w="6350" cap="flat" cmpd="sng" algn="ctr">
                      <a:solidFill>
                        <a:srgbClr val="D9E0E8"/>
                      </a:solidFill>
                      <a:prstDash val="solid"/>
                      <a:round/>
                      <a:headEnd type="none" w="med" len="med"/>
                      <a:tailEnd type="none" w="med" len="med"/>
                    </a:lnT>
                    <a:lnB w="6350" cap="flat" cmpd="sng" algn="ctr">
                      <a:solidFill>
                        <a:srgbClr val="D9E0E8"/>
                      </a:solidFill>
                      <a:prstDash val="solid"/>
                      <a:round/>
                      <a:headEnd type="none" w="med" len="med"/>
                      <a:tailEnd type="none" w="med" len="med"/>
                    </a:lnB>
                    <a:solidFill>
                      <a:schemeClr val="bg1"/>
                    </a:solidFill>
                  </a:tcPr>
                </a:tc>
                <a:tc>
                  <a:txBody>
                    <a:bodyPr/>
                    <a:lstStyle/>
                    <a:p>
                      <a:pPr indent="0" marL="0">
                        <a:buNone/>
                      </a:pPr>
                      <a:r>
                        <a:rPr lang="en-US" sz="900" dirty="0">
                          <a:solidFill>
                            <a:schemeClr val="tx1"/>
                          </a:solidFill>
                          <a:latin typeface="+mn-lt" pitchFamily="34" charset="0"/>
                          <a:ea typeface="+mn-lt" pitchFamily="34" charset="-122"/>
                          <a:cs typeface="+mn-lt" pitchFamily="34" charset="-120"/>
                        </a:rPr>
                        <a:t>0.98</a:t>
                      </a:r>
                      <a:endParaRPr lang="en-US" sz="900" dirty="0">
                        <a:latin typeface="+mn-lt" charset="0"/>
                        <a:ea typeface="+mn-lt" charset="0"/>
                        <a:cs typeface="+mn-lt" charset="0"/>
                      </a:endParaRPr>
                    </a:p>
                  </a:txBody>
                  <a:tcPr marL="45720" marR="45720" marT="45720" marB="45720" anchor="t">
                    <a:lnL w="6350" cap="flat" cmpd="sng" algn="ctr">
                      <a:solidFill>
                        <a:srgbClr val="D9E0E8"/>
                      </a:solidFill>
                      <a:prstDash val="solid"/>
                      <a:round/>
                      <a:headEnd type="none" w="med" len="med"/>
                      <a:tailEnd type="none" w="med" len="med"/>
                    </a:lnL>
                    <a:lnR w="6350" cap="flat" cmpd="sng" algn="ctr">
                      <a:solidFill>
                        <a:srgbClr val="D9E0E8"/>
                      </a:solidFill>
                      <a:prstDash val="solid"/>
                      <a:round/>
                      <a:headEnd type="none" w="med" len="med"/>
                      <a:tailEnd type="none" w="med" len="med"/>
                    </a:lnR>
                    <a:lnT w="6350" cap="flat" cmpd="sng" algn="ctr">
                      <a:solidFill>
                        <a:srgbClr val="D9E0E8"/>
                      </a:solidFill>
                      <a:prstDash val="solid"/>
                      <a:round/>
                      <a:headEnd type="none" w="med" len="med"/>
                      <a:tailEnd type="none" w="med" len="med"/>
                    </a:lnT>
                    <a:lnB w="6350" cap="flat" cmpd="sng" algn="ctr">
                      <a:solidFill>
                        <a:srgbClr val="D9E0E8"/>
                      </a:solidFill>
                      <a:prstDash val="solid"/>
                      <a:round/>
                      <a:headEnd type="none" w="med" len="med"/>
                      <a:tailEnd type="none" w="med" len="med"/>
                    </a:lnB>
                    <a:solidFill>
                      <a:schemeClr val="bg1"/>
                    </a:solidFill>
                  </a:tcPr>
                </a:tc>
                <a:tc>
                  <a:txBody>
                    <a:bodyPr/>
                    <a:lstStyle/>
                    <a:p>
                      <a:pPr indent="0" marL="0">
                        <a:buNone/>
                      </a:pPr>
                      <a:r>
                        <a:rPr lang="en-US" sz="900" dirty="0">
                          <a:solidFill>
                            <a:schemeClr val="tx1"/>
                          </a:solidFill>
                          <a:latin typeface="+mn-lt" pitchFamily="34" charset="0"/>
                          <a:ea typeface="+mn-lt" pitchFamily="34" charset="-122"/>
                          <a:cs typeface="+mn-lt" pitchFamily="34" charset="-120"/>
                        </a:rPr>
                        <a:t>0.35</a:t>
                      </a:r>
                      <a:endParaRPr lang="en-US" sz="900" dirty="0">
                        <a:latin typeface="+mn-lt" charset="0"/>
                        <a:ea typeface="+mn-lt" charset="0"/>
                        <a:cs typeface="+mn-lt" charset="0"/>
                      </a:endParaRPr>
                    </a:p>
                  </a:txBody>
                  <a:tcPr marL="45720" marR="45720" marT="45720" marB="45720" anchor="t">
                    <a:lnL w="6350" cap="flat" cmpd="sng" algn="ctr">
                      <a:solidFill>
                        <a:srgbClr val="D9E0E8"/>
                      </a:solidFill>
                      <a:prstDash val="solid"/>
                      <a:round/>
                      <a:headEnd type="none" w="med" len="med"/>
                      <a:tailEnd type="none" w="med" len="med"/>
                    </a:lnL>
                    <a:lnR w="6350" cap="flat" cmpd="sng" algn="ctr">
                      <a:solidFill>
                        <a:srgbClr val="D9E0E8"/>
                      </a:solidFill>
                      <a:prstDash val="solid"/>
                      <a:round/>
                      <a:headEnd type="none" w="med" len="med"/>
                      <a:tailEnd type="none" w="med" len="med"/>
                    </a:lnR>
                    <a:lnT w="6350" cap="flat" cmpd="sng" algn="ctr">
                      <a:solidFill>
                        <a:srgbClr val="D9E0E8"/>
                      </a:solidFill>
                      <a:prstDash val="solid"/>
                      <a:round/>
                      <a:headEnd type="none" w="med" len="med"/>
                      <a:tailEnd type="none" w="med" len="med"/>
                    </a:lnT>
                    <a:lnB w="6350" cap="flat" cmpd="sng" algn="ctr">
                      <a:solidFill>
                        <a:srgbClr val="D9E0E8"/>
                      </a:solidFill>
                      <a:prstDash val="solid"/>
                      <a:round/>
                      <a:headEnd type="none" w="med" len="med"/>
                      <a:tailEnd type="none" w="med" len="med"/>
                    </a:lnB>
                    <a:solidFill>
                      <a:schemeClr val="bg1"/>
                    </a:solidFill>
                  </a:tcPr>
                </a:tc>
                <a:tc>
                  <a:txBody>
                    <a:bodyPr/>
                    <a:lstStyle/>
                    <a:p>
                      <a:pPr indent="0" marL="0">
                        <a:buNone/>
                      </a:pPr>
                      <a:r>
                        <a:rPr lang="en-US" sz="900" dirty="0">
                          <a:solidFill>
                            <a:schemeClr val="tx1"/>
                          </a:solidFill>
                          <a:latin typeface="+mn-lt" pitchFamily="34" charset="0"/>
                          <a:ea typeface="+mn-lt" pitchFamily="34" charset="-122"/>
                          <a:cs typeface="+mn-lt" pitchFamily="34" charset="-120"/>
                        </a:rPr>
                        <a:t>4.39</a:t>
                      </a:r>
                      <a:endParaRPr lang="en-US" sz="900" dirty="0">
                        <a:latin typeface="+mn-lt" charset="0"/>
                        <a:ea typeface="+mn-lt" charset="0"/>
                        <a:cs typeface="+mn-lt" charset="0"/>
                      </a:endParaRPr>
                    </a:p>
                  </a:txBody>
                  <a:tcPr marL="45720" marR="45720" marT="45720" marB="45720" anchor="t">
                    <a:lnL w="6350" cap="flat" cmpd="sng" algn="ctr">
                      <a:solidFill>
                        <a:srgbClr val="D9E0E8"/>
                      </a:solidFill>
                      <a:prstDash val="solid"/>
                      <a:round/>
                      <a:headEnd type="none" w="med" len="med"/>
                      <a:tailEnd type="none" w="med" len="med"/>
                    </a:lnL>
                    <a:lnR w="6350" cap="flat" cmpd="sng" algn="ctr">
                      <a:solidFill>
                        <a:srgbClr val="D9E0E8"/>
                      </a:solidFill>
                      <a:prstDash val="solid"/>
                      <a:round/>
                      <a:headEnd type="none" w="med" len="med"/>
                      <a:tailEnd type="none" w="med" len="med"/>
                    </a:lnR>
                    <a:lnT w="6350" cap="flat" cmpd="sng" algn="ctr">
                      <a:solidFill>
                        <a:srgbClr val="D9E0E8"/>
                      </a:solidFill>
                      <a:prstDash val="solid"/>
                      <a:round/>
                      <a:headEnd type="none" w="med" len="med"/>
                      <a:tailEnd type="none" w="med" len="med"/>
                    </a:lnT>
                    <a:lnB w="6350" cap="flat" cmpd="sng" algn="ctr">
                      <a:solidFill>
                        <a:srgbClr val="D9E0E8"/>
                      </a:solidFill>
                      <a:prstDash val="solid"/>
                      <a:round/>
                      <a:headEnd type="none" w="med" len="med"/>
                      <a:tailEnd type="none" w="med" len="med"/>
                    </a:lnB>
                    <a:solidFill>
                      <a:schemeClr val="bg1"/>
                    </a:solidFill>
                  </a:tcPr>
                </a:tc>
              </a:tr>
              <a:tr h="0">
                <a:tc>
                  <a:txBody>
                    <a:bodyPr/>
                    <a:lstStyle/>
                    <a:p>
                      <a:pPr indent="0" marL="0">
                        <a:buNone/>
                      </a:pPr>
                      <a:r>
                        <a:rPr lang="en-US" sz="900" dirty="0">
                          <a:solidFill>
                            <a:schemeClr val="tx1"/>
                          </a:solidFill>
                          <a:latin typeface="+mn-lt" pitchFamily="34" charset="0"/>
                          <a:ea typeface="+mn-lt" pitchFamily="34" charset="-122"/>
                          <a:cs typeface="+mn-lt" pitchFamily="34" charset="-120"/>
                        </a:rPr>
                        <a:t>Infraorbital foramen</a:t>
                      </a:r>
                      <a:endParaRPr lang="en-US" sz="900" dirty="0">
                        <a:latin typeface="+mn-lt" charset="0"/>
                        <a:ea typeface="+mn-lt" charset="0"/>
                        <a:cs typeface="+mn-lt" charset="0"/>
                      </a:endParaRPr>
                    </a:p>
                  </a:txBody>
                  <a:tcPr marL="45720" marR="45720" marT="45720" marB="45720" anchor="t">
                    <a:lnL w="6350" cap="flat" cmpd="sng" algn="ctr">
                      <a:solidFill>
                        <a:srgbClr val="D9E0E8"/>
                      </a:solidFill>
                      <a:prstDash val="solid"/>
                      <a:round/>
                      <a:headEnd type="none" w="med" len="med"/>
                      <a:tailEnd type="none" w="med" len="med"/>
                    </a:lnL>
                    <a:lnR w="6350" cap="flat" cmpd="sng" algn="ctr">
                      <a:solidFill>
                        <a:srgbClr val="D9E0E8"/>
                      </a:solidFill>
                      <a:prstDash val="solid"/>
                      <a:round/>
                      <a:headEnd type="none" w="med" len="med"/>
                      <a:tailEnd type="none" w="med" len="med"/>
                    </a:lnR>
                    <a:lnT w="6350" cap="flat" cmpd="sng" algn="ctr">
                      <a:solidFill>
                        <a:srgbClr val="D9E0E8"/>
                      </a:solidFill>
                      <a:prstDash val="solid"/>
                      <a:round/>
                      <a:headEnd type="none" w="med" len="med"/>
                      <a:tailEnd type="none" w="med" len="med"/>
                    </a:lnT>
                    <a:lnB w="6350" cap="flat" cmpd="sng" algn="ctr">
                      <a:solidFill>
                        <a:srgbClr val="D9E0E8"/>
                      </a:solidFill>
                      <a:prstDash val="solid"/>
                      <a:round/>
                      <a:headEnd type="none" w="med" len="med"/>
                      <a:tailEnd type="none" w="med" len="med"/>
                    </a:lnB>
                    <a:solidFill>
                      <a:schemeClr val="bg2"/>
                    </a:solidFill>
                  </a:tcPr>
                </a:tc>
                <a:tc>
                  <a:txBody>
                    <a:bodyPr/>
                    <a:lstStyle/>
                    <a:p>
                      <a:pPr indent="0" marL="0">
                        <a:buNone/>
                      </a:pPr>
                      <a:r>
                        <a:rPr lang="en-US" sz="900" dirty="0">
                          <a:solidFill>
                            <a:schemeClr val="tx1"/>
                          </a:solidFill>
                          <a:latin typeface="+mn-lt" pitchFamily="34" charset="0"/>
                          <a:ea typeface="+mn-lt" pitchFamily="34" charset="-122"/>
                          <a:cs typeface="+mn-lt" pitchFamily="34" charset="-120"/>
                        </a:rPr>
                        <a:t>34</a:t>
                      </a:r>
                      <a:endParaRPr lang="en-US" sz="900" dirty="0">
                        <a:latin typeface="+mn-lt" charset="0"/>
                        <a:ea typeface="+mn-lt" charset="0"/>
                        <a:cs typeface="+mn-lt" charset="0"/>
                      </a:endParaRPr>
                    </a:p>
                  </a:txBody>
                  <a:tcPr marL="45720" marR="45720" marT="45720" marB="45720" anchor="t">
                    <a:lnL w="6350" cap="flat" cmpd="sng" algn="ctr">
                      <a:solidFill>
                        <a:srgbClr val="D9E0E8"/>
                      </a:solidFill>
                      <a:prstDash val="solid"/>
                      <a:round/>
                      <a:headEnd type="none" w="med" len="med"/>
                      <a:tailEnd type="none" w="med" len="med"/>
                    </a:lnL>
                    <a:lnR w="6350" cap="flat" cmpd="sng" algn="ctr">
                      <a:solidFill>
                        <a:srgbClr val="D9E0E8"/>
                      </a:solidFill>
                      <a:prstDash val="solid"/>
                      <a:round/>
                      <a:headEnd type="none" w="med" len="med"/>
                      <a:tailEnd type="none" w="med" len="med"/>
                    </a:lnR>
                    <a:lnT w="6350" cap="flat" cmpd="sng" algn="ctr">
                      <a:solidFill>
                        <a:srgbClr val="D9E0E8"/>
                      </a:solidFill>
                      <a:prstDash val="solid"/>
                      <a:round/>
                      <a:headEnd type="none" w="med" len="med"/>
                      <a:tailEnd type="none" w="med" len="med"/>
                    </a:lnT>
                    <a:lnB w="6350" cap="flat" cmpd="sng" algn="ctr">
                      <a:solidFill>
                        <a:srgbClr val="D9E0E8"/>
                      </a:solidFill>
                      <a:prstDash val="solid"/>
                      <a:round/>
                      <a:headEnd type="none" w="med" len="med"/>
                      <a:tailEnd type="none" w="med" len="med"/>
                    </a:lnB>
                    <a:solidFill>
                      <a:schemeClr val="bg2"/>
                    </a:solidFill>
                  </a:tcPr>
                </a:tc>
                <a:tc>
                  <a:txBody>
                    <a:bodyPr/>
                    <a:lstStyle/>
                    <a:p>
                      <a:pPr indent="0" marL="0">
                        <a:buNone/>
                      </a:pPr>
                      <a:r>
                        <a:rPr lang="en-US" sz="900" dirty="0">
                          <a:solidFill>
                            <a:schemeClr val="tx1"/>
                          </a:solidFill>
                          <a:latin typeface="+mn-lt" pitchFamily="34" charset="0"/>
                          <a:ea typeface="+mn-lt" pitchFamily="34" charset="-122"/>
                          <a:cs typeface="+mn-lt" pitchFamily="34" charset="-120"/>
                        </a:rPr>
                        <a:t>1.67</a:t>
                      </a:r>
                      <a:endParaRPr lang="en-US" sz="900" dirty="0">
                        <a:latin typeface="+mn-lt" charset="0"/>
                        <a:ea typeface="+mn-lt" charset="0"/>
                        <a:cs typeface="+mn-lt" charset="0"/>
                      </a:endParaRPr>
                    </a:p>
                  </a:txBody>
                  <a:tcPr marL="45720" marR="45720" marT="45720" marB="45720" anchor="t">
                    <a:lnL w="6350" cap="flat" cmpd="sng" algn="ctr">
                      <a:solidFill>
                        <a:srgbClr val="D9E0E8"/>
                      </a:solidFill>
                      <a:prstDash val="solid"/>
                      <a:round/>
                      <a:headEnd type="none" w="med" len="med"/>
                      <a:tailEnd type="none" w="med" len="med"/>
                    </a:lnL>
                    <a:lnR w="6350" cap="flat" cmpd="sng" algn="ctr">
                      <a:solidFill>
                        <a:srgbClr val="D9E0E8"/>
                      </a:solidFill>
                      <a:prstDash val="solid"/>
                      <a:round/>
                      <a:headEnd type="none" w="med" len="med"/>
                      <a:tailEnd type="none" w="med" len="med"/>
                    </a:lnR>
                    <a:lnT w="6350" cap="flat" cmpd="sng" algn="ctr">
                      <a:solidFill>
                        <a:srgbClr val="D9E0E8"/>
                      </a:solidFill>
                      <a:prstDash val="solid"/>
                      <a:round/>
                      <a:headEnd type="none" w="med" len="med"/>
                      <a:tailEnd type="none" w="med" len="med"/>
                    </a:lnT>
                    <a:lnB w="6350" cap="flat" cmpd="sng" algn="ctr">
                      <a:solidFill>
                        <a:srgbClr val="D9E0E8"/>
                      </a:solidFill>
                      <a:prstDash val="solid"/>
                      <a:round/>
                      <a:headEnd type="none" w="med" len="med"/>
                      <a:tailEnd type="none" w="med" len="med"/>
                    </a:lnB>
                    <a:solidFill>
                      <a:schemeClr val="bg2"/>
                    </a:solidFill>
                  </a:tcPr>
                </a:tc>
                <a:tc>
                  <a:txBody>
                    <a:bodyPr/>
                    <a:lstStyle/>
                    <a:p>
                      <a:pPr indent="0" marL="0">
                        <a:buNone/>
                      </a:pPr>
                      <a:r>
                        <a:rPr lang="en-US" sz="900" dirty="0">
                          <a:solidFill>
                            <a:schemeClr val="tx1"/>
                          </a:solidFill>
                          <a:latin typeface="+mn-lt" pitchFamily="34" charset="0"/>
                          <a:ea typeface="+mn-lt" pitchFamily="34" charset="-122"/>
                          <a:cs typeface="+mn-lt" pitchFamily="34" charset="-120"/>
                        </a:rPr>
                        <a:t>1.31</a:t>
                      </a:r>
                      <a:endParaRPr lang="en-US" sz="900" dirty="0">
                        <a:latin typeface="+mn-lt" charset="0"/>
                        <a:ea typeface="+mn-lt" charset="0"/>
                        <a:cs typeface="+mn-lt" charset="0"/>
                      </a:endParaRPr>
                    </a:p>
                  </a:txBody>
                  <a:tcPr marL="45720" marR="45720" marT="45720" marB="45720" anchor="t">
                    <a:lnL w="6350" cap="flat" cmpd="sng" algn="ctr">
                      <a:solidFill>
                        <a:srgbClr val="D9E0E8"/>
                      </a:solidFill>
                      <a:prstDash val="solid"/>
                      <a:round/>
                      <a:headEnd type="none" w="med" len="med"/>
                      <a:tailEnd type="none" w="med" len="med"/>
                    </a:lnL>
                    <a:lnR w="6350" cap="flat" cmpd="sng" algn="ctr">
                      <a:solidFill>
                        <a:srgbClr val="D9E0E8"/>
                      </a:solidFill>
                      <a:prstDash val="solid"/>
                      <a:round/>
                      <a:headEnd type="none" w="med" len="med"/>
                      <a:tailEnd type="none" w="med" len="med"/>
                    </a:lnR>
                    <a:lnT w="6350" cap="flat" cmpd="sng" algn="ctr">
                      <a:solidFill>
                        <a:srgbClr val="D9E0E8"/>
                      </a:solidFill>
                      <a:prstDash val="solid"/>
                      <a:round/>
                      <a:headEnd type="none" w="med" len="med"/>
                      <a:tailEnd type="none" w="med" len="med"/>
                    </a:lnT>
                    <a:lnB w="6350" cap="flat" cmpd="sng" algn="ctr">
                      <a:solidFill>
                        <a:srgbClr val="D9E0E8"/>
                      </a:solidFill>
                      <a:prstDash val="solid"/>
                      <a:round/>
                      <a:headEnd type="none" w="med" len="med"/>
                      <a:tailEnd type="none" w="med" len="med"/>
                    </a:lnB>
                    <a:solidFill>
                      <a:schemeClr val="bg2"/>
                    </a:solidFill>
                  </a:tcPr>
                </a:tc>
                <a:tc>
                  <a:txBody>
                    <a:bodyPr/>
                    <a:lstStyle/>
                    <a:p>
                      <a:pPr indent="0" marL="0">
                        <a:buNone/>
                      </a:pPr>
                      <a:r>
                        <a:rPr lang="en-US" sz="900" dirty="0">
                          <a:solidFill>
                            <a:schemeClr val="tx1"/>
                          </a:solidFill>
                          <a:latin typeface="+mn-lt" pitchFamily="34" charset="0"/>
                          <a:ea typeface="+mn-lt" pitchFamily="34" charset="-122"/>
                          <a:cs typeface="+mn-lt" pitchFamily="34" charset="-120"/>
                        </a:rPr>
                        <a:t>0.52</a:t>
                      </a:r>
                      <a:endParaRPr lang="en-US" sz="900" dirty="0">
                        <a:latin typeface="+mn-lt" charset="0"/>
                        <a:ea typeface="+mn-lt" charset="0"/>
                        <a:cs typeface="+mn-lt" charset="0"/>
                      </a:endParaRPr>
                    </a:p>
                  </a:txBody>
                  <a:tcPr marL="45720" marR="45720" marT="45720" marB="45720" anchor="t">
                    <a:lnL w="6350" cap="flat" cmpd="sng" algn="ctr">
                      <a:solidFill>
                        <a:srgbClr val="D9E0E8"/>
                      </a:solidFill>
                      <a:prstDash val="solid"/>
                      <a:round/>
                      <a:headEnd type="none" w="med" len="med"/>
                      <a:tailEnd type="none" w="med" len="med"/>
                    </a:lnL>
                    <a:lnR w="6350" cap="flat" cmpd="sng" algn="ctr">
                      <a:solidFill>
                        <a:srgbClr val="D9E0E8"/>
                      </a:solidFill>
                      <a:prstDash val="solid"/>
                      <a:round/>
                      <a:headEnd type="none" w="med" len="med"/>
                      <a:tailEnd type="none" w="med" len="med"/>
                    </a:lnR>
                    <a:lnT w="6350" cap="flat" cmpd="sng" algn="ctr">
                      <a:solidFill>
                        <a:srgbClr val="D9E0E8"/>
                      </a:solidFill>
                      <a:prstDash val="solid"/>
                      <a:round/>
                      <a:headEnd type="none" w="med" len="med"/>
                      <a:tailEnd type="none" w="med" len="med"/>
                    </a:lnT>
                    <a:lnB w="6350" cap="flat" cmpd="sng" algn="ctr">
                      <a:solidFill>
                        <a:srgbClr val="D9E0E8"/>
                      </a:solidFill>
                      <a:prstDash val="solid"/>
                      <a:round/>
                      <a:headEnd type="none" w="med" len="med"/>
                      <a:tailEnd type="none" w="med" len="med"/>
                    </a:lnB>
                    <a:solidFill>
                      <a:schemeClr val="bg2"/>
                    </a:solidFill>
                  </a:tcPr>
                </a:tc>
                <a:tc>
                  <a:txBody>
                    <a:bodyPr/>
                    <a:lstStyle/>
                    <a:p>
                      <a:pPr indent="0" marL="0">
                        <a:buNone/>
                      </a:pPr>
                      <a:r>
                        <a:rPr lang="en-US" sz="900" dirty="0">
                          <a:solidFill>
                            <a:schemeClr val="tx1"/>
                          </a:solidFill>
                          <a:latin typeface="+mn-lt" pitchFamily="34" charset="0"/>
                          <a:ea typeface="+mn-lt" pitchFamily="34" charset="-122"/>
                          <a:cs typeface="+mn-lt" pitchFamily="34" charset="-120"/>
                        </a:rPr>
                        <a:t>5.79</a:t>
                      </a:r>
                      <a:endParaRPr lang="en-US" sz="900" dirty="0">
                        <a:latin typeface="+mn-lt" charset="0"/>
                        <a:ea typeface="+mn-lt" charset="0"/>
                        <a:cs typeface="+mn-lt" charset="0"/>
                      </a:endParaRPr>
                    </a:p>
                  </a:txBody>
                  <a:tcPr marL="45720" marR="45720" marT="45720" marB="45720" anchor="t">
                    <a:lnL w="6350" cap="flat" cmpd="sng" algn="ctr">
                      <a:solidFill>
                        <a:srgbClr val="D9E0E8"/>
                      </a:solidFill>
                      <a:prstDash val="solid"/>
                      <a:round/>
                      <a:headEnd type="none" w="med" len="med"/>
                      <a:tailEnd type="none" w="med" len="med"/>
                    </a:lnL>
                    <a:lnR w="6350" cap="flat" cmpd="sng" algn="ctr">
                      <a:solidFill>
                        <a:srgbClr val="D9E0E8"/>
                      </a:solidFill>
                      <a:prstDash val="solid"/>
                      <a:round/>
                      <a:headEnd type="none" w="med" len="med"/>
                      <a:tailEnd type="none" w="med" len="med"/>
                    </a:lnR>
                    <a:lnT w="6350" cap="flat" cmpd="sng" algn="ctr">
                      <a:solidFill>
                        <a:srgbClr val="D9E0E8"/>
                      </a:solidFill>
                      <a:prstDash val="solid"/>
                      <a:round/>
                      <a:headEnd type="none" w="med" len="med"/>
                      <a:tailEnd type="none" w="med" len="med"/>
                    </a:lnT>
                    <a:lnB w="6350" cap="flat" cmpd="sng" algn="ctr">
                      <a:solidFill>
                        <a:srgbClr val="D9E0E8"/>
                      </a:solidFill>
                      <a:prstDash val="solid"/>
                      <a:round/>
                      <a:headEnd type="none" w="med" len="med"/>
                      <a:tailEnd type="none" w="med" len="med"/>
                    </a:lnB>
                    <a:solidFill>
                      <a:schemeClr val="bg2"/>
                    </a:solidFill>
                  </a:tcPr>
                </a:tc>
              </a:tr>
              <a:tr h="0">
                <a:tc>
                  <a:txBody>
                    <a:bodyPr/>
                    <a:lstStyle/>
                    <a:p>
                      <a:pPr indent="0" marL="0">
                        <a:buNone/>
                      </a:pPr>
                      <a:r>
                        <a:rPr lang="en-US" sz="900" dirty="0">
                          <a:solidFill>
                            <a:schemeClr val="tx1"/>
                          </a:solidFill>
                          <a:latin typeface="+mn-lt" pitchFamily="34" charset="0"/>
                          <a:ea typeface="+mn-lt" pitchFamily="34" charset="-122"/>
                          <a:cs typeface="+mn-lt" pitchFamily="34" charset="-120"/>
                        </a:rPr>
                        <a:t>PTM vertical</a:t>
                      </a:r>
                      <a:endParaRPr lang="en-US" sz="900" dirty="0">
                        <a:latin typeface="+mn-lt" charset="0"/>
                        <a:ea typeface="+mn-lt" charset="0"/>
                        <a:cs typeface="+mn-lt" charset="0"/>
                      </a:endParaRPr>
                    </a:p>
                  </a:txBody>
                  <a:tcPr marL="45720" marR="45720" marT="45720" marB="45720" anchor="t">
                    <a:lnL w="6350" cap="flat" cmpd="sng" algn="ctr">
                      <a:solidFill>
                        <a:srgbClr val="D9E0E8"/>
                      </a:solidFill>
                      <a:prstDash val="solid"/>
                      <a:round/>
                      <a:headEnd type="none" w="med" len="med"/>
                      <a:tailEnd type="none" w="med" len="med"/>
                    </a:lnL>
                    <a:lnR w="6350" cap="flat" cmpd="sng" algn="ctr">
                      <a:solidFill>
                        <a:srgbClr val="D9E0E8"/>
                      </a:solidFill>
                      <a:prstDash val="solid"/>
                      <a:round/>
                      <a:headEnd type="none" w="med" len="med"/>
                      <a:tailEnd type="none" w="med" len="med"/>
                    </a:lnR>
                    <a:lnT w="6350" cap="flat" cmpd="sng" algn="ctr">
                      <a:solidFill>
                        <a:srgbClr val="D9E0E8"/>
                      </a:solidFill>
                      <a:prstDash val="solid"/>
                      <a:round/>
                      <a:headEnd type="none" w="med" len="med"/>
                      <a:tailEnd type="none" w="med" len="med"/>
                    </a:lnT>
                    <a:lnB w="6350" cap="flat" cmpd="sng" algn="ctr">
                      <a:solidFill>
                        <a:srgbClr val="D9E0E8"/>
                      </a:solidFill>
                      <a:prstDash val="solid"/>
                      <a:round/>
                      <a:headEnd type="none" w="med" len="med"/>
                      <a:tailEnd type="none" w="med" len="med"/>
                    </a:lnB>
                    <a:solidFill>
                      <a:schemeClr val="bg1"/>
                    </a:solidFill>
                  </a:tcPr>
                </a:tc>
                <a:tc>
                  <a:txBody>
                    <a:bodyPr/>
                    <a:lstStyle/>
                    <a:p>
                      <a:pPr indent="0" marL="0">
                        <a:buNone/>
                      </a:pPr>
                      <a:r>
                        <a:rPr lang="en-US" sz="900" dirty="0">
                          <a:solidFill>
                            <a:schemeClr val="tx1"/>
                          </a:solidFill>
                          <a:latin typeface="+mn-lt" pitchFamily="34" charset="0"/>
                          <a:ea typeface="+mn-lt" pitchFamily="34" charset="-122"/>
                          <a:cs typeface="+mn-lt" pitchFamily="34" charset="-120"/>
                        </a:rPr>
                        <a:t>50</a:t>
                      </a:r>
                      <a:endParaRPr lang="en-US" sz="900" dirty="0">
                        <a:latin typeface="+mn-lt" charset="0"/>
                        <a:ea typeface="+mn-lt" charset="0"/>
                        <a:cs typeface="+mn-lt" charset="0"/>
                      </a:endParaRPr>
                    </a:p>
                  </a:txBody>
                  <a:tcPr marL="45720" marR="45720" marT="45720" marB="45720" anchor="t">
                    <a:lnL w="6350" cap="flat" cmpd="sng" algn="ctr">
                      <a:solidFill>
                        <a:srgbClr val="D9E0E8"/>
                      </a:solidFill>
                      <a:prstDash val="solid"/>
                      <a:round/>
                      <a:headEnd type="none" w="med" len="med"/>
                      <a:tailEnd type="none" w="med" len="med"/>
                    </a:lnL>
                    <a:lnR w="6350" cap="flat" cmpd="sng" algn="ctr">
                      <a:solidFill>
                        <a:srgbClr val="D9E0E8"/>
                      </a:solidFill>
                      <a:prstDash val="solid"/>
                      <a:round/>
                      <a:headEnd type="none" w="med" len="med"/>
                      <a:tailEnd type="none" w="med" len="med"/>
                    </a:lnR>
                    <a:lnT w="6350" cap="flat" cmpd="sng" algn="ctr">
                      <a:solidFill>
                        <a:srgbClr val="D9E0E8"/>
                      </a:solidFill>
                      <a:prstDash val="solid"/>
                      <a:round/>
                      <a:headEnd type="none" w="med" len="med"/>
                      <a:tailEnd type="none" w="med" len="med"/>
                    </a:lnT>
                    <a:lnB w="6350" cap="flat" cmpd="sng" algn="ctr">
                      <a:solidFill>
                        <a:srgbClr val="D9E0E8"/>
                      </a:solidFill>
                      <a:prstDash val="solid"/>
                      <a:round/>
                      <a:headEnd type="none" w="med" len="med"/>
                      <a:tailEnd type="none" w="med" len="med"/>
                    </a:lnB>
                    <a:solidFill>
                      <a:schemeClr val="bg1"/>
                    </a:solidFill>
                  </a:tcPr>
                </a:tc>
                <a:tc>
                  <a:txBody>
                    <a:bodyPr/>
                    <a:lstStyle/>
                    <a:p>
                      <a:pPr indent="0" marL="0">
                        <a:buNone/>
                      </a:pPr>
                      <a:r>
                        <a:rPr lang="en-US" sz="900" dirty="0">
                          <a:solidFill>
                            <a:schemeClr val="tx1"/>
                          </a:solidFill>
                          <a:latin typeface="+mn-lt" pitchFamily="34" charset="0"/>
                          <a:ea typeface="+mn-lt" pitchFamily="34" charset="-122"/>
                          <a:cs typeface="+mn-lt" pitchFamily="34" charset="-120"/>
                        </a:rPr>
                        <a:t>2.39</a:t>
                      </a:r>
                      <a:endParaRPr lang="en-US" sz="900" dirty="0">
                        <a:latin typeface="+mn-lt" charset="0"/>
                        <a:ea typeface="+mn-lt" charset="0"/>
                        <a:cs typeface="+mn-lt" charset="0"/>
                      </a:endParaRPr>
                    </a:p>
                  </a:txBody>
                  <a:tcPr marL="45720" marR="45720" marT="45720" marB="45720" anchor="t">
                    <a:lnL w="6350" cap="flat" cmpd="sng" algn="ctr">
                      <a:solidFill>
                        <a:srgbClr val="D9E0E8"/>
                      </a:solidFill>
                      <a:prstDash val="solid"/>
                      <a:round/>
                      <a:headEnd type="none" w="med" len="med"/>
                      <a:tailEnd type="none" w="med" len="med"/>
                    </a:lnL>
                    <a:lnR w="6350" cap="flat" cmpd="sng" algn="ctr">
                      <a:solidFill>
                        <a:srgbClr val="D9E0E8"/>
                      </a:solidFill>
                      <a:prstDash val="solid"/>
                      <a:round/>
                      <a:headEnd type="none" w="med" len="med"/>
                      <a:tailEnd type="none" w="med" len="med"/>
                    </a:lnR>
                    <a:lnT w="6350" cap="flat" cmpd="sng" algn="ctr">
                      <a:solidFill>
                        <a:srgbClr val="D9E0E8"/>
                      </a:solidFill>
                      <a:prstDash val="solid"/>
                      <a:round/>
                      <a:headEnd type="none" w="med" len="med"/>
                      <a:tailEnd type="none" w="med" len="med"/>
                    </a:lnT>
                    <a:lnB w="6350" cap="flat" cmpd="sng" algn="ctr">
                      <a:solidFill>
                        <a:srgbClr val="D9E0E8"/>
                      </a:solidFill>
                      <a:prstDash val="solid"/>
                      <a:round/>
                      <a:headEnd type="none" w="med" len="med"/>
                      <a:tailEnd type="none" w="med" len="med"/>
                    </a:lnB>
                    <a:solidFill>
                      <a:schemeClr val="bg1"/>
                    </a:solidFill>
                  </a:tcPr>
                </a:tc>
                <a:tc>
                  <a:txBody>
                    <a:bodyPr/>
                    <a:lstStyle/>
                    <a:p>
                      <a:pPr indent="0" marL="0">
                        <a:buNone/>
                      </a:pPr>
                      <a:r>
                        <a:rPr lang="en-US" sz="900" dirty="0">
                          <a:solidFill>
                            <a:schemeClr val="tx1"/>
                          </a:solidFill>
                          <a:latin typeface="+mn-lt" pitchFamily="34" charset="0"/>
                          <a:ea typeface="+mn-lt" pitchFamily="34" charset="-122"/>
                          <a:cs typeface="+mn-lt" pitchFamily="34" charset="-120"/>
                        </a:rPr>
                        <a:t>1.69</a:t>
                      </a:r>
                      <a:endParaRPr lang="en-US" sz="900" dirty="0">
                        <a:latin typeface="+mn-lt" charset="0"/>
                        <a:ea typeface="+mn-lt" charset="0"/>
                        <a:cs typeface="+mn-lt" charset="0"/>
                      </a:endParaRPr>
                    </a:p>
                  </a:txBody>
                  <a:tcPr marL="45720" marR="45720" marT="45720" marB="45720" anchor="t">
                    <a:lnL w="6350" cap="flat" cmpd="sng" algn="ctr">
                      <a:solidFill>
                        <a:srgbClr val="D9E0E8"/>
                      </a:solidFill>
                      <a:prstDash val="solid"/>
                      <a:round/>
                      <a:headEnd type="none" w="med" len="med"/>
                      <a:tailEnd type="none" w="med" len="med"/>
                    </a:lnL>
                    <a:lnR w="6350" cap="flat" cmpd="sng" algn="ctr">
                      <a:solidFill>
                        <a:srgbClr val="D9E0E8"/>
                      </a:solidFill>
                      <a:prstDash val="solid"/>
                      <a:round/>
                      <a:headEnd type="none" w="med" len="med"/>
                      <a:tailEnd type="none" w="med" len="med"/>
                    </a:lnR>
                    <a:lnT w="6350" cap="flat" cmpd="sng" algn="ctr">
                      <a:solidFill>
                        <a:srgbClr val="D9E0E8"/>
                      </a:solidFill>
                      <a:prstDash val="solid"/>
                      <a:round/>
                      <a:headEnd type="none" w="med" len="med"/>
                      <a:tailEnd type="none" w="med" len="med"/>
                    </a:lnT>
                    <a:lnB w="6350" cap="flat" cmpd="sng" algn="ctr">
                      <a:solidFill>
                        <a:srgbClr val="D9E0E8"/>
                      </a:solidFill>
                      <a:prstDash val="solid"/>
                      <a:round/>
                      <a:headEnd type="none" w="med" len="med"/>
                      <a:tailEnd type="none" w="med" len="med"/>
                    </a:lnB>
                    <a:solidFill>
                      <a:schemeClr val="bg1"/>
                    </a:solidFill>
                  </a:tcPr>
                </a:tc>
                <a:tc>
                  <a:txBody>
                    <a:bodyPr/>
                    <a:lstStyle/>
                    <a:p>
                      <a:pPr indent="0" marL="0">
                        <a:buNone/>
                      </a:pPr>
                      <a:r>
                        <a:rPr lang="en-US" sz="900" dirty="0">
                          <a:solidFill>
                            <a:schemeClr val="tx1"/>
                          </a:solidFill>
                          <a:latin typeface="+mn-lt" pitchFamily="34" charset="0"/>
                          <a:ea typeface="+mn-lt" pitchFamily="34" charset="-122"/>
                          <a:cs typeface="+mn-lt" pitchFamily="34" charset="-120"/>
                        </a:rPr>
                        <a:t>0.15</a:t>
                      </a:r>
                      <a:endParaRPr lang="en-US" sz="900" dirty="0">
                        <a:latin typeface="+mn-lt" charset="0"/>
                        <a:ea typeface="+mn-lt" charset="0"/>
                        <a:cs typeface="+mn-lt" charset="0"/>
                      </a:endParaRPr>
                    </a:p>
                  </a:txBody>
                  <a:tcPr marL="45720" marR="45720" marT="45720" marB="45720" anchor="t">
                    <a:lnL w="6350" cap="flat" cmpd="sng" algn="ctr">
                      <a:solidFill>
                        <a:srgbClr val="D9E0E8"/>
                      </a:solidFill>
                      <a:prstDash val="solid"/>
                      <a:round/>
                      <a:headEnd type="none" w="med" len="med"/>
                      <a:tailEnd type="none" w="med" len="med"/>
                    </a:lnL>
                    <a:lnR w="6350" cap="flat" cmpd="sng" algn="ctr">
                      <a:solidFill>
                        <a:srgbClr val="D9E0E8"/>
                      </a:solidFill>
                      <a:prstDash val="solid"/>
                      <a:round/>
                      <a:headEnd type="none" w="med" len="med"/>
                      <a:tailEnd type="none" w="med" len="med"/>
                    </a:lnR>
                    <a:lnT w="6350" cap="flat" cmpd="sng" algn="ctr">
                      <a:solidFill>
                        <a:srgbClr val="D9E0E8"/>
                      </a:solidFill>
                      <a:prstDash val="solid"/>
                      <a:round/>
                      <a:headEnd type="none" w="med" len="med"/>
                      <a:tailEnd type="none" w="med" len="med"/>
                    </a:lnT>
                    <a:lnB w="6350" cap="flat" cmpd="sng" algn="ctr">
                      <a:solidFill>
                        <a:srgbClr val="D9E0E8"/>
                      </a:solidFill>
                      <a:prstDash val="solid"/>
                      <a:round/>
                      <a:headEnd type="none" w="med" len="med"/>
                      <a:tailEnd type="none" w="med" len="med"/>
                    </a:lnB>
                    <a:solidFill>
                      <a:schemeClr val="bg1"/>
                    </a:solidFill>
                  </a:tcPr>
                </a:tc>
                <a:tc>
                  <a:txBody>
                    <a:bodyPr/>
                    <a:lstStyle/>
                    <a:p>
                      <a:pPr indent="0" marL="0">
                        <a:buNone/>
                      </a:pPr>
                      <a:r>
                        <a:rPr lang="en-US" sz="900" dirty="0">
                          <a:solidFill>
                            <a:schemeClr val="tx1"/>
                          </a:solidFill>
                          <a:latin typeface="+mn-lt" pitchFamily="34" charset="0"/>
                          <a:ea typeface="+mn-lt" pitchFamily="34" charset="-122"/>
                          <a:cs typeface="+mn-lt" pitchFamily="34" charset="-120"/>
                        </a:rPr>
                        <a:t>8.81</a:t>
                      </a:r>
                      <a:endParaRPr lang="en-US" sz="900" dirty="0">
                        <a:latin typeface="+mn-lt" charset="0"/>
                        <a:ea typeface="+mn-lt" charset="0"/>
                        <a:cs typeface="+mn-lt" charset="0"/>
                      </a:endParaRPr>
                    </a:p>
                  </a:txBody>
                  <a:tcPr marL="45720" marR="45720" marT="45720" marB="45720" anchor="t">
                    <a:lnL w="6350" cap="flat" cmpd="sng" algn="ctr">
                      <a:solidFill>
                        <a:srgbClr val="D9E0E8"/>
                      </a:solidFill>
                      <a:prstDash val="solid"/>
                      <a:round/>
                      <a:headEnd type="none" w="med" len="med"/>
                      <a:tailEnd type="none" w="med" len="med"/>
                    </a:lnL>
                    <a:lnR w="6350" cap="flat" cmpd="sng" algn="ctr">
                      <a:solidFill>
                        <a:srgbClr val="D9E0E8"/>
                      </a:solidFill>
                      <a:prstDash val="solid"/>
                      <a:round/>
                      <a:headEnd type="none" w="med" len="med"/>
                      <a:tailEnd type="none" w="med" len="med"/>
                    </a:lnR>
                    <a:lnT w="6350" cap="flat" cmpd="sng" algn="ctr">
                      <a:solidFill>
                        <a:srgbClr val="D9E0E8"/>
                      </a:solidFill>
                      <a:prstDash val="solid"/>
                      <a:round/>
                      <a:headEnd type="none" w="med" len="med"/>
                      <a:tailEnd type="none" w="med" len="med"/>
                    </a:lnT>
                    <a:lnB w="6350" cap="flat" cmpd="sng" algn="ctr">
                      <a:solidFill>
                        <a:srgbClr val="D9E0E8"/>
                      </a:solidFill>
                      <a:prstDash val="solid"/>
                      <a:round/>
                      <a:headEnd type="none" w="med" len="med"/>
                      <a:tailEnd type="none" w="med" len="med"/>
                    </a:lnB>
                    <a:solidFill>
                      <a:schemeClr val="bg1"/>
                    </a:solidFill>
                  </a:tcPr>
                </a:tc>
              </a:tr>
              <a:tr h="0">
                <a:tc>
                  <a:txBody>
                    <a:bodyPr/>
                    <a:lstStyle/>
                    <a:p>
                      <a:pPr indent="0" marL="0">
                        <a:buNone/>
                      </a:pPr>
                      <a:r>
                        <a:rPr lang="en-US" sz="900" dirty="0">
                          <a:solidFill>
                            <a:schemeClr val="tx1"/>
                          </a:solidFill>
                          <a:latin typeface="+mn-lt" pitchFamily="34" charset="0"/>
                          <a:ea typeface="+mn-lt" pitchFamily="34" charset="-122"/>
                          <a:cs typeface="+mn-lt" pitchFamily="34" charset="-120"/>
                        </a:rPr>
                        <a:t>PTM horizontal</a:t>
                      </a:r>
                      <a:endParaRPr lang="en-US" sz="900" dirty="0">
                        <a:latin typeface="+mn-lt" charset="0"/>
                        <a:ea typeface="+mn-lt" charset="0"/>
                        <a:cs typeface="+mn-lt" charset="0"/>
                      </a:endParaRPr>
                    </a:p>
                  </a:txBody>
                  <a:tcPr marL="45720" marR="45720" marT="45720" marB="45720" anchor="t">
                    <a:lnL w="6350" cap="flat" cmpd="sng" algn="ctr">
                      <a:solidFill>
                        <a:srgbClr val="D9E0E8"/>
                      </a:solidFill>
                      <a:prstDash val="solid"/>
                      <a:round/>
                      <a:headEnd type="none" w="med" len="med"/>
                      <a:tailEnd type="none" w="med" len="med"/>
                    </a:lnL>
                    <a:lnR w="6350" cap="flat" cmpd="sng" algn="ctr">
                      <a:solidFill>
                        <a:srgbClr val="D9E0E8"/>
                      </a:solidFill>
                      <a:prstDash val="solid"/>
                      <a:round/>
                      <a:headEnd type="none" w="med" len="med"/>
                      <a:tailEnd type="none" w="med" len="med"/>
                    </a:lnR>
                    <a:lnT w="6350" cap="flat" cmpd="sng" algn="ctr">
                      <a:solidFill>
                        <a:srgbClr val="D9E0E8"/>
                      </a:solidFill>
                      <a:prstDash val="solid"/>
                      <a:round/>
                      <a:headEnd type="none" w="med" len="med"/>
                      <a:tailEnd type="none" w="med" len="med"/>
                    </a:lnT>
                    <a:lnB w="6350" cap="flat" cmpd="sng" algn="ctr">
                      <a:solidFill>
                        <a:srgbClr val="D9E0E8"/>
                      </a:solidFill>
                      <a:prstDash val="solid"/>
                      <a:round/>
                      <a:headEnd type="none" w="med" len="med"/>
                      <a:tailEnd type="none" w="med" len="med"/>
                    </a:lnB>
                    <a:solidFill>
                      <a:schemeClr val="bg2"/>
                    </a:solidFill>
                  </a:tcPr>
                </a:tc>
                <a:tc>
                  <a:txBody>
                    <a:bodyPr/>
                    <a:lstStyle/>
                    <a:p>
                      <a:pPr indent="0" marL="0">
                        <a:buNone/>
                      </a:pPr>
                      <a:r>
                        <a:rPr lang="en-US" sz="900" dirty="0">
                          <a:solidFill>
                            <a:schemeClr val="tx1"/>
                          </a:solidFill>
                          <a:latin typeface="+mn-lt" pitchFamily="34" charset="0"/>
                          <a:ea typeface="+mn-lt" pitchFamily="34" charset="-122"/>
                          <a:cs typeface="+mn-lt" pitchFamily="34" charset="-120"/>
                        </a:rPr>
                        <a:t>50</a:t>
                      </a:r>
                      <a:endParaRPr lang="en-US" sz="900" dirty="0">
                        <a:latin typeface="+mn-lt" charset="0"/>
                        <a:ea typeface="+mn-lt" charset="0"/>
                        <a:cs typeface="+mn-lt" charset="0"/>
                      </a:endParaRPr>
                    </a:p>
                  </a:txBody>
                  <a:tcPr marL="45720" marR="45720" marT="45720" marB="45720" anchor="t">
                    <a:lnL w="6350" cap="flat" cmpd="sng" algn="ctr">
                      <a:solidFill>
                        <a:srgbClr val="D9E0E8"/>
                      </a:solidFill>
                      <a:prstDash val="solid"/>
                      <a:round/>
                      <a:headEnd type="none" w="med" len="med"/>
                      <a:tailEnd type="none" w="med" len="med"/>
                    </a:lnL>
                    <a:lnR w="6350" cap="flat" cmpd="sng" algn="ctr">
                      <a:solidFill>
                        <a:srgbClr val="D9E0E8"/>
                      </a:solidFill>
                      <a:prstDash val="solid"/>
                      <a:round/>
                      <a:headEnd type="none" w="med" len="med"/>
                      <a:tailEnd type="none" w="med" len="med"/>
                    </a:lnR>
                    <a:lnT w="6350" cap="flat" cmpd="sng" algn="ctr">
                      <a:solidFill>
                        <a:srgbClr val="D9E0E8"/>
                      </a:solidFill>
                      <a:prstDash val="solid"/>
                      <a:round/>
                      <a:headEnd type="none" w="med" len="med"/>
                      <a:tailEnd type="none" w="med" len="med"/>
                    </a:lnT>
                    <a:lnB w="6350" cap="flat" cmpd="sng" algn="ctr">
                      <a:solidFill>
                        <a:srgbClr val="D9E0E8"/>
                      </a:solidFill>
                      <a:prstDash val="solid"/>
                      <a:round/>
                      <a:headEnd type="none" w="med" len="med"/>
                      <a:tailEnd type="none" w="med" len="med"/>
                    </a:lnB>
                    <a:solidFill>
                      <a:schemeClr val="bg2"/>
                    </a:solidFill>
                  </a:tcPr>
                </a:tc>
                <a:tc>
                  <a:txBody>
                    <a:bodyPr/>
                    <a:lstStyle/>
                    <a:p>
                      <a:pPr indent="0" marL="0">
                        <a:buNone/>
                      </a:pPr>
                      <a:r>
                        <a:rPr lang="en-US" sz="900" dirty="0">
                          <a:solidFill>
                            <a:schemeClr val="tx1"/>
                          </a:solidFill>
                          <a:latin typeface="+mn-lt" pitchFamily="34" charset="0"/>
                          <a:ea typeface="+mn-lt" pitchFamily="34" charset="-122"/>
                          <a:cs typeface="+mn-lt" pitchFamily="34" charset="-120"/>
                        </a:rPr>
                        <a:t>1.52</a:t>
                      </a:r>
                      <a:endParaRPr lang="en-US" sz="900" dirty="0">
                        <a:latin typeface="+mn-lt" charset="0"/>
                        <a:ea typeface="+mn-lt" charset="0"/>
                        <a:cs typeface="+mn-lt" charset="0"/>
                      </a:endParaRPr>
                    </a:p>
                  </a:txBody>
                  <a:tcPr marL="45720" marR="45720" marT="45720" marB="45720" anchor="t">
                    <a:lnL w="6350" cap="flat" cmpd="sng" algn="ctr">
                      <a:solidFill>
                        <a:srgbClr val="D9E0E8"/>
                      </a:solidFill>
                      <a:prstDash val="solid"/>
                      <a:round/>
                      <a:headEnd type="none" w="med" len="med"/>
                      <a:tailEnd type="none" w="med" len="med"/>
                    </a:lnL>
                    <a:lnR w="6350" cap="flat" cmpd="sng" algn="ctr">
                      <a:solidFill>
                        <a:srgbClr val="D9E0E8"/>
                      </a:solidFill>
                      <a:prstDash val="solid"/>
                      <a:round/>
                      <a:headEnd type="none" w="med" len="med"/>
                      <a:tailEnd type="none" w="med" len="med"/>
                    </a:lnR>
                    <a:lnT w="6350" cap="flat" cmpd="sng" algn="ctr">
                      <a:solidFill>
                        <a:srgbClr val="D9E0E8"/>
                      </a:solidFill>
                      <a:prstDash val="solid"/>
                      <a:round/>
                      <a:headEnd type="none" w="med" len="med"/>
                      <a:tailEnd type="none" w="med" len="med"/>
                    </a:lnT>
                    <a:lnB w="6350" cap="flat" cmpd="sng" algn="ctr">
                      <a:solidFill>
                        <a:srgbClr val="D9E0E8"/>
                      </a:solidFill>
                      <a:prstDash val="solid"/>
                      <a:round/>
                      <a:headEnd type="none" w="med" len="med"/>
                      <a:tailEnd type="none" w="med" len="med"/>
                    </a:lnB>
                    <a:solidFill>
                      <a:schemeClr val="bg2"/>
                    </a:solidFill>
                  </a:tcPr>
                </a:tc>
                <a:tc>
                  <a:txBody>
                    <a:bodyPr/>
                    <a:lstStyle/>
                    <a:p>
                      <a:pPr indent="0" marL="0">
                        <a:buNone/>
                      </a:pPr>
                      <a:r>
                        <a:rPr lang="en-US" sz="900" dirty="0">
                          <a:solidFill>
                            <a:schemeClr val="tx1"/>
                          </a:solidFill>
                          <a:latin typeface="+mn-lt" pitchFamily="34" charset="0"/>
                          <a:ea typeface="+mn-lt" pitchFamily="34" charset="-122"/>
                          <a:cs typeface="+mn-lt" pitchFamily="34" charset="-120"/>
                        </a:rPr>
                        <a:t>0.99</a:t>
                      </a:r>
                      <a:endParaRPr lang="en-US" sz="900" dirty="0">
                        <a:latin typeface="+mn-lt" charset="0"/>
                        <a:ea typeface="+mn-lt" charset="0"/>
                        <a:cs typeface="+mn-lt" charset="0"/>
                      </a:endParaRPr>
                    </a:p>
                  </a:txBody>
                  <a:tcPr marL="45720" marR="45720" marT="45720" marB="45720" anchor="t">
                    <a:lnL w="6350" cap="flat" cmpd="sng" algn="ctr">
                      <a:solidFill>
                        <a:srgbClr val="D9E0E8"/>
                      </a:solidFill>
                      <a:prstDash val="solid"/>
                      <a:round/>
                      <a:headEnd type="none" w="med" len="med"/>
                      <a:tailEnd type="none" w="med" len="med"/>
                    </a:lnL>
                    <a:lnR w="6350" cap="flat" cmpd="sng" algn="ctr">
                      <a:solidFill>
                        <a:srgbClr val="D9E0E8"/>
                      </a:solidFill>
                      <a:prstDash val="solid"/>
                      <a:round/>
                      <a:headEnd type="none" w="med" len="med"/>
                      <a:tailEnd type="none" w="med" len="med"/>
                    </a:lnR>
                    <a:lnT w="6350" cap="flat" cmpd="sng" algn="ctr">
                      <a:solidFill>
                        <a:srgbClr val="D9E0E8"/>
                      </a:solidFill>
                      <a:prstDash val="solid"/>
                      <a:round/>
                      <a:headEnd type="none" w="med" len="med"/>
                      <a:tailEnd type="none" w="med" len="med"/>
                    </a:lnT>
                    <a:lnB w="6350" cap="flat" cmpd="sng" algn="ctr">
                      <a:solidFill>
                        <a:srgbClr val="D9E0E8"/>
                      </a:solidFill>
                      <a:prstDash val="solid"/>
                      <a:round/>
                      <a:headEnd type="none" w="med" len="med"/>
                      <a:tailEnd type="none" w="med" len="med"/>
                    </a:lnB>
                    <a:solidFill>
                      <a:schemeClr val="bg2"/>
                    </a:solidFill>
                  </a:tcPr>
                </a:tc>
                <a:tc>
                  <a:txBody>
                    <a:bodyPr/>
                    <a:lstStyle/>
                    <a:p>
                      <a:pPr indent="0" marL="0">
                        <a:buNone/>
                      </a:pPr>
                      <a:r>
                        <a:rPr lang="en-US" sz="900" dirty="0">
                          <a:solidFill>
                            <a:schemeClr val="tx1"/>
                          </a:solidFill>
                          <a:latin typeface="+mn-lt" pitchFamily="34" charset="0"/>
                          <a:ea typeface="+mn-lt" pitchFamily="34" charset="-122"/>
                          <a:cs typeface="+mn-lt" pitchFamily="34" charset="-120"/>
                        </a:rPr>
                        <a:t>0.30</a:t>
                      </a:r>
                      <a:endParaRPr lang="en-US" sz="900" dirty="0">
                        <a:latin typeface="+mn-lt" charset="0"/>
                        <a:ea typeface="+mn-lt" charset="0"/>
                        <a:cs typeface="+mn-lt" charset="0"/>
                      </a:endParaRPr>
                    </a:p>
                  </a:txBody>
                  <a:tcPr marL="45720" marR="45720" marT="45720" marB="45720" anchor="t">
                    <a:lnL w="6350" cap="flat" cmpd="sng" algn="ctr">
                      <a:solidFill>
                        <a:srgbClr val="D9E0E8"/>
                      </a:solidFill>
                      <a:prstDash val="solid"/>
                      <a:round/>
                      <a:headEnd type="none" w="med" len="med"/>
                      <a:tailEnd type="none" w="med" len="med"/>
                    </a:lnL>
                    <a:lnR w="6350" cap="flat" cmpd="sng" algn="ctr">
                      <a:solidFill>
                        <a:srgbClr val="D9E0E8"/>
                      </a:solidFill>
                      <a:prstDash val="solid"/>
                      <a:round/>
                      <a:headEnd type="none" w="med" len="med"/>
                      <a:tailEnd type="none" w="med" len="med"/>
                    </a:lnR>
                    <a:lnT w="6350" cap="flat" cmpd="sng" algn="ctr">
                      <a:solidFill>
                        <a:srgbClr val="D9E0E8"/>
                      </a:solidFill>
                      <a:prstDash val="solid"/>
                      <a:round/>
                      <a:headEnd type="none" w="med" len="med"/>
                      <a:tailEnd type="none" w="med" len="med"/>
                    </a:lnT>
                    <a:lnB w="6350" cap="flat" cmpd="sng" algn="ctr">
                      <a:solidFill>
                        <a:srgbClr val="D9E0E8"/>
                      </a:solidFill>
                      <a:prstDash val="solid"/>
                      <a:round/>
                      <a:headEnd type="none" w="med" len="med"/>
                      <a:tailEnd type="none" w="med" len="med"/>
                    </a:lnB>
                    <a:solidFill>
                      <a:schemeClr val="bg2"/>
                    </a:solidFill>
                  </a:tcPr>
                </a:tc>
                <a:tc>
                  <a:txBody>
                    <a:bodyPr/>
                    <a:lstStyle/>
                    <a:p>
                      <a:pPr indent="0" marL="0">
                        <a:buNone/>
                      </a:pPr>
                      <a:r>
                        <a:rPr lang="en-US" sz="900" dirty="0">
                          <a:solidFill>
                            <a:schemeClr val="tx1"/>
                          </a:solidFill>
                          <a:latin typeface="+mn-lt" pitchFamily="34" charset="0"/>
                          <a:ea typeface="+mn-lt" pitchFamily="34" charset="-122"/>
                          <a:cs typeface="+mn-lt" pitchFamily="34" charset="-120"/>
                        </a:rPr>
                        <a:t>4.10</a:t>
                      </a:r>
                      <a:endParaRPr lang="en-US" sz="900" dirty="0">
                        <a:latin typeface="+mn-lt" charset="0"/>
                        <a:ea typeface="+mn-lt" charset="0"/>
                        <a:cs typeface="+mn-lt" charset="0"/>
                      </a:endParaRPr>
                    </a:p>
                  </a:txBody>
                  <a:tcPr marL="45720" marR="45720" marT="45720" marB="45720" anchor="t">
                    <a:lnL w="6350" cap="flat" cmpd="sng" algn="ctr">
                      <a:solidFill>
                        <a:srgbClr val="D9E0E8"/>
                      </a:solidFill>
                      <a:prstDash val="solid"/>
                      <a:round/>
                      <a:headEnd type="none" w="med" len="med"/>
                      <a:tailEnd type="none" w="med" len="med"/>
                    </a:lnL>
                    <a:lnR w="6350" cap="flat" cmpd="sng" algn="ctr">
                      <a:solidFill>
                        <a:srgbClr val="D9E0E8"/>
                      </a:solidFill>
                      <a:prstDash val="solid"/>
                      <a:round/>
                      <a:headEnd type="none" w="med" len="med"/>
                      <a:tailEnd type="none" w="med" len="med"/>
                    </a:lnR>
                    <a:lnT w="6350" cap="flat" cmpd="sng" algn="ctr">
                      <a:solidFill>
                        <a:srgbClr val="D9E0E8"/>
                      </a:solidFill>
                      <a:prstDash val="solid"/>
                      <a:round/>
                      <a:headEnd type="none" w="med" len="med"/>
                      <a:tailEnd type="none" w="med" len="med"/>
                    </a:lnT>
                    <a:lnB w="6350" cap="flat" cmpd="sng" algn="ctr">
                      <a:solidFill>
                        <a:srgbClr val="D9E0E8"/>
                      </a:solidFill>
                      <a:prstDash val="solid"/>
                      <a:round/>
                      <a:headEnd type="none" w="med" len="med"/>
                      <a:tailEnd type="none" w="med" len="med"/>
                    </a:lnB>
                    <a:solidFill>
                      <a:schemeClr val="bg2"/>
                    </a:solidFill>
                  </a:tcPr>
                </a:tc>
              </a:tr>
              <a:tr h="0">
                <a:tc>
                  <a:txBody>
                    <a:bodyPr/>
                    <a:lstStyle/>
                    <a:p>
                      <a:pPr indent="0" marL="0">
                        <a:buNone/>
                      </a:pPr>
                      <a:r>
                        <a:rPr lang="en-US" sz="900" dirty="0">
                          <a:solidFill>
                            <a:schemeClr val="tx1"/>
                          </a:solidFill>
                          <a:latin typeface="+mn-lt" pitchFamily="34" charset="0"/>
                          <a:ea typeface="+mn-lt" pitchFamily="34" charset="-122"/>
                          <a:cs typeface="+mn-lt" pitchFamily="34" charset="-120"/>
                        </a:rPr>
                        <a:t>Palate, superior border</a:t>
                      </a:r>
                      <a:endParaRPr lang="en-US" sz="900" dirty="0">
                        <a:latin typeface="+mn-lt" charset="0"/>
                        <a:ea typeface="+mn-lt" charset="0"/>
                        <a:cs typeface="+mn-lt" charset="0"/>
                      </a:endParaRPr>
                    </a:p>
                  </a:txBody>
                  <a:tcPr marL="45720" marR="45720" marT="45720" marB="45720" anchor="t">
                    <a:lnL w="6350" cap="flat" cmpd="sng" algn="ctr">
                      <a:solidFill>
                        <a:srgbClr val="D9E0E8"/>
                      </a:solidFill>
                      <a:prstDash val="solid"/>
                      <a:round/>
                      <a:headEnd type="none" w="med" len="med"/>
                      <a:tailEnd type="none" w="med" len="med"/>
                    </a:lnL>
                    <a:lnR w="6350" cap="flat" cmpd="sng" algn="ctr">
                      <a:solidFill>
                        <a:srgbClr val="D9E0E8"/>
                      </a:solidFill>
                      <a:prstDash val="solid"/>
                      <a:round/>
                      <a:headEnd type="none" w="med" len="med"/>
                      <a:tailEnd type="none" w="med" len="med"/>
                    </a:lnR>
                    <a:lnT w="6350" cap="flat" cmpd="sng" algn="ctr">
                      <a:solidFill>
                        <a:srgbClr val="D9E0E8"/>
                      </a:solidFill>
                      <a:prstDash val="solid"/>
                      <a:round/>
                      <a:headEnd type="none" w="med" len="med"/>
                      <a:tailEnd type="none" w="med" len="med"/>
                    </a:lnT>
                    <a:lnB w="6350" cap="flat" cmpd="sng" algn="ctr">
                      <a:solidFill>
                        <a:srgbClr val="D9E0E8"/>
                      </a:solidFill>
                      <a:prstDash val="solid"/>
                      <a:round/>
                      <a:headEnd type="none" w="med" len="med"/>
                      <a:tailEnd type="none" w="med" len="med"/>
                    </a:lnB>
                    <a:solidFill>
                      <a:schemeClr val="bg1"/>
                    </a:solidFill>
                  </a:tcPr>
                </a:tc>
                <a:tc>
                  <a:txBody>
                    <a:bodyPr/>
                    <a:lstStyle/>
                    <a:p>
                      <a:pPr indent="0" marL="0">
                        <a:buNone/>
                      </a:pPr>
                      <a:r>
                        <a:rPr lang="en-US" sz="900" dirty="0">
                          <a:solidFill>
                            <a:schemeClr val="tx1"/>
                          </a:solidFill>
                          <a:latin typeface="+mn-lt" pitchFamily="34" charset="0"/>
                          <a:ea typeface="+mn-lt" pitchFamily="34" charset="-122"/>
                          <a:cs typeface="+mn-lt" pitchFamily="34" charset="-120"/>
                        </a:rPr>
                        <a:t>50</a:t>
                      </a:r>
                      <a:endParaRPr lang="en-US" sz="900" dirty="0">
                        <a:latin typeface="+mn-lt" charset="0"/>
                        <a:ea typeface="+mn-lt" charset="0"/>
                        <a:cs typeface="+mn-lt" charset="0"/>
                      </a:endParaRPr>
                    </a:p>
                  </a:txBody>
                  <a:tcPr marL="45720" marR="45720" marT="45720" marB="45720" anchor="t">
                    <a:lnL w="6350" cap="flat" cmpd="sng" algn="ctr">
                      <a:solidFill>
                        <a:srgbClr val="D9E0E8"/>
                      </a:solidFill>
                      <a:prstDash val="solid"/>
                      <a:round/>
                      <a:headEnd type="none" w="med" len="med"/>
                      <a:tailEnd type="none" w="med" len="med"/>
                    </a:lnL>
                    <a:lnR w="6350" cap="flat" cmpd="sng" algn="ctr">
                      <a:solidFill>
                        <a:srgbClr val="D9E0E8"/>
                      </a:solidFill>
                      <a:prstDash val="solid"/>
                      <a:round/>
                      <a:headEnd type="none" w="med" len="med"/>
                      <a:tailEnd type="none" w="med" len="med"/>
                    </a:lnR>
                    <a:lnT w="6350" cap="flat" cmpd="sng" algn="ctr">
                      <a:solidFill>
                        <a:srgbClr val="D9E0E8"/>
                      </a:solidFill>
                      <a:prstDash val="solid"/>
                      <a:round/>
                      <a:headEnd type="none" w="med" len="med"/>
                      <a:tailEnd type="none" w="med" len="med"/>
                    </a:lnT>
                    <a:lnB w="6350" cap="flat" cmpd="sng" algn="ctr">
                      <a:solidFill>
                        <a:srgbClr val="D9E0E8"/>
                      </a:solidFill>
                      <a:prstDash val="solid"/>
                      <a:round/>
                      <a:headEnd type="none" w="med" len="med"/>
                      <a:tailEnd type="none" w="med" len="med"/>
                    </a:lnB>
                    <a:solidFill>
                      <a:schemeClr val="bg1"/>
                    </a:solidFill>
                  </a:tcPr>
                </a:tc>
                <a:tc>
                  <a:txBody>
                    <a:bodyPr/>
                    <a:lstStyle/>
                    <a:p>
                      <a:pPr indent="0" marL="0">
                        <a:buNone/>
                      </a:pPr>
                      <a:r>
                        <a:rPr lang="en-US" sz="900" dirty="0">
                          <a:solidFill>
                            <a:schemeClr val="tx1"/>
                          </a:solidFill>
                          <a:latin typeface="+mn-lt" pitchFamily="34" charset="0"/>
                          <a:ea typeface="+mn-lt" pitchFamily="34" charset="-122"/>
                          <a:cs typeface="+mn-lt" pitchFamily="34" charset="-120"/>
                        </a:rPr>
                        <a:t>1.05</a:t>
                      </a:r>
                      <a:endParaRPr lang="en-US" sz="900" dirty="0">
                        <a:latin typeface="+mn-lt" charset="0"/>
                        <a:ea typeface="+mn-lt" charset="0"/>
                        <a:cs typeface="+mn-lt" charset="0"/>
                      </a:endParaRPr>
                    </a:p>
                  </a:txBody>
                  <a:tcPr marL="45720" marR="45720" marT="45720" marB="45720" anchor="t">
                    <a:lnL w="6350" cap="flat" cmpd="sng" algn="ctr">
                      <a:solidFill>
                        <a:srgbClr val="D9E0E8"/>
                      </a:solidFill>
                      <a:prstDash val="solid"/>
                      <a:round/>
                      <a:headEnd type="none" w="med" len="med"/>
                      <a:tailEnd type="none" w="med" len="med"/>
                    </a:lnL>
                    <a:lnR w="6350" cap="flat" cmpd="sng" algn="ctr">
                      <a:solidFill>
                        <a:srgbClr val="D9E0E8"/>
                      </a:solidFill>
                      <a:prstDash val="solid"/>
                      <a:round/>
                      <a:headEnd type="none" w="med" len="med"/>
                      <a:tailEnd type="none" w="med" len="med"/>
                    </a:lnR>
                    <a:lnT w="6350" cap="flat" cmpd="sng" algn="ctr">
                      <a:solidFill>
                        <a:srgbClr val="D9E0E8"/>
                      </a:solidFill>
                      <a:prstDash val="solid"/>
                      <a:round/>
                      <a:headEnd type="none" w="med" len="med"/>
                      <a:tailEnd type="none" w="med" len="med"/>
                    </a:lnT>
                    <a:lnB w="6350" cap="flat" cmpd="sng" algn="ctr">
                      <a:solidFill>
                        <a:srgbClr val="D9E0E8"/>
                      </a:solidFill>
                      <a:prstDash val="solid"/>
                      <a:round/>
                      <a:headEnd type="none" w="med" len="med"/>
                      <a:tailEnd type="none" w="med" len="med"/>
                    </a:lnB>
                    <a:solidFill>
                      <a:schemeClr val="bg1"/>
                    </a:solidFill>
                  </a:tcPr>
                </a:tc>
                <a:tc>
                  <a:txBody>
                    <a:bodyPr/>
                    <a:lstStyle/>
                    <a:p>
                      <a:pPr indent="0" marL="0">
                        <a:buNone/>
                      </a:pPr>
                      <a:r>
                        <a:rPr lang="en-US" sz="900" dirty="0">
                          <a:solidFill>
                            <a:schemeClr val="tx1"/>
                          </a:solidFill>
                          <a:latin typeface="+mn-lt" pitchFamily="34" charset="0"/>
                          <a:ea typeface="+mn-lt" pitchFamily="34" charset="-122"/>
                          <a:cs typeface="+mn-lt" pitchFamily="34" charset="-120"/>
                        </a:rPr>
                        <a:t>0.52</a:t>
                      </a:r>
                      <a:endParaRPr lang="en-US" sz="900" dirty="0">
                        <a:latin typeface="+mn-lt" charset="0"/>
                        <a:ea typeface="+mn-lt" charset="0"/>
                        <a:cs typeface="+mn-lt" charset="0"/>
                      </a:endParaRPr>
                    </a:p>
                  </a:txBody>
                  <a:tcPr marL="45720" marR="45720" marT="45720" marB="45720" anchor="t">
                    <a:lnL w="6350" cap="flat" cmpd="sng" algn="ctr">
                      <a:solidFill>
                        <a:srgbClr val="D9E0E8"/>
                      </a:solidFill>
                      <a:prstDash val="solid"/>
                      <a:round/>
                      <a:headEnd type="none" w="med" len="med"/>
                      <a:tailEnd type="none" w="med" len="med"/>
                    </a:lnL>
                    <a:lnR w="6350" cap="flat" cmpd="sng" algn="ctr">
                      <a:solidFill>
                        <a:srgbClr val="D9E0E8"/>
                      </a:solidFill>
                      <a:prstDash val="solid"/>
                      <a:round/>
                      <a:headEnd type="none" w="med" len="med"/>
                      <a:tailEnd type="none" w="med" len="med"/>
                    </a:lnR>
                    <a:lnT w="6350" cap="flat" cmpd="sng" algn="ctr">
                      <a:solidFill>
                        <a:srgbClr val="D9E0E8"/>
                      </a:solidFill>
                      <a:prstDash val="solid"/>
                      <a:round/>
                      <a:headEnd type="none" w="med" len="med"/>
                      <a:tailEnd type="none" w="med" len="med"/>
                    </a:lnT>
                    <a:lnB w="6350" cap="flat" cmpd="sng" algn="ctr">
                      <a:solidFill>
                        <a:srgbClr val="D9E0E8"/>
                      </a:solidFill>
                      <a:prstDash val="solid"/>
                      <a:round/>
                      <a:headEnd type="none" w="med" len="med"/>
                      <a:tailEnd type="none" w="med" len="med"/>
                    </a:lnB>
                    <a:solidFill>
                      <a:schemeClr val="bg1"/>
                    </a:solidFill>
                  </a:tcPr>
                </a:tc>
                <a:tc>
                  <a:txBody>
                    <a:bodyPr/>
                    <a:lstStyle/>
                    <a:p>
                      <a:pPr indent="0" marL="0">
                        <a:buNone/>
                      </a:pPr>
                      <a:r>
                        <a:rPr lang="en-US" sz="900" dirty="0">
                          <a:solidFill>
                            <a:schemeClr val="tx1"/>
                          </a:solidFill>
                          <a:latin typeface="+mn-lt" pitchFamily="34" charset="0"/>
                          <a:ea typeface="+mn-lt" pitchFamily="34" charset="-122"/>
                          <a:cs typeface="+mn-lt" pitchFamily="34" charset="-120"/>
                        </a:rPr>
                        <a:t>0.43</a:t>
                      </a:r>
                      <a:endParaRPr lang="en-US" sz="900" dirty="0">
                        <a:latin typeface="+mn-lt" charset="0"/>
                        <a:ea typeface="+mn-lt" charset="0"/>
                        <a:cs typeface="+mn-lt" charset="0"/>
                      </a:endParaRPr>
                    </a:p>
                  </a:txBody>
                  <a:tcPr marL="45720" marR="45720" marT="45720" marB="45720" anchor="t">
                    <a:lnL w="6350" cap="flat" cmpd="sng" algn="ctr">
                      <a:solidFill>
                        <a:srgbClr val="D9E0E8"/>
                      </a:solidFill>
                      <a:prstDash val="solid"/>
                      <a:round/>
                      <a:headEnd type="none" w="med" len="med"/>
                      <a:tailEnd type="none" w="med" len="med"/>
                    </a:lnL>
                    <a:lnR w="6350" cap="flat" cmpd="sng" algn="ctr">
                      <a:solidFill>
                        <a:srgbClr val="D9E0E8"/>
                      </a:solidFill>
                      <a:prstDash val="solid"/>
                      <a:round/>
                      <a:headEnd type="none" w="med" len="med"/>
                      <a:tailEnd type="none" w="med" len="med"/>
                    </a:lnR>
                    <a:lnT w="6350" cap="flat" cmpd="sng" algn="ctr">
                      <a:solidFill>
                        <a:srgbClr val="D9E0E8"/>
                      </a:solidFill>
                      <a:prstDash val="solid"/>
                      <a:round/>
                      <a:headEnd type="none" w="med" len="med"/>
                      <a:tailEnd type="none" w="med" len="med"/>
                    </a:lnT>
                    <a:lnB w="6350" cap="flat" cmpd="sng" algn="ctr">
                      <a:solidFill>
                        <a:srgbClr val="D9E0E8"/>
                      </a:solidFill>
                      <a:prstDash val="solid"/>
                      <a:round/>
                      <a:headEnd type="none" w="med" len="med"/>
                      <a:tailEnd type="none" w="med" len="med"/>
                    </a:lnB>
                    <a:solidFill>
                      <a:schemeClr val="bg1"/>
                    </a:solidFill>
                  </a:tcPr>
                </a:tc>
                <a:tc>
                  <a:txBody>
                    <a:bodyPr/>
                    <a:lstStyle/>
                    <a:p>
                      <a:pPr indent="0" marL="0">
                        <a:buNone/>
                      </a:pPr>
                      <a:r>
                        <a:rPr lang="en-US" sz="900" dirty="0">
                          <a:solidFill>
                            <a:schemeClr val="tx1"/>
                          </a:solidFill>
                          <a:latin typeface="+mn-lt" pitchFamily="34" charset="0"/>
                          <a:ea typeface="+mn-lt" pitchFamily="34" charset="-122"/>
                          <a:cs typeface="+mn-lt" pitchFamily="34" charset="-120"/>
                        </a:rPr>
                        <a:t>2.90</a:t>
                      </a:r>
                      <a:endParaRPr lang="en-US" sz="900" dirty="0">
                        <a:latin typeface="+mn-lt" charset="0"/>
                        <a:ea typeface="+mn-lt" charset="0"/>
                        <a:cs typeface="+mn-lt" charset="0"/>
                      </a:endParaRPr>
                    </a:p>
                  </a:txBody>
                  <a:tcPr marL="45720" marR="45720" marT="45720" marB="45720" anchor="t">
                    <a:lnL w="6350" cap="flat" cmpd="sng" algn="ctr">
                      <a:solidFill>
                        <a:srgbClr val="D9E0E8"/>
                      </a:solidFill>
                      <a:prstDash val="solid"/>
                      <a:round/>
                      <a:headEnd type="none" w="med" len="med"/>
                      <a:tailEnd type="none" w="med" len="med"/>
                    </a:lnL>
                    <a:lnR w="6350" cap="flat" cmpd="sng" algn="ctr">
                      <a:solidFill>
                        <a:srgbClr val="D9E0E8"/>
                      </a:solidFill>
                      <a:prstDash val="solid"/>
                      <a:round/>
                      <a:headEnd type="none" w="med" len="med"/>
                      <a:tailEnd type="none" w="med" len="med"/>
                    </a:lnR>
                    <a:lnT w="6350" cap="flat" cmpd="sng" algn="ctr">
                      <a:solidFill>
                        <a:srgbClr val="D9E0E8"/>
                      </a:solidFill>
                      <a:prstDash val="solid"/>
                      <a:round/>
                      <a:headEnd type="none" w="med" len="med"/>
                      <a:tailEnd type="none" w="med" len="med"/>
                    </a:lnT>
                    <a:lnB w="6350" cap="flat" cmpd="sng" algn="ctr">
                      <a:solidFill>
                        <a:srgbClr val="D9E0E8"/>
                      </a:solidFill>
                      <a:prstDash val="solid"/>
                      <a:round/>
                      <a:headEnd type="none" w="med" len="med"/>
                      <a:tailEnd type="none" w="med" len="med"/>
                    </a:lnB>
                    <a:solidFill>
                      <a:schemeClr val="bg1"/>
                    </a:solidFill>
                  </a:tcPr>
                </a:tc>
              </a:tr>
            </a:tbl>
          </a:graphicData>
        </a:graphic>
      </p:graphicFrame>
      <p:sp>
        <p:nvSpPr>
          <p:cNvPr id="25" name="Slide Number Placeholder 0"/>
          <p:cNvSpPr>
            <a:spLocks noGrp="1"/>
          </p:cNvSpPr>
          <p:nvPr>
            <p:ph type="sldNum" sz="quarter" idx="4294967295"/>
          </p:nvPr>
        </p:nvSpPr>
        <p:spPr>
          <a:xfrm>
            <a:off x="8321040" y="4754880"/>
            <a:ext cx="36576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l"/>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731520"/>
          </a:xfrm>
          <a:prstGeom prst="rect">
            <a:avLst/>
          </a:prstGeom>
          <a:noFill/>
          <a:ln/>
        </p:spPr>
        <p:txBody>
          <a:bodyPr wrap="square" lIns="0" tIns="0" rIns="0" bIns="0" rtlCol="0" anchor="ctr"/>
          <a:lstStyle/>
          <a:p>
            <a:pPr algn="l" indent="0" marL="0">
              <a:buNone/>
            </a:pPr>
            <a:r>
              <a:rPr lang="en-US" sz="2800" b="1" dirty="0">
                <a:solidFill>
                  <a:schemeClr val="tx2"/>
                </a:solidFill>
              </a:rPr>
              <a:t>Backup: the key tables (continued)</a:t>
            </a:r>
            <a:endParaRPr lang="en-US" sz="2800" dirty="0"/>
          </a:p>
        </p:txBody>
      </p:sp>
      <p:graphicFrame>
        <p:nvGraphicFramePr>
          <p:cNvPr id="21" name="table"/>
          <p:cNvGraphicFramePr>
            <a:graphicFrameLocks noGrp="1"/>
          </p:cNvGraphicFramePr>
          <p:nvPr>
            <p:extLst>
              <p:ext uri="{D42A27DB-BD31-4B8C-83A1-F6EECF244321}">
                <p14:modId xmlns:p14="http://schemas.microsoft.com/office/powerpoint/2010/main" val="1579011935"/>
              </p:ext>
            </p:extLst>
          </p:nvPr>
        </p:nvGraphicFramePr>
        <p:xfrm>
          <a:off x="457200" y="1188720"/>
          <a:ext cx="8229600" cy="914400"/>
        </p:xfrm>
        <a:graphic>
          <a:graphicData uri="http://schemas.openxmlformats.org/drawingml/2006/table">
            <a:tbl>
              <a:tblPr/>
              <a:tblGrid>
                <a:gridCol w="2139696"/>
                <a:gridCol w="1217981"/>
                <a:gridCol w="1217981"/>
                <a:gridCol w="1217981"/>
                <a:gridCol w="1217981"/>
                <a:gridCol w="1217981"/>
              </a:tblGrid>
              <a:tr h="0">
                <a:tc>
                  <a:txBody>
                    <a:bodyPr/>
                    <a:lstStyle/>
                    <a:p>
                      <a:pPr indent="0" marL="0">
                        <a:buNone/>
                      </a:pPr>
                      <a:r>
                        <a:rPr lang="en-US" sz="900" b="1" dirty="0">
                          <a:solidFill>
                            <a:schemeClr val="bg1"/>
                          </a:solidFill>
                          <a:latin typeface="+mn-lt" pitchFamily="34" charset="0"/>
                          <a:ea typeface="+mn-lt" pitchFamily="34" charset="-122"/>
                          <a:cs typeface="+mn-lt" pitchFamily="34" charset="-120"/>
                        </a:rPr>
                        <a:t>Structure</a:t>
                      </a:r>
                      <a:endParaRPr lang="en-US" sz="900" dirty="0">
                        <a:latin typeface="+mn-lt" charset="0"/>
                        <a:ea typeface="+mn-lt" charset="0"/>
                        <a:cs typeface="+mn-lt" charset="0"/>
                      </a:endParaRPr>
                    </a:p>
                  </a:txBody>
                  <a:tcPr marL="45720" marR="45720" marT="45720" marB="45720" anchor="t">
                    <a:lnL w="6350" cap="flat" cmpd="sng" algn="ctr">
                      <a:solidFill>
                        <a:srgbClr val="D9E0E8"/>
                      </a:solidFill>
                      <a:prstDash val="solid"/>
                      <a:round/>
                      <a:headEnd type="none" w="med" len="med"/>
                      <a:tailEnd type="none" w="med" len="med"/>
                    </a:lnL>
                    <a:lnR w="6350" cap="flat" cmpd="sng" algn="ctr">
                      <a:solidFill>
                        <a:srgbClr val="D9E0E8"/>
                      </a:solidFill>
                      <a:prstDash val="solid"/>
                      <a:round/>
                      <a:headEnd type="none" w="med" len="med"/>
                      <a:tailEnd type="none" w="med" len="med"/>
                    </a:lnR>
                    <a:lnT w="6350" cap="flat" cmpd="sng" algn="ctr">
                      <a:solidFill>
                        <a:srgbClr val="D9E0E8"/>
                      </a:solidFill>
                      <a:prstDash val="solid"/>
                      <a:round/>
                      <a:headEnd type="none" w="med" len="med"/>
                      <a:tailEnd type="none" w="med" len="med"/>
                    </a:lnT>
                    <a:lnB w="6350" cap="flat" cmpd="sng" algn="ctr">
                      <a:solidFill>
                        <a:srgbClr val="D9E0E8"/>
                      </a:solidFill>
                      <a:prstDash val="solid"/>
                      <a:round/>
                      <a:headEnd type="none" w="med" len="med"/>
                      <a:tailEnd type="none" w="med" len="med"/>
                    </a:lnB>
                    <a:solidFill>
                      <a:schemeClr val="tx2"/>
                    </a:solidFill>
                  </a:tcPr>
                </a:tc>
                <a:tc>
                  <a:txBody>
                    <a:bodyPr/>
                    <a:lstStyle/>
                    <a:p>
                      <a:pPr indent="0" marL="0">
                        <a:buNone/>
                      </a:pPr>
                      <a:r>
                        <a:rPr lang="en-US" sz="900" b="1" dirty="0">
                          <a:solidFill>
                            <a:schemeClr val="bg1"/>
                          </a:solidFill>
                          <a:latin typeface="+mn-lt" pitchFamily="34" charset="0"/>
                          <a:ea typeface="+mn-lt" pitchFamily="34" charset="-122"/>
                          <a:cs typeface="+mn-lt" pitchFamily="34" charset="-120"/>
                        </a:rPr>
                        <a:t>n</a:t>
                      </a:r>
                      <a:endParaRPr lang="en-US" sz="900" dirty="0">
                        <a:latin typeface="+mn-lt" charset="0"/>
                        <a:ea typeface="+mn-lt" charset="0"/>
                        <a:cs typeface="+mn-lt" charset="0"/>
                      </a:endParaRPr>
                    </a:p>
                  </a:txBody>
                  <a:tcPr marL="45720" marR="45720" marT="45720" marB="45720" anchor="t">
                    <a:lnL w="6350" cap="flat" cmpd="sng" algn="ctr">
                      <a:solidFill>
                        <a:srgbClr val="D9E0E8"/>
                      </a:solidFill>
                      <a:prstDash val="solid"/>
                      <a:round/>
                      <a:headEnd type="none" w="med" len="med"/>
                      <a:tailEnd type="none" w="med" len="med"/>
                    </a:lnL>
                    <a:lnR w="6350" cap="flat" cmpd="sng" algn="ctr">
                      <a:solidFill>
                        <a:srgbClr val="D9E0E8"/>
                      </a:solidFill>
                      <a:prstDash val="solid"/>
                      <a:round/>
                      <a:headEnd type="none" w="med" len="med"/>
                      <a:tailEnd type="none" w="med" len="med"/>
                    </a:lnR>
                    <a:lnT w="6350" cap="flat" cmpd="sng" algn="ctr">
                      <a:solidFill>
                        <a:srgbClr val="D9E0E8"/>
                      </a:solidFill>
                      <a:prstDash val="solid"/>
                      <a:round/>
                      <a:headEnd type="none" w="med" len="med"/>
                      <a:tailEnd type="none" w="med" len="med"/>
                    </a:lnT>
                    <a:lnB w="6350" cap="flat" cmpd="sng" algn="ctr">
                      <a:solidFill>
                        <a:srgbClr val="D9E0E8"/>
                      </a:solidFill>
                      <a:prstDash val="solid"/>
                      <a:round/>
                      <a:headEnd type="none" w="med" len="med"/>
                      <a:tailEnd type="none" w="med" len="med"/>
                    </a:lnB>
                    <a:solidFill>
                      <a:schemeClr val="tx2"/>
                    </a:solidFill>
                  </a:tcPr>
                </a:tc>
                <a:tc>
                  <a:txBody>
                    <a:bodyPr/>
                    <a:lstStyle/>
                    <a:p>
                      <a:pPr indent="0" marL="0">
                        <a:buNone/>
                      </a:pPr>
                      <a:r>
                        <a:rPr lang="en-US" sz="900" b="1" dirty="0">
                          <a:solidFill>
                            <a:schemeClr val="bg1"/>
                          </a:solidFill>
                          <a:latin typeface="+mn-lt" pitchFamily="34" charset="0"/>
                          <a:ea typeface="+mn-lt" pitchFamily="34" charset="-122"/>
                          <a:cs typeface="+mn-lt" pitchFamily="34" charset="-120"/>
                        </a:rPr>
                        <a:t>Mean</a:t>
                      </a:r>
                      <a:endParaRPr lang="en-US" sz="900" dirty="0">
                        <a:latin typeface="+mn-lt" charset="0"/>
                        <a:ea typeface="+mn-lt" charset="0"/>
                        <a:cs typeface="+mn-lt" charset="0"/>
                      </a:endParaRPr>
                    </a:p>
                  </a:txBody>
                  <a:tcPr marL="45720" marR="45720" marT="45720" marB="45720" anchor="t">
                    <a:lnL w="6350" cap="flat" cmpd="sng" algn="ctr">
                      <a:solidFill>
                        <a:srgbClr val="D9E0E8"/>
                      </a:solidFill>
                      <a:prstDash val="solid"/>
                      <a:round/>
                      <a:headEnd type="none" w="med" len="med"/>
                      <a:tailEnd type="none" w="med" len="med"/>
                    </a:lnL>
                    <a:lnR w="6350" cap="flat" cmpd="sng" algn="ctr">
                      <a:solidFill>
                        <a:srgbClr val="D9E0E8"/>
                      </a:solidFill>
                      <a:prstDash val="solid"/>
                      <a:round/>
                      <a:headEnd type="none" w="med" len="med"/>
                      <a:tailEnd type="none" w="med" len="med"/>
                    </a:lnR>
                    <a:lnT w="6350" cap="flat" cmpd="sng" algn="ctr">
                      <a:solidFill>
                        <a:srgbClr val="D9E0E8"/>
                      </a:solidFill>
                      <a:prstDash val="solid"/>
                      <a:round/>
                      <a:headEnd type="none" w="med" len="med"/>
                      <a:tailEnd type="none" w="med" len="med"/>
                    </a:lnT>
                    <a:lnB w="6350" cap="flat" cmpd="sng" algn="ctr">
                      <a:solidFill>
                        <a:srgbClr val="D9E0E8"/>
                      </a:solidFill>
                      <a:prstDash val="solid"/>
                      <a:round/>
                      <a:headEnd type="none" w="med" len="med"/>
                      <a:tailEnd type="none" w="med" len="med"/>
                    </a:lnB>
                    <a:solidFill>
                      <a:schemeClr val="tx2"/>
                    </a:solidFill>
                  </a:tcPr>
                </a:tc>
                <a:tc>
                  <a:txBody>
                    <a:bodyPr/>
                    <a:lstStyle/>
                    <a:p>
                      <a:pPr indent="0" marL="0">
                        <a:buNone/>
                      </a:pPr>
                      <a:r>
                        <a:rPr lang="en-US" sz="900" b="1" dirty="0">
                          <a:solidFill>
                            <a:schemeClr val="bg1"/>
                          </a:solidFill>
                          <a:latin typeface="+mn-lt" pitchFamily="34" charset="0"/>
                          <a:ea typeface="+mn-lt" pitchFamily="34" charset="-122"/>
                          <a:cs typeface="+mn-lt" pitchFamily="34" charset="-120"/>
                        </a:rPr>
                        <a:t>SD</a:t>
                      </a:r>
                      <a:endParaRPr lang="en-US" sz="900" dirty="0">
                        <a:latin typeface="+mn-lt" charset="0"/>
                        <a:ea typeface="+mn-lt" charset="0"/>
                        <a:cs typeface="+mn-lt" charset="0"/>
                      </a:endParaRPr>
                    </a:p>
                  </a:txBody>
                  <a:tcPr marL="45720" marR="45720" marT="45720" marB="45720" anchor="t">
                    <a:lnL w="6350" cap="flat" cmpd="sng" algn="ctr">
                      <a:solidFill>
                        <a:srgbClr val="D9E0E8"/>
                      </a:solidFill>
                      <a:prstDash val="solid"/>
                      <a:round/>
                      <a:headEnd type="none" w="med" len="med"/>
                      <a:tailEnd type="none" w="med" len="med"/>
                    </a:lnL>
                    <a:lnR w="6350" cap="flat" cmpd="sng" algn="ctr">
                      <a:solidFill>
                        <a:srgbClr val="D9E0E8"/>
                      </a:solidFill>
                      <a:prstDash val="solid"/>
                      <a:round/>
                      <a:headEnd type="none" w="med" len="med"/>
                      <a:tailEnd type="none" w="med" len="med"/>
                    </a:lnR>
                    <a:lnT w="6350" cap="flat" cmpd="sng" algn="ctr">
                      <a:solidFill>
                        <a:srgbClr val="D9E0E8"/>
                      </a:solidFill>
                      <a:prstDash val="solid"/>
                      <a:round/>
                      <a:headEnd type="none" w="med" len="med"/>
                      <a:tailEnd type="none" w="med" len="med"/>
                    </a:lnT>
                    <a:lnB w="6350" cap="flat" cmpd="sng" algn="ctr">
                      <a:solidFill>
                        <a:srgbClr val="D9E0E8"/>
                      </a:solidFill>
                      <a:prstDash val="solid"/>
                      <a:round/>
                      <a:headEnd type="none" w="med" len="med"/>
                      <a:tailEnd type="none" w="med" len="med"/>
                    </a:lnB>
                    <a:solidFill>
                      <a:schemeClr val="tx2"/>
                    </a:solidFill>
                  </a:tcPr>
                </a:tc>
                <a:tc>
                  <a:txBody>
                    <a:bodyPr/>
                    <a:lstStyle/>
                    <a:p>
                      <a:pPr indent="0" marL="0">
                        <a:buNone/>
                      </a:pPr>
                      <a:r>
                        <a:rPr lang="en-US" sz="900" b="1" dirty="0">
                          <a:solidFill>
                            <a:schemeClr val="bg1"/>
                          </a:solidFill>
                          <a:latin typeface="+mn-lt" pitchFamily="34" charset="0"/>
                          <a:ea typeface="+mn-lt" pitchFamily="34" charset="-122"/>
                          <a:cs typeface="+mn-lt" pitchFamily="34" charset="-120"/>
                        </a:rPr>
                        <a:t>Min</a:t>
                      </a:r>
                      <a:endParaRPr lang="en-US" sz="900" dirty="0">
                        <a:latin typeface="+mn-lt" charset="0"/>
                        <a:ea typeface="+mn-lt" charset="0"/>
                        <a:cs typeface="+mn-lt" charset="0"/>
                      </a:endParaRPr>
                    </a:p>
                  </a:txBody>
                  <a:tcPr marL="45720" marR="45720" marT="45720" marB="45720" anchor="t">
                    <a:lnL w="6350" cap="flat" cmpd="sng" algn="ctr">
                      <a:solidFill>
                        <a:srgbClr val="D9E0E8"/>
                      </a:solidFill>
                      <a:prstDash val="solid"/>
                      <a:round/>
                      <a:headEnd type="none" w="med" len="med"/>
                      <a:tailEnd type="none" w="med" len="med"/>
                    </a:lnL>
                    <a:lnR w="6350" cap="flat" cmpd="sng" algn="ctr">
                      <a:solidFill>
                        <a:srgbClr val="D9E0E8"/>
                      </a:solidFill>
                      <a:prstDash val="solid"/>
                      <a:round/>
                      <a:headEnd type="none" w="med" len="med"/>
                      <a:tailEnd type="none" w="med" len="med"/>
                    </a:lnR>
                    <a:lnT w="6350" cap="flat" cmpd="sng" algn="ctr">
                      <a:solidFill>
                        <a:srgbClr val="D9E0E8"/>
                      </a:solidFill>
                      <a:prstDash val="solid"/>
                      <a:round/>
                      <a:headEnd type="none" w="med" len="med"/>
                      <a:tailEnd type="none" w="med" len="med"/>
                    </a:lnT>
                    <a:lnB w="6350" cap="flat" cmpd="sng" algn="ctr">
                      <a:solidFill>
                        <a:srgbClr val="D9E0E8"/>
                      </a:solidFill>
                      <a:prstDash val="solid"/>
                      <a:round/>
                      <a:headEnd type="none" w="med" len="med"/>
                      <a:tailEnd type="none" w="med" len="med"/>
                    </a:lnB>
                    <a:solidFill>
                      <a:schemeClr val="tx2"/>
                    </a:solidFill>
                  </a:tcPr>
                </a:tc>
                <a:tc>
                  <a:txBody>
                    <a:bodyPr/>
                    <a:lstStyle/>
                    <a:p>
                      <a:pPr indent="0" marL="0">
                        <a:buNone/>
                      </a:pPr>
                      <a:r>
                        <a:rPr lang="en-US" sz="900" b="1" dirty="0">
                          <a:solidFill>
                            <a:schemeClr val="bg1"/>
                          </a:solidFill>
                          <a:latin typeface="+mn-lt" pitchFamily="34" charset="0"/>
                          <a:ea typeface="+mn-lt" pitchFamily="34" charset="-122"/>
                          <a:cs typeface="+mn-lt" pitchFamily="34" charset="-120"/>
                        </a:rPr>
                        <a:t>Max</a:t>
                      </a:r>
                      <a:endParaRPr lang="en-US" sz="900" dirty="0">
                        <a:latin typeface="+mn-lt" charset="0"/>
                        <a:ea typeface="+mn-lt" charset="0"/>
                        <a:cs typeface="+mn-lt" charset="0"/>
                      </a:endParaRPr>
                    </a:p>
                  </a:txBody>
                  <a:tcPr marL="45720" marR="45720" marT="45720" marB="45720" anchor="t">
                    <a:lnL w="6350" cap="flat" cmpd="sng" algn="ctr">
                      <a:solidFill>
                        <a:srgbClr val="D9E0E8"/>
                      </a:solidFill>
                      <a:prstDash val="solid"/>
                      <a:round/>
                      <a:headEnd type="none" w="med" len="med"/>
                      <a:tailEnd type="none" w="med" len="med"/>
                    </a:lnL>
                    <a:lnR w="6350" cap="flat" cmpd="sng" algn="ctr">
                      <a:solidFill>
                        <a:srgbClr val="D9E0E8"/>
                      </a:solidFill>
                      <a:prstDash val="solid"/>
                      <a:round/>
                      <a:headEnd type="none" w="med" len="med"/>
                      <a:tailEnd type="none" w="med" len="med"/>
                    </a:lnR>
                    <a:lnT w="6350" cap="flat" cmpd="sng" algn="ctr">
                      <a:solidFill>
                        <a:srgbClr val="D9E0E8"/>
                      </a:solidFill>
                      <a:prstDash val="solid"/>
                      <a:round/>
                      <a:headEnd type="none" w="med" len="med"/>
                      <a:tailEnd type="none" w="med" len="med"/>
                    </a:lnT>
                    <a:lnB w="6350" cap="flat" cmpd="sng" algn="ctr">
                      <a:solidFill>
                        <a:srgbClr val="D9E0E8"/>
                      </a:solidFill>
                      <a:prstDash val="solid"/>
                      <a:round/>
                      <a:headEnd type="none" w="med" len="med"/>
                      <a:tailEnd type="none" w="med" len="med"/>
                    </a:lnB>
                    <a:solidFill>
                      <a:schemeClr val="tx2"/>
                    </a:solidFill>
                  </a:tcPr>
                </a:tc>
              </a:tr>
              <a:tr h="0">
                <a:tc>
                  <a:txBody>
                    <a:bodyPr/>
                    <a:lstStyle/>
                    <a:p>
                      <a:pPr indent="0" marL="0">
                        <a:buNone/>
                      </a:pPr>
                      <a:r>
                        <a:rPr lang="en-US" sz="900" dirty="0">
                          <a:solidFill>
                            <a:schemeClr val="tx1"/>
                          </a:solidFill>
                          <a:latin typeface="+mn-lt" pitchFamily="34" charset="0"/>
                          <a:ea typeface="+mn-lt" pitchFamily="34" charset="-122"/>
                          <a:cs typeface="+mn-lt" pitchFamily="34" charset="-120"/>
                        </a:rPr>
                        <a:t>Palate, inferior border</a:t>
                      </a:r>
                      <a:endParaRPr lang="en-US" sz="900" dirty="0">
                        <a:latin typeface="+mn-lt" charset="0"/>
                        <a:ea typeface="+mn-lt" charset="0"/>
                        <a:cs typeface="+mn-lt" charset="0"/>
                      </a:endParaRPr>
                    </a:p>
                  </a:txBody>
                  <a:tcPr marL="45720" marR="45720" marT="45720" marB="45720" anchor="t">
                    <a:lnL w="6350" cap="flat" cmpd="sng" algn="ctr">
                      <a:solidFill>
                        <a:srgbClr val="D9E0E8"/>
                      </a:solidFill>
                      <a:prstDash val="solid"/>
                      <a:round/>
                      <a:headEnd type="none" w="med" len="med"/>
                      <a:tailEnd type="none" w="med" len="med"/>
                    </a:lnL>
                    <a:lnR w="6350" cap="flat" cmpd="sng" algn="ctr">
                      <a:solidFill>
                        <a:srgbClr val="D9E0E8"/>
                      </a:solidFill>
                      <a:prstDash val="solid"/>
                      <a:round/>
                      <a:headEnd type="none" w="med" len="med"/>
                      <a:tailEnd type="none" w="med" len="med"/>
                    </a:lnR>
                    <a:lnT w="6350" cap="flat" cmpd="sng" algn="ctr">
                      <a:solidFill>
                        <a:srgbClr val="D9E0E8"/>
                      </a:solidFill>
                      <a:prstDash val="solid"/>
                      <a:round/>
                      <a:headEnd type="none" w="med" len="med"/>
                      <a:tailEnd type="none" w="med" len="med"/>
                    </a:lnT>
                    <a:lnB w="6350" cap="flat" cmpd="sng" algn="ctr">
                      <a:solidFill>
                        <a:srgbClr val="D9E0E8"/>
                      </a:solidFill>
                      <a:prstDash val="solid"/>
                      <a:round/>
                      <a:headEnd type="none" w="med" len="med"/>
                      <a:tailEnd type="none" w="med" len="med"/>
                    </a:lnB>
                    <a:solidFill>
                      <a:schemeClr val="bg1"/>
                    </a:solidFill>
                  </a:tcPr>
                </a:tc>
                <a:tc>
                  <a:txBody>
                    <a:bodyPr/>
                    <a:lstStyle/>
                    <a:p>
                      <a:pPr indent="0" marL="0">
                        <a:buNone/>
                      </a:pPr>
                      <a:r>
                        <a:rPr lang="en-US" sz="900" dirty="0">
                          <a:solidFill>
                            <a:schemeClr val="tx1"/>
                          </a:solidFill>
                          <a:latin typeface="+mn-lt" pitchFamily="34" charset="0"/>
                          <a:ea typeface="+mn-lt" pitchFamily="34" charset="-122"/>
                          <a:cs typeface="+mn-lt" pitchFamily="34" charset="-120"/>
                        </a:rPr>
                        <a:t>50</a:t>
                      </a:r>
                      <a:endParaRPr lang="en-US" sz="900" dirty="0">
                        <a:latin typeface="+mn-lt" charset="0"/>
                        <a:ea typeface="+mn-lt" charset="0"/>
                        <a:cs typeface="+mn-lt" charset="0"/>
                      </a:endParaRPr>
                    </a:p>
                  </a:txBody>
                  <a:tcPr marL="45720" marR="45720" marT="45720" marB="45720" anchor="t">
                    <a:lnL w="6350" cap="flat" cmpd="sng" algn="ctr">
                      <a:solidFill>
                        <a:srgbClr val="D9E0E8"/>
                      </a:solidFill>
                      <a:prstDash val="solid"/>
                      <a:round/>
                      <a:headEnd type="none" w="med" len="med"/>
                      <a:tailEnd type="none" w="med" len="med"/>
                    </a:lnL>
                    <a:lnR w="6350" cap="flat" cmpd="sng" algn="ctr">
                      <a:solidFill>
                        <a:srgbClr val="D9E0E8"/>
                      </a:solidFill>
                      <a:prstDash val="solid"/>
                      <a:round/>
                      <a:headEnd type="none" w="med" len="med"/>
                      <a:tailEnd type="none" w="med" len="med"/>
                    </a:lnR>
                    <a:lnT w="6350" cap="flat" cmpd="sng" algn="ctr">
                      <a:solidFill>
                        <a:srgbClr val="D9E0E8"/>
                      </a:solidFill>
                      <a:prstDash val="solid"/>
                      <a:round/>
                      <a:headEnd type="none" w="med" len="med"/>
                      <a:tailEnd type="none" w="med" len="med"/>
                    </a:lnT>
                    <a:lnB w="6350" cap="flat" cmpd="sng" algn="ctr">
                      <a:solidFill>
                        <a:srgbClr val="D9E0E8"/>
                      </a:solidFill>
                      <a:prstDash val="solid"/>
                      <a:round/>
                      <a:headEnd type="none" w="med" len="med"/>
                      <a:tailEnd type="none" w="med" len="med"/>
                    </a:lnB>
                    <a:solidFill>
                      <a:schemeClr val="bg1"/>
                    </a:solidFill>
                  </a:tcPr>
                </a:tc>
                <a:tc>
                  <a:txBody>
                    <a:bodyPr/>
                    <a:lstStyle/>
                    <a:p>
                      <a:pPr indent="0" marL="0">
                        <a:buNone/>
                      </a:pPr>
                      <a:r>
                        <a:rPr lang="en-US" sz="900" dirty="0">
                          <a:solidFill>
                            <a:schemeClr val="tx1"/>
                          </a:solidFill>
                          <a:latin typeface="+mn-lt" pitchFamily="34" charset="0"/>
                          <a:ea typeface="+mn-lt" pitchFamily="34" charset="-122"/>
                          <a:cs typeface="+mn-lt" pitchFamily="34" charset="-120"/>
                        </a:rPr>
                        <a:t>1.14</a:t>
                      </a:r>
                      <a:endParaRPr lang="en-US" sz="900" dirty="0">
                        <a:latin typeface="+mn-lt" charset="0"/>
                        <a:ea typeface="+mn-lt" charset="0"/>
                        <a:cs typeface="+mn-lt" charset="0"/>
                      </a:endParaRPr>
                    </a:p>
                  </a:txBody>
                  <a:tcPr marL="45720" marR="45720" marT="45720" marB="45720" anchor="t">
                    <a:lnL w="6350" cap="flat" cmpd="sng" algn="ctr">
                      <a:solidFill>
                        <a:srgbClr val="D9E0E8"/>
                      </a:solidFill>
                      <a:prstDash val="solid"/>
                      <a:round/>
                      <a:headEnd type="none" w="med" len="med"/>
                      <a:tailEnd type="none" w="med" len="med"/>
                    </a:lnL>
                    <a:lnR w="6350" cap="flat" cmpd="sng" algn="ctr">
                      <a:solidFill>
                        <a:srgbClr val="D9E0E8"/>
                      </a:solidFill>
                      <a:prstDash val="solid"/>
                      <a:round/>
                      <a:headEnd type="none" w="med" len="med"/>
                      <a:tailEnd type="none" w="med" len="med"/>
                    </a:lnR>
                    <a:lnT w="6350" cap="flat" cmpd="sng" algn="ctr">
                      <a:solidFill>
                        <a:srgbClr val="D9E0E8"/>
                      </a:solidFill>
                      <a:prstDash val="solid"/>
                      <a:round/>
                      <a:headEnd type="none" w="med" len="med"/>
                      <a:tailEnd type="none" w="med" len="med"/>
                    </a:lnT>
                    <a:lnB w="6350" cap="flat" cmpd="sng" algn="ctr">
                      <a:solidFill>
                        <a:srgbClr val="D9E0E8"/>
                      </a:solidFill>
                      <a:prstDash val="solid"/>
                      <a:round/>
                      <a:headEnd type="none" w="med" len="med"/>
                      <a:tailEnd type="none" w="med" len="med"/>
                    </a:lnB>
                    <a:solidFill>
                      <a:schemeClr val="bg1"/>
                    </a:solidFill>
                  </a:tcPr>
                </a:tc>
                <a:tc>
                  <a:txBody>
                    <a:bodyPr/>
                    <a:lstStyle/>
                    <a:p>
                      <a:pPr indent="0" marL="0">
                        <a:buNone/>
                      </a:pPr>
                      <a:r>
                        <a:rPr lang="en-US" sz="900" dirty="0">
                          <a:solidFill>
                            <a:schemeClr val="tx1"/>
                          </a:solidFill>
                          <a:latin typeface="+mn-lt" pitchFamily="34" charset="0"/>
                          <a:ea typeface="+mn-lt" pitchFamily="34" charset="-122"/>
                          <a:cs typeface="+mn-lt" pitchFamily="34" charset="-120"/>
                        </a:rPr>
                        <a:t>0.60</a:t>
                      </a:r>
                      <a:endParaRPr lang="en-US" sz="900" dirty="0">
                        <a:latin typeface="+mn-lt" charset="0"/>
                        <a:ea typeface="+mn-lt" charset="0"/>
                        <a:cs typeface="+mn-lt" charset="0"/>
                      </a:endParaRPr>
                    </a:p>
                  </a:txBody>
                  <a:tcPr marL="45720" marR="45720" marT="45720" marB="45720" anchor="t">
                    <a:lnL w="6350" cap="flat" cmpd="sng" algn="ctr">
                      <a:solidFill>
                        <a:srgbClr val="D9E0E8"/>
                      </a:solidFill>
                      <a:prstDash val="solid"/>
                      <a:round/>
                      <a:headEnd type="none" w="med" len="med"/>
                      <a:tailEnd type="none" w="med" len="med"/>
                    </a:lnL>
                    <a:lnR w="6350" cap="flat" cmpd="sng" algn="ctr">
                      <a:solidFill>
                        <a:srgbClr val="D9E0E8"/>
                      </a:solidFill>
                      <a:prstDash val="solid"/>
                      <a:round/>
                      <a:headEnd type="none" w="med" len="med"/>
                      <a:tailEnd type="none" w="med" len="med"/>
                    </a:lnR>
                    <a:lnT w="6350" cap="flat" cmpd="sng" algn="ctr">
                      <a:solidFill>
                        <a:srgbClr val="D9E0E8"/>
                      </a:solidFill>
                      <a:prstDash val="solid"/>
                      <a:round/>
                      <a:headEnd type="none" w="med" len="med"/>
                      <a:tailEnd type="none" w="med" len="med"/>
                    </a:lnT>
                    <a:lnB w="6350" cap="flat" cmpd="sng" algn="ctr">
                      <a:solidFill>
                        <a:srgbClr val="D9E0E8"/>
                      </a:solidFill>
                      <a:prstDash val="solid"/>
                      <a:round/>
                      <a:headEnd type="none" w="med" len="med"/>
                      <a:tailEnd type="none" w="med" len="med"/>
                    </a:lnB>
                    <a:solidFill>
                      <a:schemeClr val="bg1"/>
                    </a:solidFill>
                  </a:tcPr>
                </a:tc>
                <a:tc>
                  <a:txBody>
                    <a:bodyPr/>
                    <a:lstStyle/>
                    <a:p>
                      <a:pPr indent="0" marL="0">
                        <a:buNone/>
                      </a:pPr>
                      <a:r>
                        <a:rPr lang="en-US" sz="900" dirty="0">
                          <a:solidFill>
                            <a:schemeClr val="tx1"/>
                          </a:solidFill>
                          <a:latin typeface="+mn-lt" pitchFamily="34" charset="0"/>
                          <a:ea typeface="+mn-lt" pitchFamily="34" charset="-122"/>
                          <a:cs typeface="+mn-lt" pitchFamily="34" charset="-120"/>
                        </a:rPr>
                        <a:t>0.31</a:t>
                      </a:r>
                      <a:endParaRPr lang="en-US" sz="900" dirty="0">
                        <a:latin typeface="+mn-lt" charset="0"/>
                        <a:ea typeface="+mn-lt" charset="0"/>
                        <a:cs typeface="+mn-lt" charset="0"/>
                      </a:endParaRPr>
                    </a:p>
                  </a:txBody>
                  <a:tcPr marL="45720" marR="45720" marT="45720" marB="45720" anchor="t">
                    <a:lnL w="6350" cap="flat" cmpd="sng" algn="ctr">
                      <a:solidFill>
                        <a:srgbClr val="D9E0E8"/>
                      </a:solidFill>
                      <a:prstDash val="solid"/>
                      <a:round/>
                      <a:headEnd type="none" w="med" len="med"/>
                      <a:tailEnd type="none" w="med" len="med"/>
                    </a:lnL>
                    <a:lnR w="6350" cap="flat" cmpd="sng" algn="ctr">
                      <a:solidFill>
                        <a:srgbClr val="D9E0E8"/>
                      </a:solidFill>
                      <a:prstDash val="solid"/>
                      <a:round/>
                      <a:headEnd type="none" w="med" len="med"/>
                      <a:tailEnd type="none" w="med" len="med"/>
                    </a:lnR>
                    <a:lnT w="6350" cap="flat" cmpd="sng" algn="ctr">
                      <a:solidFill>
                        <a:srgbClr val="D9E0E8"/>
                      </a:solidFill>
                      <a:prstDash val="solid"/>
                      <a:round/>
                      <a:headEnd type="none" w="med" len="med"/>
                      <a:tailEnd type="none" w="med" len="med"/>
                    </a:lnT>
                    <a:lnB w="6350" cap="flat" cmpd="sng" algn="ctr">
                      <a:solidFill>
                        <a:srgbClr val="D9E0E8"/>
                      </a:solidFill>
                      <a:prstDash val="solid"/>
                      <a:round/>
                      <a:headEnd type="none" w="med" len="med"/>
                      <a:tailEnd type="none" w="med" len="med"/>
                    </a:lnB>
                    <a:solidFill>
                      <a:schemeClr val="bg1"/>
                    </a:solidFill>
                  </a:tcPr>
                </a:tc>
                <a:tc>
                  <a:txBody>
                    <a:bodyPr/>
                    <a:lstStyle/>
                    <a:p>
                      <a:pPr indent="0" marL="0">
                        <a:buNone/>
                      </a:pPr>
                      <a:r>
                        <a:rPr lang="en-US" sz="900" dirty="0">
                          <a:solidFill>
                            <a:schemeClr val="tx1"/>
                          </a:solidFill>
                          <a:latin typeface="+mn-lt" pitchFamily="34" charset="0"/>
                          <a:ea typeface="+mn-lt" pitchFamily="34" charset="-122"/>
                          <a:cs typeface="+mn-lt" pitchFamily="34" charset="-120"/>
                        </a:rPr>
                        <a:t>3.34</a:t>
                      </a:r>
                      <a:endParaRPr lang="en-US" sz="900" dirty="0">
                        <a:latin typeface="+mn-lt" charset="0"/>
                        <a:ea typeface="+mn-lt" charset="0"/>
                        <a:cs typeface="+mn-lt" charset="0"/>
                      </a:endParaRPr>
                    </a:p>
                  </a:txBody>
                  <a:tcPr marL="45720" marR="45720" marT="45720" marB="45720" anchor="t">
                    <a:lnL w="6350" cap="flat" cmpd="sng" algn="ctr">
                      <a:solidFill>
                        <a:srgbClr val="D9E0E8"/>
                      </a:solidFill>
                      <a:prstDash val="solid"/>
                      <a:round/>
                      <a:headEnd type="none" w="med" len="med"/>
                      <a:tailEnd type="none" w="med" len="med"/>
                    </a:lnL>
                    <a:lnR w="6350" cap="flat" cmpd="sng" algn="ctr">
                      <a:solidFill>
                        <a:srgbClr val="D9E0E8"/>
                      </a:solidFill>
                      <a:prstDash val="solid"/>
                      <a:round/>
                      <a:headEnd type="none" w="med" len="med"/>
                      <a:tailEnd type="none" w="med" len="med"/>
                    </a:lnR>
                    <a:lnT w="6350" cap="flat" cmpd="sng" algn="ctr">
                      <a:solidFill>
                        <a:srgbClr val="D9E0E8"/>
                      </a:solidFill>
                      <a:prstDash val="solid"/>
                      <a:round/>
                      <a:headEnd type="none" w="med" len="med"/>
                      <a:tailEnd type="none" w="med" len="med"/>
                    </a:lnT>
                    <a:lnB w="6350" cap="flat" cmpd="sng" algn="ctr">
                      <a:solidFill>
                        <a:srgbClr val="D9E0E8"/>
                      </a:solidFill>
                      <a:prstDash val="solid"/>
                      <a:round/>
                      <a:headEnd type="none" w="med" len="med"/>
                      <a:tailEnd type="none" w="med" len="med"/>
                    </a:lnB>
                    <a:solidFill>
                      <a:schemeClr val="bg1"/>
                    </a:solidFill>
                  </a:tcPr>
                </a:tc>
              </a:tr>
              <a:tr h="0">
                <a:tc>
                  <a:txBody>
                    <a:bodyPr/>
                    <a:lstStyle/>
                    <a:p>
                      <a:pPr indent="0" marL="0">
                        <a:buNone/>
                      </a:pPr>
                      <a:r>
                        <a:rPr lang="en-US" sz="900" dirty="0">
                          <a:solidFill>
                            <a:schemeClr val="tx1"/>
                          </a:solidFill>
                          <a:latin typeface="+mn-lt" pitchFamily="34" charset="0"/>
                          <a:ea typeface="+mn-lt" pitchFamily="34" charset="-122"/>
                          <a:cs typeface="+mn-lt" pitchFamily="34" charset="-120"/>
                        </a:rPr>
                        <a:t>Palate, internal</a:t>
                      </a:r>
                      <a:endParaRPr lang="en-US" sz="900" dirty="0">
                        <a:latin typeface="+mn-lt" charset="0"/>
                        <a:ea typeface="+mn-lt" charset="0"/>
                        <a:cs typeface="+mn-lt" charset="0"/>
                      </a:endParaRPr>
                    </a:p>
                  </a:txBody>
                  <a:tcPr marL="45720" marR="45720" marT="45720" marB="45720" anchor="t">
                    <a:lnL w="6350" cap="flat" cmpd="sng" algn="ctr">
                      <a:solidFill>
                        <a:srgbClr val="D9E0E8"/>
                      </a:solidFill>
                      <a:prstDash val="solid"/>
                      <a:round/>
                      <a:headEnd type="none" w="med" len="med"/>
                      <a:tailEnd type="none" w="med" len="med"/>
                    </a:lnL>
                    <a:lnR w="6350" cap="flat" cmpd="sng" algn="ctr">
                      <a:solidFill>
                        <a:srgbClr val="D9E0E8"/>
                      </a:solidFill>
                      <a:prstDash val="solid"/>
                      <a:round/>
                      <a:headEnd type="none" w="med" len="med"/>
                      <a:tailEnd type="none" w="med" len="med"/>
                    </a:lnR>
                    <a:lnT w="6350" cap="flat" cmpd="sng" algn="ctr">
                      <a:solidFill>
                        <a:srgbClr val="D9E0E8"/>
                      </a:solidFill>
                      <a:prstDash val="solid"/>
                      <a:round/>
                      <a:headEnd type="none" w="med" len="med"/>
                      <a:tailEnd type="none" w="med" len="med"/>
                    </a:lnT>
                    <a:lnB w="6350" cap="flat" cmpd="sng" algn="ctr">
                      <a:solidFill>
                        <a:srgbClr val="D9E0E8"/>
                      </a:solidFill>
                      <a:prstDash val="solid"/>
                      <a:round/>
                      <a:headEnd type="none" w="med" len="med"/>
                      <a:tailEnd type="none" w="med" len="med"/>
                    </a:lnB>
                    <a:solidFill>
                      <a:schemeClr val="bg2"/>
                    </a:solidFill>
                  </a:tcPr>
                </a:tc>
                <a:tc>
                  <a:txBody>
                    <a:bodyPr/>
                    <a:lstStyle/>
                    <a:p>
                      <a:pPr indent="0" marL="0">
                        <a:buNone/>
                      </a:pPr>
                      <a:r>
                        <a:rPr lang="en-US" sz="900" dirty="0">
                          <a:solidFill>
                            <a:schemeClr val="tx1"/>
                          </a:solidFill>
                          <a:latin typeface="+mn-lt" pitchFamily="34" charset="0"/>
                          <a:ea typeface="+mn-lt" pitchFamily="34" charset="-122"/>
                          <a:cs typeface="+mn-lt" pitchFamily="34" charset="-120"/>
                        </a:rPr>
                        <a:t>50</a:t>
                      </a:r>
                      <a:endParaRPr lang="en-US" sz="900" dirty="0">
                        <a:latin typeface="+mn-lt" charset="0"/>
                        <a:ea typeface="+mn-lt" charset="0"/>
                        <a:cs typeface="+mn-lt" charset="0"/>
                      </a:endParaRPr>
                    </a:p>
                  </a:txBody>
                  <a:tcPr marL="45720" marR="45720" marT="45720" marB="45720" anchor="t">
                    <a:lnL w="6350" cap="flat" cmpd="sng" algn="ctr">
                      <a:solidFill>
                        <a:srgbClr val="D9E0E8"/>
                      </a:solidFill>
                      <a:prstDash val="solid"/>
                      <a:round/>
                      <a:headEnd type="none" w="med" len="med"/>
                      <a:tailEnd type="none" w="med" len="med"/>
                    </a:lnL>
                    <a:lnR w="6350" cap="flat" cmpd="sng" algn="ctr">
                      <a:solidFill>
                        <a:srgbClr val="D9E0E8"/>
                      </a:solidFill>
                      <a:prstDash val="solid"/>
                      <a:round/>
                      <a:headEnd type="none" w="med" len="med"/>
                      <a:tailEnd type="none" w="med" len="med"/>
                    </a:lnR>
                    <a:lnT w="6350" cap="flat" cmpd="sng" algn="ctr">
                      <a:solidFill>
                        <a:srgbClr val="D9E0E8"/>
                      </a:solidFill>
                      <a:prstDash val="solid"/>
                      <a:round/>
                      <a:headEnd type="none" w="med" len="med"/>
                      <a:tailEnd type="none" w="med" len="med"/>
                    </a:lnT>
                    <a:lnB w="6350" cap="flat" cmpd="sng" algn="ctr">
                      <a:solidFill>
                        <a:srgbClr val="D9E0E8"/>
                      </a:solidFill>
                      <a:prstDash val="solid"/>
                      <a:round/>
                      <a:headEnd type="none" w="med" len="med"/>
                      <a:tailEnd type="none" w="med" len="med"/>
                    </a:lnB>
                    <a:solidFill>
                      <a:schemeClr val="bg2"/>
                    </a:solidFill>
                  </a:tcPr>
                </a:tc>
                <a:tc>
                  <a:txBody>
                    <a:bodyPr/>
                    <a:lstStyle/>
                    <a:p>
                      <a:pPr indent="0" marL="0">
                        <a:buNone/>
                      </a:pPr>
                      <a:r>
                        <a:rPr lang="en-US" sz="900" dirty="0">
                          <a:solidFill>
                            <a:schemeClr val="tx1"/>
                          </a:solidFill>
                          <a:latin typeface="+mn-lt" pitchFamily="34" charset="0"/>
                          <a:ea typeface="+mn-lt" pitchFamily="34" charset="-122"/>
                          <a:cs typeface="+mn-lt" pitchFamily="34" charset="-120"/>
                        </a:rPr>
                        <a:t>0.85</a:t>
                      </a:r>
                      <a:endParaRPr lang="en-US" sz="900" dirty="0">
                        <a:latin typeface="+mn-lt" charset="0"/>
                        <a:ea typeface="+mn-lt" charset="0"/>
                        <a:cs typeface="+mn-lt" charset="0"/>
                      </a:endParaRPr>
                    </a:p>
                  </a:txBody>
                  <a:tcPr marL="45720" marR="45720" marT="45720" marB="45720" anchor="t">
                    <a:lnL w="6350" cap="flat" cmpd="sng" algn="ctr">
                      <a:solidFill>
                        <a:srgbClr val="D9E0E8"/>
                      </a:solidFill>
                      <a:prstDash val="solid"/>
                      <a:round/>
                      <a:headEnd type="none" w="med" len="med"/>
                      <a:tailEnd type="none" w="med" len="med"/>
                    </a:lnL>
                    <a:lnR w="6350" cap="flat" cmpd="sng" algn="ctr">
                      <a:solidFill>
                        <a:srgbClr val="D9E0E8"/>
                      </a:solidFill>
                      <a:prstDash val="solid"/>
                      <a:round/>
                      <a:headEnd type="none" w="med" len="med"/>
                      <a:tailEnd type="none" w="med" len="med"/>
                    </a:lnR>
                    <a:lnT w="6350" cap="flat" cmpd="sng" algn="ctr">
                      <a:solidFill>
                        <a:srgbClr val="D9E0E8"/>
                      </a:solidFill>
                      <a:prstDash val="solid"/>
                      <a:round/>
                      <a:headEnd type="none" w="med" len="med"/>
                      <a:tailEnd type="none" w="med" len="med"/>
                    </a:lnT>
                    <a:lnB w="6350" cap="flat" cmpd="sng" algn="ctr">
                      <a:solidFill>
                        <a:srgbClr val="D9E0E8"/>
                      </a:solidFill>
                      <a:prstDash val="solid"/>
                      <a:round/>
                      <a:headEnd type="none" w="med" len="med"/>
                      <a:tailEnd type="none" w="med" len="med"/>
                    </a:lnB>
                    <a:solidFill>
                      <a:schemeClr val="bg2"/>
                    </a:solidFill>
                  </a:tcPr>
                </a:tc>
                <a:tc>
                  <a:txBody>
                    <a:bodyPr/>
                    <a:lstStyle/>
                    <a:p>
                      <a:pPr indent="0" marL="0">
                        <a:buNone/>
                      </a:pPr>
                      <a:r>
                        <a:rPr lang="en-US" sz="900" dirty="0">
                          <a:solidFill>
                            <a:schemeClr val="tx1"/>
                          </a:solidFill>
                          <a:latin typeface="+mn-lt" pitchFamily="34" charset="0"/>
                          <a:ea typeface="+mn-lt" pitchFamily="34" charset="-122"/>
                          <a:cs typeface="+mn-lt" pitchFamily="34" charset="-120"/>
                        </a:rPr>
                        <a:t>0.43</a:t>
                      </a:r>
                      <a:endParaRPr lang="en-US" sz="900" dirty="0">
                        <a:latin typeface="+mn-lt" charset="0"/>
                        <a:ea typeface="+mn-lt" charset="0"/>
                        <a:cs typeface="+mn-lt" charset="0"/>
                      </a:endParaRPr>
                    </a:p>
                  </a:txBody>
                  <a:tcPr marL="45720" marR="45720" marT="45720" marB="45720" anchor="t">
                    <a:lnL w="6350" cap="flat" cmpd="sng" algn="ctr">
                      <a:solidFill>
                        <a:srgbClr val="D9E0E8"/>
                      </a:solidFill>
                      <a:prstDash val="solid"/>
                      <a:round/>
                      <a:headEnd type="none" w="med" len="med"/>
                      <a:tailEnd type="none" w="med" len="med"/>
                    </a:lnL>
                    <a:lnR w="6350" cap="flat" cmpd="sng" algn="ctr">
                      <a:solidFill>
                        <a:srgbClr val="D9E0E8"/>
                      </a:solidFill>
                      <a:prstDash val="solid"/>
                      <a:round/>
                      <a:headEnd type="none" w="med" len="med"/>
                      <a:tailEnd type="none" w="med" len="med"/>
                    </a:lnR>
                    <a:lnT w="6350" cap="flat" cmpd="sng" algn="ctr">
                      <a:solidFill>
                        <a:srgbClr val="D9E0E8"/>
                      </a:solidFill>
                      <a:prstDash val="solid"/>
                      <a:round/>
                      <a:headEnd type="none" w="med" len="med"/>
                      <a:tailEnd type="none" w="med" len="med"/>
                    </a:lnT>
                    <a:lnB w="6350" cap="flat" cmpd="sng" algn="ctr">
                      <a:solidFill>
                        <a:srgbClr val="D9E0E8"/>
                      </a:solidFill>
                      <a:prstDash val="solid"/>
                      <a:round/>
                      <a:headEnd type="none" w="med" len="med"/>
                      <a:tailEnd type="none" w="med" len="med"/>
                    </a:lnB>
                    <a:solidFill>
                      <a:schemeClr val="bg2"/>
                    </a:solidFill>
                  </a:tcPr>
                </a:tc>
                <a:tc>
                  <a:txBody>
                    <a:bodyPr/>
                    <a:lstStyle/>
                    <a:p>
                      <a:pPr indent="0" marL="0">
                        <a:buNone/>
                      </a:pPr>
                      <a:r>
                        <a:rPr lang="en-US" sz="900" dirty="0">
                          <a:solidFill>
                            <a:schemeClr val="tx1"/>
                          </a:solidFill>
                          <a:latin typeface="+mn-lt" pitchFamily="34" charset="0"/>
                          <a:ea typeface="+mn-lt" pitchFamily="34" charset="-122"/>
                          <a:cs typeface="+mn-lt" pitchFamily="34" charset="-120"/>
                        </a:rPr>
                        <a:t>0.28</a:t>
                      </a:r>
                      <a:endParaRPr lang="en-US" sz="900" dirty="0">
                        <a:latin typeface="+mn-lt" charset="0"/>
                        <a:ea typeface="+mn-lt" charset="0"/>
                        <a:cs typeface="+mn-lt" charset="0"/>
                      </a:endParaRPr>
                    </a:p>
                  </a:txBody>
                  <a:tcPr marL="45720" marR="45720" marT="45720" marB="45720" anchor="t">
                    <a:lnL w="6350" cap="flat" cmpd="sng" algn="ctr">
                      <a:solidFill>
                        <a:srgbClr val="D9E0E8"/>
                      </a:solidFill>
                      <a:prstDash val="solid"/>
                      <a:round/>
                      <a:headEnd type="none" w="med" len="med"/>
                      <a:tailEnd type="none" w="med" len="med"/>
                    </a:lnL>
                    <a:lnR w="6350" cap="flat" cmpd="sng" algn="ctr">
                      <a:solidFill>
                        <a:srgbClr val="D9E0E8"/>
                      </a:solidFill>
                      <a:prstDash val="solid"/>
                      <a:round/>
                      <a:headEnd type="none" w="med" len="med"/>
                      <a:tailEnd type="none" w="med" len="med"/>
                    </a:lnR>
                    <a:lnT w="6350" cap="flat" cmpd="sng" algn="ctr">
                      <a:solidFill>
                        <a:srgbClr val="D9E0E8"/>
                      </a:solidFill>
                      <a:prstDash val="solid"/>
                      <a:round/>
                      <a:headEnd type="none" w="med" len="med"/>
                      <a:tailEnd type="none" w="med" len="med"/>
                    </a:lnT>
                    <a:lnB w="6350" cap="flat" cmpd="sng" algn="ctr">
                      <a:solidFill>
                        <a:srgbClr val="D9E0E8"/>
                      </a:solidFill>
                      <a:prstDash val="solid"/>
                      <a:round/>
                      <a:headEnd type="none" w="med" len="med"/>
                      <a:tailEnd type="none" w="med" len="med"/>
                    </a:lnB>
                    <a:solidFill>
                      <a:schemeClr val="bg2"/>
                    </a:solidFill>
                  </a:tcPr>
                </a:tc>
                <a:tc>
                  <a:txBody>
                    <a:bodyPr/>
                    <a:lstStyle/>
                    <a:p>
                      <a:pPr indent="0" marL="0">
                        <a:buNone/>
                      </a:pPr>
                      <a:r>
                        <a:rPr lang="en-US" sz="900" dirty="0">
                          <a:solidFill>
                            <a:schemeClr val="tx1"/>
                          </a:solidFill>
                          <a:latin typeface="+mn-lt" pitchFamily="34" charset="0"/>
                          <a:ea typeface="+mn-lt" pitchFamily="34" charset="-122"/>
                          <a:cs typeface="+mn-lt" pitchFamily="34" charset="-120"/>
                        </a:rPr>
                        <a:t>2.45</a:t>
                      </a:r>
                      <a:endParaRPr lang="en-US" sz="900" dirty="0">
                        <a:latin typeface="+mn-lt" charset="0"/>
                        <a:ea typeface="+mn-lt" charset="0"/>
                        <a:cs typeface="+mn-lt" charset="0"/>
                      </a:endParaRPr>
                    </a:p>
                  </a:txBody>
                  <a:tcPr marL="45720" marR="45720" marT="45720" marB="45720" anchor="t">
                    <a:lnL w="6350" cap="flat" cmpd="sng" algn="ctr">
                      <a:solidFill>
                        <a:srgbClr val="D9E0E8"/>
                      </a:solidFill>
                      <a:prstDash val="solid"/>
                      <a:round/>
                      <a:headEnd type="none" w="med" len="med"/>
                      <a:tailEnd type="none" w="med" len="med"/>
                    </a:lnL>
                    <a:lnR w="6350" cap="flat" cmpd="sng" algn="ctr">
                      <a:solidFill>
                        <a:srgbClr val="D9E0E8"/>
                      </a:solidFill>
                      <a:prstDash val="solid"/>
                      <a:round/>
                      <a:headEnd type="none" w="med" len="med"/>
                      <a:tailEnd type="none" w="med" len="med"/>
                    </a:lnR>
                    <a:lnT w="6350" cap="flat" cmpd="sng" algn="ctr">
                      <a:solidFill>
                        <a:srgbClr val="D9E0E8"/>
                      </a:solidFill>
                      <a:prstDash val="solid"/>
                      <a:round/>
                      <a:headEnd type="none" w="med" len="med"/>
                      <a:tailEnd type="none" w="med" len="med"/>
                    </a:lnT>
                    <a:lnB w="6350" cap="flat" cmpd="sng" algn="ctr">
                      <a:solidFill>
                        <a:srgbClr val="D9E0E8"/>
                      </a:solidFill>
                      <a:prstDash val="solid"/>
                      <a:round/>
                      <a:headEnd type="none" w="med" len="med"/>
                      <a:tailEnd type="none" w="med" len="med"/>
                    </a:lnB>
                    <a:solidFill>
                      <a:schemeClr val="bg2"/>
                    </a:solidFill>
                  </a:tcPr>
                </a:tc>
              </a:tr>
              <a:tr h="0">
                <a:tc>
                  <a:txBody>
                    <a:bodyPr/>
                    <a:lstStyle/>
                    <a:p>
                      <a:pPr indent="0" marL="0">
                        <a:buNone/>
                      </a:pPr>
                      <a:r>
                        <a:rPr lang="en-US" sz="900" dirty="0">
                          <a:solidFill>
                            <a:schemeClr val="tx1"/>
                          </a:solidFill>
                          <a:latin typeface="+mn-lt" pitchFamily="34" charset="0"/>
                          <a:ea typeface="+mn-lt" pitchFamily="34" charset="-122"/>
                          <a:cs typeface="+mn-lt" pitchFamily="34" charset="-120"/>
                        </a:rPr>
                        <a:t>ANS vertical</a:t>
                      </a:r>
                      <a:endParaRPr lang="en-US" sz="900" dirty="0">
                        <a:latin typeface="+mn-lt" charset="0"/>
                        <a:ea typeface="+mn-lt" charset="0"/>
                        <a:cs typeface="+mn-lt" charset="0"/>
                      </a:endParaRPr>
                    </a:p>
                  </a:txBody>
                  <a:tcPr marL="45720" marR="45720" marT="45720" marB="45720" anchor="t">
                    <a:lnL w="6350" cap="flat" cmpd="sng" algn="ctr">
                      <a:solidFill>
                        <a:srgbClr val="D9E0E8"/>
                      </a:solidFill>
                      <a:prstDash val="solid"/>
                      <a:round/>
                      <a:headEnd type="none" w="med" len="med"/>
                      <a:tailEnd type="none" w="med" len="med"/>
                    </a:lnL>
                    <a:lnR w="6350" cap="flat" cmpd="sng" algn="ctr">
                      <a:solidFill>
                        <a:srgbClr val="D9E0E8"/>
                      </a:solidFill>
                      <a:prstDash val="solid"/>
                      <a:round/>
                      <a:headEnd type="none" w="med" len="med"/>
                      <a:tailEnd type="none" w="med" len="med"/>
                    </a:lnR>
                    <a:lnT w="6350" cap="flat" cmpd="sng" algn="ctr">
                      <a:solidFill>
                        <a:srgbClr val="D9E0E8"/>
                      </a:solidFill>
                      <a:prstDash val="solid"/>
                      <a:round/>
                      <a:headEnd type="none" w="med" len="med"/>
                      <a:tailEnd type="none" w="med" len="med"/>
                    </a:lnT>
                    <a:lnB w="6350" cap="flat" cmpd="sng" algn="ctr">
                      <a:solidFill>
                        <a:srgbClr val="D9E0E8"/>
                      </a:solidFill>
                      <a:prstDash val="solid"/>
                      <a:round/>
                      <a:headEnd type="none" w="med" len="med"/>
                      <a:tailEnd type="none" w="med" len="med"/>
                    </a:lnB>
                    <a:solidFill>
                      <a:schemeClr val="bg1"/>
                    </a:solidFill>
                  </a:tcPr>
                </a:tc>
                <a:tc>
                  <a:txBody>
                    <a:bodyPr/>
                    <a:lstStyle/>
                    <a:p>
                      <a:pPr indent="0" marL="0">
                        <a:buNone/>
                      </a:pPr>
                      <a:r>
                        <a:rPr lang="en-US" sz="900" dirty="0">
                          <a:solidFill>
                            <a:schemeClr val="tx1"/>
                          </a:solidFill>
                          <a:latin typeface="+mn-lt" pitchFamily="34" charset="0"/>
                          <a:ea typeface="+mn-lt" pitchFamily="34" charset="-122"/>
                          <a:cs typeface="+mn-lt" pitchFamily="34" charset="-120"/>
                        </a:rPr>
                        <a:t>50</a:t>
                      </a:r>
                      <a:endParaRPr lang="en-US" sz="900" dirty="0">
                        <a:latin typeface="+mn-lt" charset="0"/>
                        <a:ea typeface="+mn-lt" charset="0"/>
                        <a:cs typeface="+mn-lt" charset="0"/>
                      </a:endParaRPr>
                    </a:p>
                  </a:txBody>
                  <a:tcPr marL="45720" marR="45720" marT="45720" marB="45720" anchor="t">
                    <a:lnL w="6350" cap="flat" cmpd="sng" algn="ctr">
                      <a:solidFill>
                        <a:srgbClr val="D9E0E8"/>
                      </a:solidFill>
                      <a:prstDash val="solid"/>
                      <a:round/>
                      <a:headEnd type="none" w="med" len="med"/>
                      <a:tailEnd type="none" w="med" len="med"/>
                    </a:lnL>
                    <a:lnR w="6350" cap="flat" cmpd="sng" algn="ctr">
                      <a:solidFill>
                        <a:srgbClr val="D9E0E8"/>
                      </a:solidFill>
                      <a:prstDash val="solid"/>
                      <a:round/>
                      <a:headEnd type="none" w="med" len="med"/>
                      <a:tailEnd type="none" w="med" len="med"/>
                    </a:lnR>
                    <a:lnT w="6350" cap="flat" cmpd="sng" algn="ctr">
                      <a:solidFill>
                        <a:srgbClr val="D9E0E8"/>
                      </a:solidFill>
                      <a:prstDash val="solid"/>
                      <a:round/>
                      <a:headEnd type="none" w="med" len="med"/>
                      <a:tailEnd type="none" w="med" len="med"/>
                    </a:lnT>
                    <a:lnB w="6350" cap="flat" cmpd="sng" algn="ctr">
                      <a:solidFill>
                        <a:srgbClr val="D9E0E8"/>
                      </a:solidFill>
                      <a:prstDash val="solid"/>
                      <a:round/>
                      <a:headEnd type="none" w="med" len="med"/>
                      <a:tailEnd type="none" w="med" len="med"/>
                    </a:lnB>
                    <a:solidFill>
                      <a:schemeClr val="bg1"/>
                    </a:solidFill>
                  </a:tcPr>
                </a:tc>
                <a:tc>
                  <a:txBody>
                    <a:bodyPr/>
                    <a:lstStyle/>
                    <a:p>
                      <a:pPr indent="0" marL="0">
                        <a:buNone/>
                      </a:pPr>
                      <a:r>
                        <a:rPr lang="en-US" sz="900" dirty="0">
                          <a:solidFill>
                            <a:schemeClr val="tx1"/>
                          </a:solidFill>
                          <a:latin typeface="+mn-lt" pitchFamily="34" charset="0"/>
                          <a:ea typeface="+mn-lt" pitchFamily="34" charset="-122"/>
                          <a:cs typeface="+mn-lt" pitchFamily="34" charset="-120"/>
                        </a:rPr>
                        <a:t>1.29</a:t>
                      </a:r>
                      <a:endParaRPr lang="en-US" sz="900" dirty="0">
                        <a:latin typeface="+mn-lt" charset="0"/>
                        <a:ea typeface="+mn-lt" charset="0"/>
                        <a:cs typeface="+mn-lt" charset="0"/>
                      </a:endParaRPr>
                    </a:p>
                  </a:txBody>
                  <a:tcPr marL="45720" marR="45720" marT="45720" marB="45720" anchor="t">
                    <a:lnL w="6350" cap="flat" cmpd="sng" algn="ctr">
                      <a:solidFill>
                        <a:srgbClr val="D9E0E8"/>
                      </a:solidFill>
                      <a:prstDash val="solid"/>
                      <a:round/>
                      <a:headEnd type="none" w="med" len="med"/>
                      <a:tailEnd type="none" w="med" len="med"/>
                    </a:lnL>
                    <a:lnR w="6350" cap="flat" cmpd="sng" algn="ctr">
                      <a:solidFill>
                        <a:srgbClr val="D9E0E8"/>
                      </a:solidFill>
                      <a:prstDash val="solid"/>
                      <a:round/>
                      <a:headEnd type="none" w="med" len="med"/>
                      <a:tailEnd type="none" w="med" len="med"/>
                    </a:lnR>
                    <a:lnT w="6350" cap="flat" cmpd="sng" algn="ctr">
                      <a:solidFill>
                        <a:srgbClr val="D9E0E8"/>
                      </a:solidFill>
                      <a:prstDash val="solid"/>
                      <a:round/>
                      <a:headEnd type="none" w="med" len="med"/>
                      <a:tailEnd type="none" w="med" len="med"/>
                    </a:lnT>
                    <a:lnB w="6350" cap="flat" cmpd="sng" algn="ctr">
                      <a:solidFill>
                        <a:srgbClr val="D9E0E8"/>
                      </a:solidFill>
                      <a:prstDash val="solid"/>
                      <a:round/>
                      <a:headEnd type="none" w="med" len="med"/>
                      <a:tailEnd type="none" w="med" len="med"/>
                    </a:lnB>
                    <a:solidFill>
                      <a:schemeClr val="bg1"/>
                    </a:solidFill>
                  </a:tcPr>
                </a:tc>
                <a:tc>
                  <a:txBody>
                    <a:bodyPr/>
                    <a:lstStyle/>
                    <a:p>
                      <a:pPr indent="0" marL="0">
                        <a:buNone/>
                      </a:pPr>
                      <a:r>
                        <a:rPr lang="en-US" sz="900" dirty="0">
                          <a:solidFill>
                            <a:schemeClr val="tx1"/>
                          </a:solidFill>
                          <a:latin typeface="+mn-lt" pitchFamily="34" charset="0"/>
                          <a:ea typeface="+mn-lt" pitchFamily="34" charset="-122"/>
                          <a:cs typeface="+mn-lt" pitchFamily="34" charset="-120"/>
                        </a:rPr>
                        <a:t>0.86</a:t>
                      </a:r>
                      <a:endParaRPr lang="en-US" sz="900" dirty="0">
                        <a:latin typeface="+mn-lt" charset="0"/>
                        <a:ea typeface="+mn-lt" charset="0"/>
                        <a:cs typeface="+mn-lt" charset="0"/>
                      </a:endParaRPr>
                    </a:p>
                  </a:txBody>
                  <a:tcPr marL="45720" marR="45720" marT="45720" marB="45720" anchor="t">
                    <a:lnL w="6350" cap="flat" cmpd="sng" algn="ctr">
                      <a:solidFill>
                        <a:srgbClr val="D9E0E8"/>
                      </a:solidFill>
                      <a:prstDash val="solid"/>
                      <a:round/>
                      <a:headEnd type="none" w="med" len="med"/>
                      <a:tailEnd type="none" w="med" len="med"/>
                    </a:lnL>
                    <a:lnR w="6350" cap="flat" cmpd="sng" algn="ctr">
                      <a:solidFill>
                        <a:srgbClr val="D9E0E8"/>
                      </a:solidFill>
                      <a:prstDash val="solid"/>
                      <a:round/>
                      <a:headEnd type="none" w="med" len="med"/>
                      <a:tailEnd type="none" w="med" len="med"/>
                    </a:lnR>
                    <a:lnT w="6350" cap="flat" cmpd="sng" algn="ctr">
                      <a:solidFill>
                        <a:srgbClr val="D9E0E8"/>
                      </a:solidFill>
                      <a:prstDash val="solid"/>
                      <a:round/>
                      <a:headEnd type="none" w="med" len="med"/>
                      <a:tailEnd type="none" w="med" len="med"/>
                    </a:lnT>
                    <a:lnB w="6350" cap="flat" cmpd="sng" algn="ctr">
                      <a:solidFill>
                        <a:srgbClr val="D9E0E8"/>
                      </a:solidFill>
                      <a:prstDash val="solid"/>
                      <a:round/>
                      <a:headEnd type="none" w="med" len="med"/>
                      <a:tailEnd type="none" w="med" len="med"/>
                    </a:lnB>
                    <a:solidFill>
                      <a:schemeClr val="bg1"/>
                    </a:solidFill>
                  </a:tcPr>
                </a:tc>
                <a:tc>
                  <a:txBody>
                    <a:bodyPr/>
                    <a:lstStyle/>
                    <a:p>
                      <a:pPr indent="0" marL="0">
                        <a:buNone/>
                      </a:pPr>
                      <a:r>
                        <a:rPr lang="en-US" sz="900" dirty="0">
                          <a:solidFill>
                            <a:schemeClr val="tx1"/>
                          </a:solidFill>
                          <a:latin typeface="+mn-lt" pitchFamily="34" charset="0"/>
                          <a:ea typeface="+mn-lt" pitchFamily="34" charset="-122"/>
                          <a:cs typeface="+mn-lt" pitchFamily="34" charset="-120"/>
                        </a:rPr>
                        <a:t>0.15</a:t>
                      </a:r>
                      <a:endParaRPr lang="en-US" sz="900" dirty="0">
                        <a:latin typeface="+mn-lt" charset="0"/>
                        <a:ea typeface="+mn-lt" charset="0"/>
                        <a:cs typeface="+mn-lt" charset="0"/>
                      </a:endParaRPr>
                    </a:p>
                  </a:txBody>
                  <a:tcPr marL="45720" marR="45720" marT="45720" marB="45720" anchor="t">
                    <a:lnL w="6350" cap="flat" cmpd="sng" algn="ctr">
                      <a:solidFill>
                        <a:srgbClr val="D9E0E8"/>
                      </a:solidFill>
                      <a:prstDash val="solid"/>
                      <a:round/>
                      <a:headEnd type="none" w="med" len="med"/>
                      <a:tailEnd type="none" w="med" len="med"/>
                    </a:lnL>
                    <a:lnR w="6350" cap="flat" cmpd="sng" algn="ctr">
                      <a:solidFill>
                        <a:srgbClr val="D9E0E8"/>
                      </a:solidFill>
                      <a:prstDash val="solid"/>
                      <a:round/>
                      <a:headEnd type="none" w="med" len="med"/>
                      <a:tailEnd type="none" w="med" len="med"/>
                    </a:lnR>
                    <a:lnT w="6350" cap="flat" cmpd="sng" algn="ctr">
                      <a:solidFill>
                        <a:srgbClr val="D9E0E8"/>
                      </a:solidFill>
                      <a:prstDash val="solid"/>
                      <a:round/>
                      <a:headEnd type="none" w="med" len="med"/>
                      <a:tailEnd type="none" w="med" len="med"/>
                    </a:lnT>
                    <a:lnB w="6350" cap="flat" cmpd="sng" algn="ctr">
                      <a:solidFill>
                        <a:srgbClr val="D9E0E8"/>
                      </a:solidFill>
                      <a:prstDash val="solid"/>
                      <a:round/>
                      <a:headEnd type="none" w="med" len="med"/>
                      <a:tailEnd type="none" w="med" len="med"/>
                    </a:lnB>
                    <a:solidFill>
                      <a:schemeClr val="bg1"/>
                    </a:solidFill>
                  </a:tcPr>
                </a:tc>
                <a:tc>
                  <a:txBody>
                    <a:bodyPr/>
                    <a:lstStyle/>
                    <a:p>
                      <a:pPr indent="0" marL="0">
                        <a:buNone/>
                      </a:pPr>
                      <a:r>
                        <a:rPr lang="en-US" sz="900" dirty="0">
                          <a:solidFill>
                            <a:schemeClr val="tx1"/>
                          </a:solidFill>
                          <a:latin typeface="+mn-lt" pitchFamily="34" charset="0"/>
                          <a:ea typeface="+mn-lt" pitchFamily="34" charset="-122"/>
                          <a:cs typeface="+mn-lt" pitchFamily="34" charset="-120"/>
                        </a:rPr>
                        <a:t>4.82</a:t>
                      </a:r>
                      <a:endParaRPr lang="en-US" sz="900" dirty="0">
                        <a:latin typeface="+mn-lt" charset="0"/>
                        <a:ea typeface="+mn-lt" charset="0"/>
                        <a:cs typeface="+mn-lt" charset="0"/>
                      </a:endParaRPr>
                    </a:p>
                  </a:txBody>
                  <a:tcPr marL="45720" marR="45720" marT="45720" marB="45720" anchor="t">
                    <a:lnL w="6350" cap="flat" cmpd="sng" algn="ctr">
                      <a:solidFill>
                        <a:srgbClr val="D9E0E8"/>
                      </a:solidFill>
                      <a:prstDash val="solid"/>
                      <a:round/>
                      <a:headEnd type="none" w="med" len="med"/>
                      <a:tailEnd type="none" w="med" len="med"/>
                    </a:lnL>
                    <a:lnR w="6350" cap="flat" cmpd="sng" algn="ctr">
                      <a:solidFill>
                        <a:srgbClr val="D9E0E8"/>
                      </a:solidFill>
                      <a:prstDash val="solid"/>
                      <a:round/>
                      <a:headEnd type="none" w="med" len="med"/>
                      <a:tailEnd type="none" w="med" len="med"/>
                    </a:lnR>
                    <a:lnT w="6350" cap="flat" cmpd="sng" algn="ctr">
                      <a:solidFill>
                        <a:srgbClr val="D9E0E8"/>
                      </a:solidFill>
                      <a:prstDash val="solid"/>
                      <a:round/>
                      <a:headEnd type="none" w="med" len="med"/>
                      <a:tailEnd type="none" w="med" len="med"/>
                    </a:lnT>
                    <a:lnB w="6350" cap="flat" cmpd="sng" algn="ctr">
                      <a:solidFill>
                        <a:srgbClr val="D9E0E8"/>
                      </a:solidFill>
                      <a:prstDash val="solid"/>
                      <a:round/>
                      <a:headEnd type="none" w="med" len="med"/>
                      <a:tailEnd type="none" w="med" len="med"/>
                    </a:lnB>
                    <a:solidFill>
                      <a:schemeClr val="bg1"/>
                    </a:solidFill>
                  </a:tcPr>
                </a:tc>
              </a:tr>
              <a:tr h="0">
                <a:tc>
                  <a:txBody>
                    <a:bodyPr/>
                    <a:lstStyle/>
                    <a:p>
                      <a:pPr indent="0" marL="0">
                        <a:buNone/>
                      </a:pPr>
                      <a:r>
                        <a:rPr lang="en-US" sz="900" dirty="0">
                          <a:solidFill>
                            <a:schemeClr val="tx1"/>
                          </a:solidFill>
                          <a:latin typeface="+mn-lt" pitchFamily="34" charset="0"/>
                          <a:ea typeface="+mn-lt" pitchFamily="34" charset="-122"/>
                          <a:cs typeface="+mn-lt" pitchFamily="34" charset="-120"/>
                        </a:rPr>
                        <a:t>ANS horizontal</a:t>
                      </a:r>
                      <a:endParaRPr lang="en-US" sz="900" dirty="0">
                        <a:latin typeface="+mn-lt" charset="0"/>
                        <a:ea typeface="+mn-lt" charset="0"/>
                        <a:cs typeface="+mn-lt" charset="0"/>
                      </a:endParaRPr>
                    </a:p>
                  </a:txBody>
                  <a:tcPr marL="45720" marR="45720" marT="45720" marB="45720" anchor="t">
                    <a:lnL w="6350" cap="flat" cmpd="sng" algn="ctr">
                      <a:solidFill>
                        <a:srgbClr val="D9E0E8"/>
                      </a:solidFill>
                      <a:prstDash val="solid"/>
                      <a:round/>
                      <a:headEnd type="none" w="med" len="med"/>
                      <a:tailEnd type="none" w="med" len="med"/>
                    </a:lnL>
                    <a:lnR w="6350" cap="flat" cmpd="sng" algn="ctr">
                      <a:solidFill>
                        <a:srgbClr val="D9E0E8"/>
                      </a:solidFill>
                      <a:prstDash val="solid"/>
                      <a:round/>
                      <a:headEnd type="none" w="med" len="med"/>
                      <a:tailEnd type="none" w="med" len="med"/>
                    </a:lnR>
                    <a:lnT w="6350" cap="flat" cmpd="sng" algn="ctr">
                      <a:solidFill>
                        <a:srgbClr val="D9E0E8"/>
                      </a:solidFill>
                      <a:prstDash val="solid"/>
                      <a:round/>
                      <a:headEnd type="none" w="med" len="med"/>
                      <a:tailEnd type="none" w="med" len="med"/>
                    </a:lnT>
                    <a:lnB w="6350" cap="flat" cmpd="sng" algn="ctr">
                      <a:solidFill>
                        <a:srgbClr val="D9E0E8"/>
                      </a:solidFill>
                      <a:prstDash val="solid"/>
                      <a:round/>
                      <a:headEnd type="none" w="med" len="med"/>
                      <a:tailEnd type="none" w="med" len="med"/>
                    </a:lnB>
                    <a:solidFill>
                      <a:schemeClr val="bg2"/>
                    </a:solidFill>
                  </a:tcPr>
                </a:tc>
                <a:tc>
                  <a:txBody>
                    <a:bodyPr/>
                    <a:lstStyle/>
                    <a:p>
                      <a:pPr indent="0" marL="0">
                        <a:buNone/>
                      </a:pPr>
                      <a:r>
                        <a:rPr lang="en-US" sz="900" dirty="0">
                          <a:solidFill>
                            <a:schemeClr val="tx1"/>
                          </a:solidFill>
                          <a:latin typeface="+mn-lt" pitchFamily="34" charset="0"/>
                          <a:ea typeface="+mn-lt" pitchFamily="34" charset="-122"/>
                          <a:cs typeface="+mn-lt" pitchFamily="34" charset="-120"/>
                        </a:rPr>
                        <a:t>50</a:t>
                      </a:r>
                      <a:endParaRPr lang="en-US" sz="900" dirty="0">
                        <a:latin typeface="+mn-lt" charset="0"/>
                        <a:ea typeface="+mn-lt" charset="0"/>
                        <a:cs typeface="+mn-lt" charset="0"/>
                      </a:endParaRPr>
                    </a:p>
                  </a:txBody>
                  <a:tcPr marL="45720" marR="45720" marT="45720" marB="45720" anchor="t">
                    <a:lnL w="6350" cap="flat" cmpd="sng" algn="ctr">
                      <a:solidFill>
                        <a:srgbClr val="D9E0E8"/>
                      </a:solidFill>
                      <a:prstDash val="solid"/>
                      <a:round/>
                      <a:headEnd type="none" w="med" len="med"/>
                      <a:tailEnd type="none" w="med" len="med"/>
                    </a:lnL>
                    <a:lnR w="6350" cap="flat" cmpd="sng" algn="ctr">
                      <a:solidFill>
                        <a:srgbClr val="D9E0E8"/>
                      </a:solidFill>
                      <a:prstDash val="solid"/>
                      <a:round/>
                      <a:headEnd type="none" w="med" len="med"/>
                      <a:tailEnd type="none" w="med" len="med"/>
                    </a:lnR>
                    <a:lnT w="6350" cap="flat" cmpd="sng" algn="ctr">
                      <a:solidFill>
                        <a:srgbClr val="D9E0E8"/>
                      </a:solidFill>
                      <a:prstDash val="solid"/>
                      <a:round/>
                      <a:headEnd type="none" w="med" len="med"/>
                      <a:tailEnd type="none" w="med" len="med"/>
                    </a:lnT>
                    <a:lnB w="6350" cap="flat" cmpd="sng" algn="ctr">
                      <a:solidFill>
                        <a:srgbClr val="D9E0E8"/>
                      </a:solidFill>
                      <a:prstDash val="solid"/>
                      <a:round/>
                      <a:headEnd type="none" w="med" len="med"/>
                      <a:tailEnd type="none" w="med" len="med"/>
                    </a:lnB>
                    <a:solidFill>
                      <a:schemeClr val="bg2"/>
                    </a:solidFill>
                  </a:tcPr>
                </a:tc>
                <a:tc>
                  <a:txBody>
                    <a:bodyPr/>
                    <a:lstStyle/>
                    <a:p>
                      <a:pPr indent="0" marL="0">
                        <a:buNone/>
                      </a:pPr>
                      <a:r>
                        <a:rPr lang="en-US" sz="900" dirty="0">
                          <a:solidFill>
                            <a:schemeClr val="tx1"/>
                          </a:solidFill>
                          <a:latin typeface="+mn-lt" pitchFamily="34" charset="0"/>
                          <a:ea typeface="+mn-lt" pitchFamily="34" charset="-122"/>
                          <a:cs typeface="+mn-lt" pitchFamily="34" charset="-120"/>
                        </a:rPr>
                        <a:t>1.43</a:t>
                      </a:r>
                      <a:endParaRPr lang="en-US" sz="900" dirty="0">
                        <a:latin typeface="+mn-lt" charset="0"/>
                        <a:ea typeface="+mn-lt" charset="0"/>
                        <a:cs typeface="+mn-lt" charset="0"/>
                      </a:endParaRPr>
                    </a:p>
                  </a:txBody>
                  <a:tcPr marL="45720" marR="45720" marT="45720" marB="45720" anchor="t">
                    <a:lnL w="6350" cap="flat" cmpd="sng" algn="ctr">
                      <a:solidFill>
                        <a:srgbClr val="D9E0E8"/>
                      </a:solidFill>
                      <a:prstDash val="solid"/>
                      <a:round/>
                      <a:headEnd type="none" w="med" len="med"/>
                      <a:tailEnd type="none" w="med" len="med"/>
                    </a:lnL>
                    <a:lnR w="6350" cap="flat" cmpd="sng" algn="ctr">
                      <a:solidFill>
                        <a:srgbClr val="D9E0E8"/>
                      </a:solidFill>
                      <a:prstDash val="solid"/>
                      <a:round/>
                      <a:headEnd type="none" w="med" len="med"/>
                      <a:tailEnd type="none" w="med" len="med"/>
                    </a:lnR>
                    <a:lnT w="6350" cap="flat" cmpd="sng" algn="ctr">
                      <a:solidFill>
                        <a:srgbClr val="D9E0E8"/>
                      </a:solidFill>
                      <a:prstDash val="solid"/>
                      <a:round/>
                      <a:headEnd type="none" w="med" len="med"/>
                      <a:tailEnd type="none" w="med" len="med"/>
                    </a:lnT>
                    <a:lnB w="6350" cap="flat" cmpd="sng" algn="ctr">
                      <a:solidFill>
                        <a:srgbClr val="D9E0E8"/>
                      </a:solidFill>
                      <a:prstDash val="solid"/>
                      <a:round/>
                      <a:headEnd type="none" w="med" len="med"/>
                      <a:tailEnd type="none" w="med" len="med"/>
                    </a:lnB>
                    <a:solidFill>
                      <a:schemeClr val="bg2"/>
                    </a:solidFill>
                  </a:tcPr>
                </a:tc>
                <a:tc>
                  <a:txBody>
                    <a:bodyPr/>
                    <a:lstStyle/>
                    <a:p>
                      <a:pPr indent="0" marL="0">
                        <a:buNone/>
                      </a:pPr>
                      <a:r>
                        <a:rPr lang="en-US" sz="900" dirty="0">
                          <a:solidFill>
                            <a:schemeClr val="tx1"/>
                          </a:solidFill>
                          <a:latin typeface="+mn-lt" pitchFamily="34" charset="0"/>
                          <a:ea typeface="+mn-lt" pitchFamily="34" charset="-122"/>
                          <a:cs typeface="+mn-lt" pitchFamily="34" charset="-120"/>
                        </a:rPr>
                        <a:t>1.14</a:t>
                      </a:r>
                      <a:endParaRPr lang="en-US" sz="900" dirty="0">
                        <a:latin typeface="+mn-lt" charset="0"/>
                        <a:ea typeface="+mn-lt" charset="0"/>
                        <a:cs typeface="+mn-lt" charset="0"/>
                      </a:endParaRPr>
                    </a:p>
                  </a:txBody>
                  <a:tcPr marL="45720" marR="45720" marT="45720" marB="45720" anchor="t">
                    <a:lnL w="6350" cap="flat" cmpd="sng" algn="ctr">
                      <a:solidFill>
                        <a:srgbClr val="D9E0E8"/>
                      </a:solidFill>
                      <a:prstDash val="solid"/>
                      <a:round/>
                      <a:headEnd type="none" w="med" len="med"/>
                      <a:tailEnd type="none" w="med" len="med"/>
                    </a:lnL>
                    <a:lnR w="6350" cap="flat" cmpd="sng" algn="ctr">
                      <a:solidFill>
                        <a:srgbClr val="D9E0E8"/>
                      </a:solidFill>
                      <a:prstDash val="solid"/>
                      <a:round/>
                      <a:headEnd type="none" w="med" len="med"/>
                      <a:tailEnd type="none" w="med" len="med"/>
                    </a:lnR>
                    <a:lnT w="6350" cap="flat" cmpd="sng" algn="ctr">
                      <a:solidFill>
                        <a:srgbClr val="D9E0E8"/>
                      </a:solidFill>
                      <a:prstDash val="solid"/>
                      <a:round/>
                      <a:headEnd type="none" w="med" len="med"/>
                      <a:tailEnd type="none" w="med" len="med"/>
                    </a:lnT>
                    <a:lnB w="6350" cap="flat" cmpd="sng" algn="ctr">
                      <a:solidFill>
                        <a:srgbClr val="D9E0E8"/>
                      </a:solidFill>
                      <a:prstDash val="solid"/>
                      <a:round/>
                      <a:headEnd type="none" w="med" len="med"/>
                      <a:tailEnd type="none" w="med" len="med"/>
                    </a:lnB>
                    <a:solidFill>
                      <a:schemeClr val="bg2"/>
                    </a:solidFill>
                  </a:tcPr>
                </a:tc>
                <a:tc>
                  <a:txBody>
                    <a:bodyPr/>
                    <a:lstStyle/>
                    <a:p>
                      <a:pPr indent="0" marL="0">
                        <a:buNone/>
                      </a:pPr>
                      <a:r>
                        <a:rPr lang="en-US" sz="900" dirty="0">
                          <a:solidFill>
                            <a:schemeClr val="tx1"/>
                          </a:solidFill>
                          <a:latin typeface="+mn-lt" pitchFamily="34" charset="0"/>
                          <a:ea typeface="+mn-lt" pitchFamily="34" charset="-122"/>
                          <a:cs typeface="+mn-lt" pitchFamily="34" charset="-120"/>
                        </a:rPr>
                        <a:t>0.15</a:t>
                      </a:r>
                      <a:endParaRPr lang="en-US" sz="900" dirty="0">
                        <a:latin typeface="+mn-lt" charset="0"/>
                        <a:ea typeface="+mn-lt" charset="0"/>
                        <a:cs typeface="+mn-lt" charset="0"/>
                      </a:endParaRPr>
                    </a:p>
                  </a:txBody>
                  <a:tcPr marL="45720" marR="45720" marT="45720" marB="45720" anchor="t">
                    <a:lnL w="6350" cap="flat" cmpd="sng" algn="ctr">
                      <a:solidFill>
                        <a:srgbClr val="D9E0E8"/>
                      </a:solidFill>
                      <a:prstDash val="solid"/>
                      <a:round/>
                      <a:headEnd type="none" w="med" len="med"/>
                      <a:tailEnd type="none" w="med" len="med"/>
                    </a:lnL>
                    <a:lnR w="6350" cap="flat" cmpd="sng" algn="ctr">
                      <a:solidFill>
                        <a:srgbClr val="D9E0E8"/>
                      </a:solidFill>
                      <a:prstDash val="solid"/>
                      <a:round/>
                      <a:headEnd type="none" w="med" len="med"/>
                      <a:tailEnd type="none" w="med" len="med"/>
                    </a:lnR>
                    <a:lnT w="6350" cap="flat" cmpd="sng" algn="ctr">
                      <a:solidFill>
                        <a:srgbClr val="D9E0E8"/>
                      </a:solidFill>
                      <a:prstDash val="solid"/>
                      <a:round/>
                      <a:headEnd type="none" w="med" len="med"/>
                      <a:tailEnd type="none" w="med" len="med"/>
                    </a:lnT>
                    <a:lnB w="6350" cap="flat" cmpd="sng" algn="ctr">
                      <a:solidFill>
                        <a:srgbClr val="D9E0E8"/>
                      </a:solidFill>
                      <a:prstDash val="solid"/>
                      <a:round/>
                      <a:headEnd type="none" w="med" len="med"/>
                      <a:tailEnd type="none" w="med" len="med"/>
                    </a:lnB>
                    <a:solidFill>
                      <a:schemeClr val="bg2"/>
                    </a:solidFill>
                  </a:tcPr>
                </a:tc>
                <a:tc>
                  <a:txBody>
                    <a:bodyPr/>
                    <a:lstStyle/>
                    <a:p>
                      <a:pPr indent="0" marL="0">
                        <a:buNone/>
                      </a:pPr>
                      <a:r>
                        <a:rPr lang="en-US" sz="900" dirty="0">
                          <a:solidFill>
                            <a:schemeClr val="tx1"/>
                          </a:solidFill>
                          <a:latin typeface="+mn-lt" pitchFamily="34" charset="0"/>
                          <a:ea typeface="+mn-lt" pitchFamily="34" charset="-122"/>
                          <a:cs typeface="+mn-lt" pitchFamily="34" charset="-120"/>
                        </a:rPr>
                        <a:t>5.09</a:t>
                      </a:r>
                      <a:endParaRPr lang="en-US" sz="900" dirty="0">
                        <a:latin typeface="+mn-lt" charset="0"/>
                        <a:ea typeface="+mn-lt" charset="0"/>
                        <a:cs typeface="+mn-lt" charset="0"/>
                      </a:endParaRPr>
                    </a:p>
                  </a:txBody>
                  <a:tcPr marL="45720" marR="45720" marT="45720" marB="45720" anchor="t">
                    <a:lnL w="6350" cap="flat" cmpd="sng" algn="ctr">
                      <a:solidFill>
                        <a:srgbClr val="D9E0E8"/>
                      </a:solidFill>
                      <a:prstDash val="solid"/>
                      <a:round/>
                      <a:headEnd type="none" w="med" len="med"/>
                      <a:tailEnd type="none" w="med" len="med"/>
                    </a:lnL>
                    <a:lnR w="6350" cap="flat" cmpd="sng" algn="ctr">
                      <a:solidFill>
                        <a:srgbClr val="D9E0E8"/>
                      </a:solidFill>
                      <a:prstDash val="solid"/>
                      <a:round/>
                      <a:headEnd type="none" w="med" len="med"/>
                      <a:tailEnd type="none" w="med" len="med"/>
                    </a:lnR>
                    <a:lnT w="6350" cap="flat" cmpd="sng" algn="ctr">
                      <a:solidFill>
                        <a:srgbClr val="D9E0E8"/>
                      </a:solidFill>
                      <a:prstDash val="solid"/>
                      <a:round/>
                      <a:headEnd type="none" w="med" len="med"/>
                      <a:tailEnd type="none" w="med" len="med"/>
                    </a:lnT>
                    <a:lnB w="6350" cap="flat" cmpd="sng" algn="ctr">
                      <a:solidFill>
                        <a:srgbClr val="D9E0E8"/>
                      </a:solidFill>
                      <a:prstDash val="solid"/>
                      <a:round/>
                      <a:headEnd type="none" w="med" len="med"/>
                      <a:tailEnd type="none" w="med" len="med"/>
                    </a:lnB>
                    <a:solidFill>
                      <a:schemeClr val="bg2"/>
                    </a:solidFill>
                  </a:tcPr>
                </a:tc>
              </a:tr>
              <a:tr h="0">
                <a:tc>
                  <a:txBody>
                    <a:bodyPr/>
                    <a:lstStyle/>
                    <a:p>
                      <a:pPr indent="0" marL="0">
                        <a:buNone/>
                      </a:pPr>
                      <a:r>
                        <a:rPr lang="en-US" sz="900" dirty="0">
                          <a:solidFill>
                            <a:schemeClr val="tx1"/>
                          </a:solidFill>
                          <a:latin typeface="+mn-lt" pitchFamily="34" charset="0"/>
                          <a:ea typeface="+mn-lt" pitchFamily="34" charset="-122"/>
                          <a:cs typeface="+mn-lt" pitchFamily="34" charset="-120"/>
                        </a:rPr>
                        <a:t>A point</a:t>
                      </a:r>
                      <a:endParaRPr lang="en-US" sz="900" dirty="0">
                        <a:latin typeface="+mn-lt" charset="0"/>
                        <a:ea typeface="+mn-lt" charset="0"/>
                        <a:cs typeface="+mn-lt" charset="0"/>
                      </a:endParaRPr>
                    </a:p>
                  </a:txBody>
                  <a:tcPr marL="45720" marR="45720" marT="45720" marB="45720" anchor="t">
                    <a:lnL w="6350" cap="flat" cmpd="sng" algn="ctr">
                      <a:solidFill>
                        <a:srgbClr val="D9E0E8"/>
                      </a:solidFill>
                      <a:prstDash val="solid"/>
                      <a:round/>
                      <a:headEnd type="none" w="med" len="med"/>
                      <a:tailEnd type="none" w="med" len="med"/>
                    </a:lnL>
                    <a:lnR w="6350" cap="flat" cmpd="sng" algn="ctr">
                      <a:solidFill>
                        <a:srgbClr val="D9E0E8"/>
                      </a:solidFill>
                      <a:prstDash val="solid"/>
                      <a:round/>
                      <a:headEnd type="none" w="med" len="med"/>
                      <a:tailEnd type="none" w="med" len="med"/>
                    </a:lnR>
                    <a:lnT w="6350" cap="flat" cmpd="sng" algn="ctr">
                      <a:solidFill>
                        <a:srgbClr val="D9E0E8"/>
                      </a:solidFill>
                      <a:prstDash val="solid"/>
                      <a:round/>
                      <a:headEnd type="none" w="med" len="med"/>
                      <a:tailEnd type="none" w="med" len="med"/>
                    </a:lnT>
                    <a:lnB w="6350" cap="flat" cmpd="sng" algn="ctr">
                      <a:solidFill>
                        <a:srgbClr val="D9E0E8"/>
                      </a:solidFill>
                      <a:prstDash val="solid"/>
                      <a:round/>
                      <a:headEnd type="none" w="med" len="med"/>
                      <a:tailEnd type="none" w="med" len="med"/>
                    </a:lnB>
                    <a:solidFill>
                      <a:schemeClr val="bg1"/>
                    </a:solidFill>
                  </a:tcPr>
                </a:tc>
                <a:tc>
                  <a:txBody>
                    <a:bodyPr/>
                    <a:lstStyle/>
                    <a:p>
                      <a:pPr indent="0" marL="0">
                        <a:buNone/>
                      </a:pPr>
                      <a:r>
                        <a:rPr lang="en-US" sz="900" dirty="0">
                          <a:solidFill>
                            <a:schemeClr val="tx1"/>
                          </a:solidFill>
                          <a:latin typeface="+mn-lt" pitchFamily="34" charset="0"/>
                          <a:ea typeface="+mn-lt" pitchFamily="34" charset="-122"/>
                          <a:cs typeface="+mn-lt" pitchFamily="34" charset="-120"/>
                        </a:rPr>
                        <a:t>50</a:t>
                      </a:r>
                      <a:endParaRPr lang="en-US" sz="900" dirty="0">
                        <a:latin typeface="+mn-lt" charset="0"/>
                        <a:ea typeface="+mn-lt" charset="0"/>
                        <a:cs typeface="+mn-lt" charset="0"/>
                      </a:endParaRPr>
                    </a:p>
                  </a:txBody>
                  <a:tcPr marL="45720" marR="45720" marT="45720" marB="45720" anchor="t">
                    <a:lnL w="6350" cap="flat" cmpd="sng" algn="ctr">
                      <a:solidFill>
                        <a:srgbClr val="D9E0E8"/>
                      </a:solidFill>
                      <a:prstDash val="solid"/>
                      <a:round/>
                      <a:headEnd type="none" w="med" len="med"/>
                      <a:tailEnd type="none" w="med" len="med"/>
                    </a:lnL>
                    <a:lnR w="6350" cap="flat" cmpd="sng" algn="ctr">
                      <a:solidFill>
                        <a:srgbClr val="D9E0E8"/>
                      </a:solidFill>
                      <a:prstDash val="solid"/>
                      <a:round/>
                      <a:headEnd type="none" w="med" len="med"/>
                      <a:tailEnd type="none" w="med" len="med"/>
                    </a:lnR>
                    <a:lnT w="6350" cap="flat" cmpd="sng" algn="ctr">
                      <a:solidFill>
                        <a:srgbClr val="D9E0E8"/>
                      </a:solidFill>
                      <a:prstDash val="solid"/>
                      <a:round/>
                      <a:headEnd type="none" w="med" len="med"/>
                      <a:tailEnd type="none" w="med" len="med"/>
                    </a:lnT>
                    <a:lnB w="6350" cap="flat" cmpd="sng" algn="ctr">
                      <a:solidFill>
                        <a:srgbClr val="D9E0E8"/>
                      </a:solidFill>
                      <a:prstDash val="solid"/>
                      <a:round/>
                      <a:headEnd type="none" w="med" len="med"/>
                      <a:tailEnd type="none" w="med" len="med"/>
                    </a:lnB>
                    <a:solidFill>
                      <a:schemeClr val="bg1"/>
                    </a:solidFill>
                  </a:tcPr>
                </a:tc>
                <a:tc>
                  <a:txBody>
                    <a:bodyPr/>
                    <a:lstStyle/>
                    <a:p>
                      <a:pPr indent="0" marL="0">
                        <a:buNone/>
                      </a:pPr>
                      <a:r>
                        <a:rPr lang="en-US" sz="900" dirty="0">
                          <a:solidFill>
                            <a:schemeClr val="tx1"/>
                          </a:solidFill>
                          <a:latin typeface="+mn-lt" pitchFamily="34" charset="0"/>
                          <a:ea typeface="+mn-lt" pitchFamily="34" charset="-122"/>
                          <a:cs typeface="+mn-lt" pitchFamily="34" charset="-120"/>
                        </a:rPr>
                        <a:t>2.13</a:t>
                      </a:r>
                      <a:endParaRPr lang="en-US" sz="900" dirty="0">
                        <a:latin typeface="+mn-lt" charset="0"/>
                        <a:ea typeface="+mn-lt" charset="0"/>
                        <a:cs typeface="+mn-lt" charset="0"/>
                      </a:endParaRPr>
                    </a:p>
                  </a:txBody>
                  <a:tcPr marL="45720" marR="45720" marT="45720" marB="45720" anchor="t">
                    <a:lnL w="6350" cap="flat" cmpd="sng" algn="ctr">
                      <a:solidFill>
                        <a:srgbClr val="D9E0E8"/>
                      </a:solidFill>
                      <a:prstDash val="solid"/>
                      <a:round/>
                      <a:headEnd type="none" w="med" len="med"/>
                      <a:tailEnd type="none" w="med" len="med"/>
                    </a:lnL>
                    <a:lnR w="6350" cap="flat" cmpd="sng" algn="ctr">
                      <a:solidFill>
                        <a:srgbClr val="D9E0E8"/>
                      </a:solidFill>
                      <a:prstDash val="solid"/>
                      <a:round/>
                      <a:headEnd type="none" w="med" len="med"/>
                      <a:tailEnd type="none" w="med" len="med"/>
                    </a:lnR>
                    <a:lnT w="6350" cap="flat" cmpd="sng" algn="ctr">
                      <a:solidFill>
                        <a:srgbClr val="D9E0E8"/>
                      </a:solidFill>
                      <a:prstDash val="solid"/>
                      <a:round/>
                      <a:headEnd type="none" w="med" len="med"/>
                      <a:tailEnd type="none" w="med" len="med"/>
                    </a:lnT>
                    <a:lnB w="6350" cap="flat" cmpd="sng" algn="ctr">
                      <a:solidFill>
                        <a:srgbClr val="D9E0E8"/>
                      </a:solidFill>
                      <a:prstDash val="solid"/>
                      <a:round/>
                      <a:headEnd type="none" w="med" len="med"/>
                      <a:tailEnd type="none" w="med" len="med"/>
                    </a:lnB>
                    <a:solidFill>
                      <a:schemeClr val="bg1"/>
                    </a:solidFill>
                  </a:tcPr>
                </a:tc>
                <a:tc>
                  <a:txBody>
                    <a:bodyPr/>
                    <a:lstStyle/>
                    <a:p>
                      <a:pPr indent="0" marL="0">
                        <a:buNone/>
                      </a:pPr>
                      <a:r>
                        <a:rPr lang="en-US" sz="900" dirty="0">
                          <a:solidFill>
                            <a:schemeClr val="tx1"/>
                          </a:solidFill>
                          <a:latin typeface="+mn-lt" pitchFamily="34" charset="0"/>
                          <a:ea typeface="+mn-lt" pitchFamily="34" charset="-122"/>
                          <a:cs typeface="+mn-lt" pitchFamily="34" charset="-120"/>
                        </a:rPr>
                        <a:t>1.63</a:t>
                      </a:r>
                      <a:endParaRPr lang="en-US" sz="900" dirty="0">
                        <a:latin typeface="+mn-lt" charset="0"/>
                        <a:ea typeface="+mn-lt" charset="0"/>
                        <a:cs typeface="+mn-lt" charset="0"/>
                      </a:endParaRPr>
                    </a:p>
                  </a:txBody>
                  <a:tcPr marL="45720" marR="45720" marT="45720" marB="45720" anchor="t">
                    <a:lnL w="6350" cap="flat" cmpd="sng" algn="ctr">
                      <a:solidFill>
                        <a:srgbClr val="D9E0E8"/>
                      </a:solidFill>
                      <a:prstDash val="solid"/>
                      <a:round/>
                      <a:headEnd type="none" w="med" len="med"/>
                      <a:tailEnd type="none" w="med" len="med"/>
                    </a:lnL>
                    <a:lnR w="6350" cap="flat" cmpd="sng" algn="ctr">
                      <a:solidFill>
                        <a:srgbClr val="D9E0E8"/>
                      </a:solidFill>
                      <a:prstDash val="solid"/>
                      <a:round/>
                      <a:headEnd type="none" w="med" len="med"/>
                      <a:tailEnd type="none" w="med" len="med"/>
                    </a:lnR>
                    <a:lnT w="6350" cap="flat" cmpd="sng" algn="ctr">
                      <a:solidFill>
                        <a:srgbClr val="D9E0E8"/>
                      </a:solidFill>
                      <a:prstDash val="solid"/>
                      <a:round/>
                      <a:headEnd type="none" w="med" len="med"/>
                      <a:tailEnd type="none" w="med" len="med"/>
                    </a:lnT>
                    <a:lnB w="6350" cap="flat" cmpd="sng" algn="ctr">
                      <a:solidFill>
                        <a:srgbClr val="D9E0E8"/>
                      </a:solidFill>
                      <a:prstDash val="solid"/>
                      <a:round/>
                      <a:headEnd type="none" w="med" len="med"/>
                      <a:tailEnd type="none" w="med" len="med"/>
                    </a:lnB>
                    <a:solidFill>
                      <a:schemeClr val="bg1"/>
                    </a:solidFill>
                  </a:tcPr>
                </a:tc>
                <a:tc>
                  <a:txBody>
                    <a:bodyPr/>
                    <a:lstStyle/>
                    <a:p>
                      <a:pPr indent="0" marL="0">
                        <a:buNone/>
                      </a:pPr>
                      <a:r>
                        <a:rPr lang="en-US" sz="900" dirty="0">
                          <a:solidFill>
                            <a:schemeClr val="tx1"/>
                          </a:solidFill>
                          <a:latin typeface="+mn-lt" pitchFamily="34" charset="0"/>
                          <a:ea typeface="+mn-lt" pitchFamily="34" charset="-122"/>
                          <a:cs typeface="+mn-lt" pitchFamily="34" charset="-120"/>
                        </a:rPr>
                        <a:t>0.15</a:t>
                      </a:r>
                      <a:endParaRPr lang="en-US" sz="900" dirty="0">
                        <a:latin typeface="+mn-lt" charset="0"/>
                        <a:ea typeface="+mn-lt" charset="0"/>
                        <a:cs typeface="+mn-lt" charset="0"/>
                      </a:endParaRPr>
                    </a:p>
                  </a:txBody>
                  <a:tcPr marL="45720" marR="45720" marT="45720" marB="45720" anchor="t">
                    <a:lnL w="6350" cap="flat" cmpd="sng" algn="ctr">
                      <a:solidFill>
                        <a:srgbClr val="D9E0E8"/>
                      </a:solidFill>
                      <a:prstDash val="solid"/>
                      <a:round/>
                      <a:headEnd type="none" w="med" len="med"/>
                      <a:tailEnd type="none" w="med" len="med"/>
                    </a:lnL>
                    <a:lnR w="6350" cap="flat" cmpd="sng" algn="ctr">
                      <a:solidFill>
                        <a:srgbClr val="D9E0E8"/>
                      </a:solidFill>
                      <a:prstDash val="solid"/>
                      <a:round/>
                      <a:headEnd type="none" w="med" len="med"/>
                      <a:tailEnd type="none" w="med" len="med"/>
                    </a:lnR>
                    <a:lnT w="6350" cap="flat" cmpd="sng" algn="ctr">
                      <a:solidFill>
                        <a:srgbClr val="D9E0E8"/>
                      </a:solidFill>
                      <a:prstDash val="solid"/>
                      <a:round/>
                      <a:headEnd type="none" w="med" len="med"/>
                      <a:tailEnd type="none" w="med" len="med"/>
                    </a:lnT>
                    <a:lnB w="6350" cap="flat" cmpd="sng" algn="ctr">
                      <a:solidFill>
                        <a:srgbClr val="D9E0E8"/>
                      </a:solidFill>
                      <a:prstDash val="solid"/>
                      <a:round/>
                      <a:headEnd type="none" w="med" len="med"/>
                      <a:tailEnd type="none" w="med" len="med"/>
                    </a:lnB>
                    <a:solidFill>
                      <a:schemeClr val="bg1"/>
                    </a:solidFill>
                  </a:tcPr>
                </a:tc>
                <a:tc>
                  <a:txBody>
                    <a:bodyPr/>
                    <a:lstStyle/>
                    <a:p>
                      <a:pPr indent="0" marL="0">
                        <a:buNone/>
                      </a:pPr>
                      <a:r>
                        <a:rPr lang="en-US" sz="900" dirty="0">
                          <a:solidFill>
                            <a:schemeClr val="tx1"/>
                          </a:solidFill>
                          <a:latin typeface="+mn-lt" pitchFamily="34" charset="0"/>
                          <a:ea typeface="+mn-lt" pitchFamily="34" charset="-122"/>
                          <a:cs typeface="+mn-lt" pitchFamily="34" charset="-120"/>
                        </a:rPr>
                        <a:t>6.55</a:t>
                      </a:r>
                      <a:endParaRPr lang="en-US" sz="900" dirty="0">
                        <a:latin typeface="+mn-lt" charset="0"/>
                        <a:ea typeface="+mn-lt" charset="0"/>
                        <a:cs typeface="+mn-lt" charset="0"/>
                      </a:endParaRPr>
                    </a:p>
                  </a:txBody>
                  <a:tcPr marL="45720" marR="45720" marT="45720" marB="45720" anchor="t">
                    <a:lnL w="6350" cap="flat" cmpd="sng" algn="ctr">
                      <a:solidFill>
                        <a:srgbClr val="D9E0E8"/>
                      </a:solidFill>
                      <a:prstDash val="solid"/>
                      <a:round/>
                      <a:headEnd type="none" w="med" len="med"/>
                      <a:tailEnd type="none" w="med" len="med"/>
                    </a:lnL>
                    <a:lnR w="6350" cap="flat" cmpd="sng" algn="ctr">
                      <a:solidFill>
                        <a:srgbClr val="D9E0E8"/>
                      </a:solidFill>
                      <a:prstDash val="solid"/>
                      <a:round/>
                      <a:headEnd type="none" w="med" len="med"/>
                      <a:tailEnd type="none" w="med" len="med"/>
                    </a:lnR>
                    <a:lnT w="6350" cap="flat" cmpd="sng" algn="ctr">
                      <a:solidFill>
                        <a:srgbClr val="D9E0E8"/>
                      </a:solidFill>
                      <a:prstDash val="solid"/>
                      <a:round/>
                      <a:headEnd type="none" w="med" len="med"/>
                      <a:tailEnd type="none" w="med" len="med"/>
                    </a:lnT>
                    <a:lnB w="6350" cap="flat" cmpd="sng" algn="ctr">
                      <a:solidFill>
                        <a:srgbClr val="D9E0E8"/>
                      </a:solidFill>
                      <a:prstDash val="solid"/>
                      <a:round/>
                      <a:headEnd type="none" w="med" len="med"/>
                      <a:tailEnd type="none" w="med" len="med"/>
                    </a:lnB>
                    <a:solidFill>
                      <a:schemeClr val="bg1"/>
                    </a:solidFill>
                  </a:tcPr>
                </a:tc>
              </a:tr>
              <a:tr h="0">
                <a:tc>
                  <a:txBody>
                    <a:bodyPr/>
                    <a:lstStyle/>
                    <a:p>
                      <a:pPr indent="0" marL="0">
                        <a:buNone/>
                      </a:pPr>
                      <a:r>
                        <a:rPr lang="en-US" sz="900" dirty="0">
                          <a:solidFill>
                            <a:schemeClr val="tx1"/>
                          </a:solidFill>
                          <a:latin typeface="+mn-lt" pitchFamily="34" charset="0"/>
                          <a:ea typeface="+mn-lt" pitchFamily="34" charset="-122"/>
                          <a:cs typeface="+mn-lt" pitchFamily="34" charset="-120"/>
                        </a:rPr>
                        <a:t>PNS</a:t>
                      </a:r>
                      <a:endParaRPr lang="en-US" sz="900" dirty="0">
                        <a:latin typeface="+mn-lt" charset="0"/>
                        <a:ea typeface="+mn-lt" charset="0"/>
                        <a:cs typeface="+mn-lt" charset="0"/>
                      </a:endParaRPr>
                    </a:p>
                  </a:txBody>
                  <a:tcPr marL="45720" marR="45720" marT="45720" marB="45720" anchor="t">
                    <a:lnL w="6350" cap="flat" cmpd="sng" algn="ctr">
                      <a:solidFill>
                        <a:srgbClr val="D9E0E8"/>
                      </a:solidFill>
                      <a:prstDash val="solid"/>
                      <a:round/>
                      <a:headEnd type="none" w="med" len="med"/>
                      <a:tailEnd type="none" w="med" len="med"/>
                    </a:lnL>
                    <a:lnR w="6350" cap="flat" cmpd="sng" algn="ctr">
                      <a:solidFill>
                        <a:srgbClr val="D9E0E8"/>
                      </a:solidFill>
                      <a:prstDash val="solid"/>
                      <a:round/>
                      <a:headEnd type="none" w="med" len="med"/>
                      <a:tailEnd type="none" w="med" len="med"/>
                    </a:lnR>
                    <a:lnT w="6350" cap="flat" cmpd="sng" algn="ctr">
                      <a:solidFill>
                        <a:srgbClr val="D9E0E8"/>
                      </a:solidFill>
                      <a:prstDash val="solid"/>
                      <a:round/>
                      <a:headEnd type="none" w="med" len="med"/>
                      <a:tailEnd type="none" w="med" len="med"/>
                    </a:lnT>
                    <a:lnB w="6350" cap="flat" cmpd="sng" algn="ctr">
                      <a:solidFill>
                        <a:srgbClr val="D9E0E8"/>
                      </a:solidFill>
                      <a:prstDash val="solid"/>
                      <a:round/>
                      <a:headEnd type="none" w="med" len="med"/>
                      <a:tailEnd type="none" w="med" len="med"/>
                    </a:lnB>
                    <a:solidFill>
                      <a:schemeClr val="bg2"/>
                    </a:solidFill>
                  </a:tcPr>
                </a:tc>
                <a:tc>
                  <a:txBody>
                    <a:bodyPr/>
                    <a:lstStyle/>
                    <a:p>
                      <a:pPr indent="0" marL="0">
                        <a:buNone/>
                      </a:pPr>
                      <a:r>
                        <a:rPr lang="en-US" sz="900" dirty="0">
                          <a:solidFill>
                            <a:schemeClr val="tx1"/>
                          </a:solidFill>
                          <a:latin typeface="+mn-lt" pitchFamily="34" charset="0"/>
                          <a:ea typeface="+mn-lt" pitchFamily="34" charset="-122"/>
                          <a:cs typeface="+mn-lt" pitchFamily="34" charset="-120"/>
                        </a:rPr>
                        <a:t>27</a:t>
                      </a:r>
                      <a:endParaRPr lang="en-US" sz="900" dirty="0">
                        <a:latin typeface="+mn-lt" charset="0"/>
                        <a:ea typeface="+mn-lt" charset="0"/>
                        <a:cs typeface="+mn-lt" charset="0"/>
                      </a:endParaRPr>
                    </a:p>
                  </a:txBody>
                  <a:tcPr marL="45720" marR="45720" marT="45720" marB="45720" anchor="t">
                    <a:lnL w="6350" cap="flat" cmpd="sng" algn="ctr">
                      <a:solidFill>
                        <a:srgbClr val="D9E0E8"/>
                      </a:solidFill>
                      <a:prstDash val="solid"/>
                      <a:round/>
                      <a:headEnd type="none" w="med" len="med"/>
                      <a:tailEnd type="none" w="med" len="med"/>
                    </a:lnL>
                    <a:lnR w="6350" cap="flat" cmpd="sng" algn="ctr">
                      <a:solidFill>
                        <a:srgbClr val="D9E0E8"/>
                      </a:solidFill>
                      <a:prstDash val="solid"/>
                      <a:round/>
                      <a:headEnd type="none" w="med" len="med"/>
                      <a:tailEnd type="none" w="med" len="med"/>
                    </a:lnR>
                    <a:lnT w="6350" cap="flat" cmpd="sng" algn="ctr">
                      <a:solidFill>
                        <a:srgbClr val="D9E0E8"/>
                      </a:solidFill>
                      <a:prstDash val="solid"/>
                      <a:round/>
                      <a:headEnd type="none" w="med" len="med"/>
                      <a:tailEnd type="none" w="med" len="med"/>
                    </a:lnT>
                    <a:lnB w="6350" cap="flat" cmpd="sng" algn="ctr">
                      <a:solidFill>
                        <a:srgbClr val="D9E0E8"/>
                      </a:solidFill>
                      <a:prstDash val="solid"/>
                      <a:round/>
                      <a:headEnd type="none" w="med" len="med"/>
                      <a:tailEnd type="none" w="med" len="med"/>
                    </a:lnB>
                    <a:solidFill>
                      <a:schemeClr val="bg2"/>
                    </a:solidFill>
                  </a:tcPr>
                </a:tc>
                <a:tc>
                  <a:txBody>
                    <a:bodyPr/>
                    <a:lstStyle/>
                    <a:p>
                      <a:pPr indent="0" marL="0">
                        <a:buNone/>
                      </a:pPr>
                      <a:r>
                        <a:rPr lang="en-US" sz="900" dirty="0">
                          <a:solidFill>
                            <a:schemeClr val="tx1"/>
                          </a:solidFill>
                          <a:latin typeface="+mn-lt" pitchFamily="34" charset="0"/>
                          <a:ea typeface="+mn-lt" pitchFamily="34" charset="-122"/>
                          <a:cs typeface="+mn-lt" pitchFamily="34" charset="-120"/>
                        </a:rPr>
                        <a:t>2.27</a:t>
                      </a:r>
                      <a:endParaRPr lang="en-US" sz="900" dirty="0">
                        <a:latin typeface="+mn-lt" charset="0"/>
                        <a:ea typeface="+mn-lt" charset="0"/>
                        <a:cs typeface="+mn-lt" charset="0"/>
                      </a:endParaRPr>
                    </a:p>
                  </a:txBody>
                  <a:tcPr marL="45720" marR="45720" marT="45720" marB="45720" anchor="t">
                    <a:lnL w="6350" cap="flat" cmpd="sng" algn="ctr">
                      <a:solidFill>
                        <a:srgbClr val="D9E0E8"/>
                      </a:solidFill>
                      <a:prstDash val="solid"/>
                      <a:round/>
                      <a:headEnd type="none" w="med" len="med"/>
                      <a:tailEnd type="none" w="med" len="med"/>
                    </a:lnL>
                    <a:lnR w="6350" cap="flat" cmpd="sng" algn="ctr">
                      <a:solidFill>
                        <a:srgbClr val="D9E0E8"/>
                      </a:solidFill>
                      <a:prstDash val="solid"/>
                      <a:round/>
                      <a:headEnd type="none" w="med" len="med"/>
                      <a:tailEnd type="none" w="med" len="med"/>
                    </a:lnR>
                    <a:lnT w="6350" cap="flat" cmpd="sng" algn="ctr">
                      <a:solidFill>
                        <a:srgbClr val="D9E0E8"/>
                      </a:solidFill>
                      <a:prstDash val="solid"/>
                      <a:round/>
                      <a:headEnd type="none" w="med" len="med"/>
                      <a:tailEnd type="none" w="med" len="med"/>
                    </a:lnT>
                    <a:lnB w="6350" cap="flat" cmpd="sng" algn="ctr">
                      <a:solidFill>
                        <a:srgbClr val="D9E0E8"/>
                      </a:solidFill>
                      <a:prstDash val="solid"/>
                      <a:round/>
                      <a:headEnd type="none" w="med" len="med"/>
                      <a:tailEnd type="none" w="med" len="med"/>
                    </a:lnB>
                    <a:solidFill>
                      <a:schemeClr val="bg2"/>
                    </a:solidFill>
                  </a:tcPr>
                </a:tc>
                <a:tc>
                  <a:txBody>
                    <a:bodyPr/>
                    <a:lstStyle/>
                    <a:p>
                      <a:pPr indent="0" marL="0">
                        <a:buNone/>
                      </a:pPr>
                      <a:r>
                        <a:rPr lang="en-US" sz="900" dirty="0">
                          <a:solidFill>
                            <a:schemeClr val="tx1"/>
                          </a:solidFill>
                          <a:latin typeface="+mn-lt" pitchFamily="34" charset="0"/>
                          <a:ea typeface="+mn-lt" pitchFamily="34" charset="-122"/>
                          <a:cs typeface="+mn-lt" pitchFamily="34" charset="-120"/>
                        </a:rPr>
                        <a:t>1.75</a:t>
                      </a:r>
                      <a:endParaRPr lang="en-US" sz="900" dirty="0">
                        <a:latin typeface="+mn-lt" charset="0"/>
                        <a:ea typeface="+mn-lt" charset="0"/>
                        <a:cs typeface="+mn-lt" charset="0"/>
                      </a:endParaRPr>
                    </a:p>
                  </a:txBody>
                  <a:tcPr marL="45720" marR="45720" marT="45720" marB="45720" anchor="t">
                    <a:lnL w="6350" cap="flat" cmpd="sng" algn="ctr">
                      <a:solidFill>
                        <a:srgbClr val="D9E0E8"/>
                      </a:solidFill>
                      <a:prstDash val="solid"/>
                      <a:round/>
                      <a:headEnd type="none" w="med" len="med"/>
                      <a:tailEnd type="none" w="med" len="med"/>
                    </a:lnL>
                    <a:lnR w="6350" cap="flat" cmpd="sng" algn="ctr">
                      <a:solidFill>
                        <a:srgbClr val="D9E0E8"/>
                      </a:solidFill>
                      <a:prstDash val="solid"/>
                      <a:round/>
                      <a:headEnd type="none" w="med" len="med"/>
                      <a:tailEnd type="none" w="med" len="med"/>
                    </a:lnR>
                    <a:lnT w="6350" cap="flat" cmpd="sng" algn="ctr">
                      <a:solidFill>
                        <a:srgbClr val="D9E0E8"/>
                      </a:solidFill>
                      <a:prstDash val="solid"/>
                      <a:round/>
                      <a:headEnd type="none" w="med" len="med"/>
                      <a:tailEnd type="none" w="med" len="med"/>
                    </a:lnT>
                    <a:lnB w="6350" cap="flat" cmpd="sng" algn="ctr">
                      <a:solidFill>
                        <a:srgbClr val="D9E0E8"/>
                      </a:solidFill>
                      <a:prstDash val="solid"/>
                      <a:round/>
                      <a:headEnd type="none" w="med" len="med"/>
                      <a:tailEnd type="none" w="med" len="med"/>
                    </a:lnB>
                    <a:solidFill>
                      <a:schemeClr val="bg2"/>
                    </a:solidFill>
                  </a:tcPr>
                </a:tc>
                <a:tc>
                  <a:txBody>
                    <a:bodyPr/>
                    <a:lstStyle/>
                    <a:p>
                      <a:pPr indent="0" marL="0">
                        <a:buNone/>
                      </a:pPr>
                      <a:r>
                        <a:rPr lang="en-US" sz="900" dirty="0">
                          <a:solidFill>
                            <a:schemeClr val="tx1"/>
                          </a:solidFill>
                          <a:latin typeface="+mn-lt" pitchFamily="34" charset="0"/>
                          <a:ea typeface="+mn-lt" pitchFamily="34" charset="-122"/>
                          <a:cs typeface="+mn-lt" pitchFamily="34" charset="-120"/>
                        </a:rPr>
                        <a:t>0.32</a:t>
                      </a:r>
                      <a:endParaRPr lang="en-US" sz="900" dirty="0">
                        <a:latin typeface="+mn-lt" charset="0"/>
                        <a:ea typeface="+mn-lt" charset="0"/>
                        <a:cs typeface="+mn-lt" charset="0"/>
                      </a:endParaRPr>
                    </a:p>
                  </a:txBody>
                  <a:tcPr marL="45720" marR="45720" marT="45720" marB="45720" anchor="t">
                    <a:lnL w="6350" cap="flat" cmpd="sng" algn="ctr">
                      <a:solidFill>
                        <a:srgbClr val="D9E0E8"/>
                      </a:solidFill>
                      <a:prstDash val="solid"/>
                      <a:round/>
                      <a:headEnd type="none" w="med" len="med"/>
                      <a:tailEnd type="none" w="med" len="med"/>
                    </a:lnL>
                    <a:lnR w="6350" cap="flat" cmpd="sng" algn="ctr">
                      <a:solidFill>
                        <a:srgbClr val="D9E0E8"/>
                      </a:solidFill>
                      <a:prstDash val="solid"/>
                      <a:round/>
                      <a:headEnd type="none" w="med" len="med"/>
                      <a:tailEnd type="none" w="med" len="med"/>
                    </a:lnR>
                    <a:lnT w="6350" cap="flat" cmpd="sng" algn="ctr">
                      <a:solidFill>
                        <a:srgbClr val="D9E0E8"/>
                      </a:solidFill>
                      <a:prstDash val="solid"/>
                      <a:round/>
                      <a:headEnd type="none" w="med" len="med"/>
                      <a:tailEnd type="none" w="med" len="med"/>
                    </a:lnT>
                    <a:lnB w="6350" cap="flat" cmpd="sng" algn="ctr">
                      <a:solidFill>
                        <a:srgbClr val="D9E0E8"/>
                      </a:solidFill>
                      <a:prstDash val="solid"/>
                      <a:round/>
                      <a:headEnd type="none" w="med" len="med"/>
                      <a:tailEnd type="none" w="med" len="med"/>
                    </a:lnB>
                    <a:solidFill>
                      <a:schemeClr val="bg2"/>
                    </a:solidFill>
                  </a:tcPr>
                </a:tc>
                <a:tc>
                  <a:txBody>
                    <a:bodyPr/>
                    <a:lstStyle/>
                    <a:p>
                      <a:pPr indent="0" marL="0">
                        <a:buNone/>
                      </a:pPr>
                      <a:r>
                        <a:rPr lang="en-US" sz="900" dirty="0">
                          <a:solidFill>
                            <a:schemeClr val="tx1"/>
                          </a:solidFill>
                          <a:latin typeface="+mn-lt" pitchFamily="34" charset="0"/>
                          <a:ea typeface="+mn-lt" pitchFamily="34" charset="-122"/>
                          <a:cs typeface="+mn-lt" pitchFamily="34" charset="-120"/>
                        </a:rPr>
                        <a:t>9.10</a:t>
                      </a:r>
                      <a:endParaRPr lang="en-US" sz="900" dirty="0">
                        <a:latin typeface="+mn-lt" charset="0"/>
                        <a:ea typeface="+mn-lt" charset="0"/>
                        <a:cs typeface="+mn-lt" charset="0"/>
                      </a:endParaRPr>
                    </a:p>
                  </a:txBody>
                  <a:tcPr marL="45720" marR="45720" marT="45720" marB="45720" anchor="t">
                    <a:lnL w="6350" cap="flat" cmpd="sng" algn="ctr">
                      <a:solidFill>
                        <a:srgbClr val="D9E0E8"/>
                      </a:solidFill>
                      <a:prstDash val="solid"/>
                      <a:round/>
                      <a:headEnd type="none" w="med" len="med"/>
                      <a:tailEnd type="none" w="med" len="med"/>
                    </a:lnL>
                    <a:lnR w="6350" cap="flat" cmpd="sng" algn="ctr">
                      <a:solidFill>
                        <a:srgbClr val="D9E0E8"/>
                      </a:solidFill>
                      <a:prstDash val="solid"/>
                      <a:round/>
                      <a:headEnd type="none" w="med" len="med"/>
                      <a:tailEnd type="none" w="med" len="med"/>
                    </a:lnR>
                    <a:lnT w="6350" cap="flat" cmpd="sng" algn="ctr">
                      <a:solidFill>
                        <a:srgbClr val="D9E0E8"/>
                      </a:solidFill>
                      <a:prstDash val="solid"/>
                      <a:round/>
                      <a:headEnd type="none" w="med" len="med"/>
                      <a:tailEnd type="none" w="med" len="med"/>
                    </a:lnT>
                    <a:lnB w="6350" cap="flat" cmpd="sng" algn="ctr">
                      <a:solidFill>
                        <a:srgbClr val="D9E0E8"/>
                      </a:solidFill>
                      <a:prstDash val="solid"/>
                      <a:round/>
                      <a:headEnd type="none" w="med" len="med"/>
                      <a:tailEnd type="none" w="med" len="med"/>
                    </a:lnB>
                    <a:solidFill>
                      <a:schemeClr val="bg2"/>
                    </a:solidFill>
                  </a:tcPr>
                </a:tc>
              </a:tr>
              <a:tr h="0">
                <a:tc>
                  <a:txBody>
                    <a:bodyPr/>
                    <a:lstStyle/>
                    <a:p>
                      <a:pPr indent="0" marL="0">
                        <a:buNone/>
                      </a:pPr>
                      <a:r>
                        <a:rPr lang="en-US" sz="900" dirty="0">
                          <a:solidFill>
                            <a:schemeClr val="tx1"/>
                          </a:solidFill>
                          <a:latin typeface="+mn-lt" pitchFamily="34" charset="0"/>
                          <a:ea typeface="+mn-lt" pitchFamily="34" charset="-122"/>
                          <a:cs typeface="+mn-lt" pitchFamily="34" charset="-120"/>
                        </a:rPr>
                        <a:t>Landmark</a:t>
                      </a:r>
                      <a:endParaRPr lang="en-US" sz="900" dirty="0">
                        <a:latin typeface="+mn-lt" charset="0"/>
                        <a:ea typeface="+mn-lt" charset="0"/>
                        <a:cs typeface="+mn-lt" charset="0"/>
                      </a:endParaRPr>
                    </a:p>
                  </a:txBody>
                  <a:tcPr marL="45720" marR="45720" marT="45720" marB="45720" anchor="t">
                    <a:lnL w="6350" cap="flat" cmpd="sng" algn="ctr">
                      <a:solidFill>
                        <a:srgbClr val="D9E0E8"/>
                      </a:solidFill>
                      <a:prstDash val="solid"/>
                      <a:round/>
                      <a:headEnd type="none" w="med" len="med"/>
                      <a:tailEnd type="none" w="med" len="med"/>
                    </a:lnL>
                    <a:lnR w="6350" cap="flat" cmpd="sng" algn="ctr">
                      <a:solidFill>
                        <a:srgbClr val="D9E0E8"/>
                      </a:solidFill>
                      <a:prstDash val="solid"/>
                      <a:round/>
                      <a:headEnd type="none" w="med" len="med"/>
                      <a:tailEnd type="none" w="med" len="med"/>
                    </a:lnR>
                    <a:lnT w="6350" cap="flat" cmpd="sng" algn="ctr">
                      <a:solidFill>
                        <a:srgbClr val="D9E0E8"/>
                      </a:solidFill>
                      <a:prstDash val="solid"/>
                      <a:round/>
                      <a:headEnd type="none" w="med" len="med"/>
                      <a:tailEnd type="none" w="med" len="med"/>
                    </a:lnT>
                    <a:lnB w="6350" cap="flat" cmpd="sng" algn="ctr">
                      <a:solidFill>
                        <a:srgbClr val="D9E0E8"/>
                      </a:solidFill>
                      <a:prstDash val="solid"/>
                      <a:round/>
                      <a:headEnd type="none" w="med" len="med"/>
                      <a:tailEnd type="none" w="med" len="med"/>
                    </a:lnB>
                    <a:solidFill>
                      <a:schemeClr val="bg1"/>
                    </a:solidFill>
                  </a:tcPr>
                </a:tc>
                <a:tc>
                  <a:txBody>
                    <a:bodyPr/>
                    <a:lstStyle/>
                    <a:p>
                      <a:pPr indent="0" marL="0">
                        <a:buNone/>
                      </a:pPr>
                      <a:r>
                        <a:rPr lang="en-US" sz="900" dirty="0">
                          <a:solidFill>
                            <a:schemeClr val="tx1"/>
                          </a:solidFill>
                          <a:latin typeface="+mn-lt" pitchFamily="34" charset="0"/>
                          <a:ea typeface="+mn-lt" pitchFamily="34" charset="-122"/>
                          <a:cs typeface="+mn-lt" pitchFamily="34" charset="-120"/>
                        </a:rPr>
                        <a:t>Best fit X / Y</a:t>
                      </a:r>
                      <a:endParaRPr lang="en-US" sz="900" dirty="0">
                        <a:latin typeface="+mn-lt" charset="0"/>
                        <a:ea typeface="+mn-lt" charset="0"/>
                        <a:cs typeface="+mn-lt" charset="0"/>
                      </a:endParaRPr>
                    </a:p>
                  </a:txBody>
                  <a:tcPr marL="45720" marR="45720" marT="45720" marB="45720" anchor="t">
                    <a:lnL w="6350" cap="flat" cmpd="sng" algn="ctr">
                      <a:solidFill>
                        <a:srgbClr val="D9E0E8"/>
                      </a:solidFill>
                      <a:prstDash val="solid"/>
                      <a:round/>
                      <a:headEnd type="none" w="med" len="med"/>
                      <a:tailEnd type="none" w="med" len="med"/>
                    </a:lnL>
                    <a:lnR w="6350" cap="flat" cmpd="sng" algn="ctr">
                      <a:solidFill>
                        <a:srgbClr val="D9E0E8"/>
                      </a:solidFill>
                      <a:prstDash val="solid"/>
                      <a:round/>
                      <a:headEnd type="none" w="med" len="med"/>
                      <a:tailEnd type="none" w="med" len="med"/>
                    </a:lnR>
                    <a:lnT w="6350" cap="flat" cmpd="sng" algn="ctr">
                      <a:solidFill>
                        <a:srgbClr val="D9E0E8"/>
                      </a:solidFill>
                      <a:prstDash val="solid"/>
                      <a:round/>
                      <a:headEnd type="none" w="med" len="med"/>
                      <a:tailEnd type="none" w="med" len="med"/>
                    </a:lnT>
                    <a:lnB w="6350" cap="flat" cmpd="sng" algn="ctr">
                      <a:solidFill>
                        <a:srgbClr val="D9E0E8"/>
                      </a:solidFill>
                      <a:prstDash val="solid"/>
                      <a:round/>
                      <a:headEnd type="none" w="med" len="med"/>
                      <a:tailEnd type="none" w="med" len="med"/>
                    </a:lnB>
                    <a:solidFill>
                      <a:schemeClr val="bg1"/>
                    </a:solidFill>
                  </a:tcPr>
                </a:tc>
                <a:tc>
                  <a:txBody>
                    <a:bodyPr/>
                    <a:lstStyle/>
                    <a:p>
                      <a:pPr indent="0" marL="0">
                        <a:buNone/>
                      </a:pPr>
                      <a:r>
                        <a:rPr lang="en-US" sz="900" dirty="0">
                          <a:solidFill>
                            <a:schemeClr val="tx1"/>
                          </a:solidFill>
                          <a:latin typeface="+mn-lt" pitchFamily="34" charset="0"/>
                          <a:ea typeface="+mn-lt" pitchFamily="34" charset="-122"/>
                          <a:cs typeface="+mn-lt" pitchFamily="34" charset="-120"/>
                        </a:rPr>
                        <a:t>Implant X / Y</a:t>
                      </a:r>
                      <a:endParaRPr lang="en-US" sz="900" dirty="0">
                        <a:latin typeface="+mn-lt" charset="0"/>
                        <a:ea typeface="+mn-lt" charset="0"/>
                        <a:cs typeface="+mn-lt" charset="0"/>
                      </a:endParaRPr>
                    </a:p>
                  </a:txBody>
                  <a:tcPr marL="45720" marR="45720" marT="45720" marB="45720" anchor="t">
                    <a:lnL w="6350" cap="flat" cmpd="sng" algn="ctr">
                      <a:solidFill>
                        <a:srgbClr val="D9E0E8"/>
                      </a:solidFill>
                      <a:prstDash val="solid"/>
                      <a:round/>
                      <a:headEnd type="none" w="med" len="med"/>
                      <a:tailEnd type="none" w="med" len="med"/>
                    </a:lnL>
                    <a:lnR w="6350" cap="flat" cmpd="sng" algn="ctr">
                      <a:solidFill>
                        <a:srgbClr val="D9E0E8"/>
                      </a:solidFill>
                      <a:prstDash val="solid"/>
                      <a:round/>
                      <a:headEnd type="none" w="med" len="med"/>
                      <a:tailEnd type="none" w="med" len="med"/>
                    </a:lnR>
                    <a:lnT w="6350" cap="flat" cmpd="sng" algn="ctr">
                      <a:solidFill>
                        <a:srgbClr val="D9E0E8"/>
                      </a:solidFill>
                      <a:prstDash val="solid"/>
                      <a:round/>
                      <a:headEnd type="none" w="med" len="med"/>
                      <a:tailEnd type="none" w="med" len="med"/>
                    </a:lnT>
                    <a:lnB w="6350" cap="flat" cmpd="sng" algn="ctr">
                      <a:solidFill>
                        <a:srgbClr val="D9E0E8"/>
                      </a:solidFill>
                      <a:prstDash val="solid"/>
                      <a:round/>
                      <a:headEnd type="none" w="med" len="med"/>
                      <a:tailEnd type="none" w="med" len="med"/>
                    </a:lnB>
                    <a:solidFill>
                      <a:schemeClr val="bg1"/>
                    </a:solidFill>
                  </a:tcPr>
                </a:tc>
                <a:tc>
                  <a:txBody>
                    <a:bodyPr/>
                    <a:lstStyle/>
                    <a:p>
                      <a:pPr indent="0" marL="0">
                        <a:buNone/>
                      </a:pPr>
                      <a:r>
                        <a:rPr lang="en-US" sz="900" dirty="0">
                          <a:solidFill>
                            <a:schemeClr val="tx1"/>
                          </a:solidFill>
                          <a:latin typeface="+mn-lt" pitchFamily="34" charset="0"/>
                          <a:ea typeface="+mn-lt" pitchFamily="34" charset="-122"/>
                          <a:cs typeface="+mn-lt" pitchFamily="34" charset="-120"/>
                        </a:rPr>
                        <a:t>Structural X / Y</a:t>
                      </a:r>
                      <a:endParaRPr lang="en-US" sz="900" dirty="0">
                        <a:latin typeface="+mn-lt" charset="0"/>
                        <a:ea typeface="+mn-lt" charset="0"/>
                        <a:cs typeface="+mn-lt" charset="0"/>
                      </a:endParaRPr>
                    </a:p>
                  </a:txBody>
                  <a:tcPr marL="45720" marR="45720" marT="45720" marB="45720" anchor="t">
                    <a:lnL w="6350" cap="flat" cmpd="sng" algn="ctr">
                      <a:solidFill>
                        <a:srgbClr val="D9E0E8"/>
                      </a:solidFill>
                      <a:prstDash val="solid"/>
                      <a:round/>
                      <a:headEnd type="none" w="med" len="med"/>
                      <a:tailEnd type="none" w="med" len="med"/>
                    </a:lnL>
                    <a:lnR w="6350" cap="flat" cmpd="sng" algn="ctr">
                      <a:solidFill>
                        <a:srgbClr val="D9E0E8"/>
                      </a:solidFill>
                      <a:prstDash val="solid"/>
                      <a:round/>
                      <a:headEnd type="none" w="med" len="med"/>
                      <a:tailEnd type="none" w="med" len="med"/>
                    </a:lnR>
                    <a:lnT w="6350" cap="flat" cmpd="sng" algn="ctr">
                      <a:solidFill>
                        <a:srgbClr val="D9E0E8"/>
                      </a:solidFill>
                      <a:prstDash val="solid"/>
                      <a:round/>
                      <a:headEnd type="none" w="med" len="med"/>
                      <a:tailEnd type="none" w="med" len="med"/>
                    </a:lnT>
                    <a:lnB w="6350" cap="flat" cmpd="sng" algn="ctr">
                      <a:solidFill>
                        <a:srgbClr val="D9E0E8"/>
                      </a:solidFill>
                      <a:prstDash val="solid"/>
                      <a:round/>
                      <a:headEnd type="none" w="med" len="med"/>
                      <a:tailEnd type="none" w="med" len="med"/>
                    </a:lnB>
                    <a:solidFill>
                      <a:schemeClr val="bg1"/>
                    </a:solidFill>
                  </a:tcPr>
                </a:tc>
              </a:tr>
              <a:tr h="0">
                <a:tc>
                  <a:txBody>
                    <a:bodyPr/>
                    <a:lstStyle/>
                    <a:p>
                      <a:pPr indent="0" marL="0">
                        <a:buNone/>
                      </a:pPr>
                      <a:r>
                        <a:rPr lang="en-US" sz="900" dirty="0">
                          <a:solidFill>
                            <a:schemeClr val="tx1"/>
                          </a:solidFill>
                          <a:latin typeface="+mn-lt" pitchFamily="34" charset="0"/>
                          <a:ea typeface="+mn-lt" pitchFamily="34" charset="-122"/>
                          <a:cs typeface="+mn-lt" pitchFamily="34" charset="-120"/>
                        </a:rPr>
                        <a:t>PNS</a:t>
                      </a:r>
                      <a:endParaRPr lang="en-US" sz="900" dirty="0">
                        <a:latin typeface="+mn-lt" charset="0"/>
                        <a:ea typeface="+mn-lt" charset="0"/>
                        <a:cs typeface="+mn-lt" charset="0"/>
                      </a:endParaRPr>
                    </a:p>
                  </a:txBody>
                  <a:tcPr marL="45720" marR="45720" marT="45720" marB="45720" anchor="t">
                    <a:lnL w="6350" cap="flat" cmpd="sng" algn="ctr">
                      <a:solidFill>
                        <a:srgbClr val="D9E0E8"/>
                      </a:solidFill>
                      <a:prstDash val="solid"/>
                      <a:round/>
                      <a:headEnd type="none" w="med" len="med"/>
                      <a:tailEnd type="none" w="med" len="med"/>
                    </a:lnL>
                    <a:lnR w="6350" cap="flat" cmpd="sng" algn="ctr">
                      <a:solidFill>
                        <a:srgbClr val="D9E0E8"/>
                      </a:solidFill>
                      <a:prstDash val="solid"/>
                      <a:round/>
                      <a:headEnd type="none" w="med" len="med"/>
                      <a:tailEnd type="none" w="med" len="med"/>
                    </a:lnR>
                    <a:lnT w="6350" cap="flat" cmpd="sng" algn="ctr">
                      <a:solidFill>
                        <a:srgbClr val="D9E0E8"/>
                      </a:solidFill>
                      <a:prstDash val="solid"/>
                      <a:round/>
                      <a:headEnd type="none" w="med" len="med"/>
                      <a:tailEnd type="none" w="med" len="med"/>
                    </a:lnT>
                    <a:lnB w="6350" cap="flat" cmpd="sng" algn="ctr">
                      <a:solidFill>
                        <a:srgbClr val="D9E0E8"/>
                      </a:solidFill>
                      <a:prstDash val="solid"/>
                      <a:round/>
                      <a:headEnd type="none" w="med" len="med"/>
                      <a:tailEnd type="none" w="med" len="med"/>
                    </a:lnB>
                    <a:solidFill>
                      <a:schemeClr val="bg2"/>
                    </a:solidFill>
                  </a:tcPr>
                </a:tc>
                <a:tc>
                  <a:txBody>
                    <a:bodyPr/>
                    <a:lstStyle/>
                    <a:p>
                      <a:pPr indent="0" marL="0">
                        <a:buNone/>
                      </a:pPr>
                      <a:r>
                        <a:rPr lang="en-US" sz="900" dirty="0">
                          <a:solidFill>
                            <a:schemeClr val="tx1"/>
                          </a:solidFill>
                          <a:latin typeface="+mn-lt" pitchFamily="34" charset="0"/>
                          <a:ea typeface="+mn-lt" pitchFamily="34" charset="-122"/>
                          <a:cs typeface="+mn-lt" pitchFamily="34" charset="-120"/>
                        </a:rPr>
                        <a:t>−1.18 / +0.36</a:t>
                      </a:r>
                      <a:endParaRPr lang="en-US" sz="900" dirty="0">
                        <a:latin typeface="+mn-lt" charset="0"/>
                        <a:ea typeface="+mn-lt" charset="0"/>
                        <a:cs typeface="+mn-lt" charset="0"/>
                      </a:endParaRPr>
                    </a:p>
                  </a:txBody>
                  <a:tcPr marL="45720" marR="45720" marT="45720" marB="45720" anchor="t">
                    <a:lnL w="6350" cap="flat" cmpd="sng" algn="ctr">
                      <a:solidFill>
                        <a:srgbClr val="D9E0E8"/>
                      </a:solidFill>
                      <a:prstDash val="solid"/>
                      <a:round/>
                      <a:headEnd type="none" w="med" len="med"/>
                      <a:tailEnd type="none" w="med" len="med"/>
                    </a:lnL>
                    <a:lnR w="6350" cap="flat" cmpd="sng" algn="ctr">
                      <a:solidFill>
                        <a:srgbClr val="D9E0E8"/>
                      </a:solidFill>
                      <a:prstDash val="solid"/>
                      <a:round/>
                      <a:headEnd type="none" w="med" len="med"/>
                      <a:tailEnd type="none" w="med" len="med"/>
                    </a:lnR>
                    <a:lnT w="6350" cap="flat" cmpd="sng" algn="ctr">
                      <a:solidFill>
                        <a:srgbClr val="D9E0E8"/>
                      </a:solidFill>
                      <a:prstDash val="solid"/>
                      <a:round/>
                      <a:headEnd type="none" w="med" len="med"/>
                      <a:tailEnd type="none" w="med" len="med"/>
                    </a:lnT>
                    <a:lnB w="6350" cap="flat" cmpd="sng" algn="ctr">
                      <a:solidFill>
                        <a:srgbClr val="D9E0E8"/>
                      </a:solidFill>
                      <a:prstDash val="solid"/>
                      <a:round/>
                      <a:headEnd type="none" w="med" len="med"/>
                      <a:tailEnd type="none" w="med" len="med"/>
                    </a:lnB>
                    <a:solidFill>
                      <a:schemeClr val="bg2"/>
                    </a:solidFill>
                  </a:tcPr>
                </a:tc>
                <a:tc>
                  <a:txBody>
                    <a:bodyPr/>
                    <a:lstStyle/>
                    <a:p>
                      <a:pPr indent="0" marL="0">
                        <a:buNone/>
                      </a:pPr>
                      <a:r>
                        <a:rPr lang="en-US" sz="900" dirty="0">
                          <a:solidFill>
                            <a:schemeClr val="tx1"/>
                          </a:solidFill>
                          <a:latin typeface="+mn-lt" pitchFamily="34" charset="0"/>
                          <a:ea typeface="+mn-lt" pitchFamily="34" charset="-122"/>
                          <a:cs typeface="+mn-lt" pitchFamily="34" charset="-120"/>
                        </a:rPr>
                        <a:t>−2.34 / −0.70</a:t>
                      </a:r>
                      <a:endParaRPr lang="en-US" sz="900" dirty="0">
                        <a:latin typeface="+mn-lt" charset="0"/>
                        <a:ea typeface="+mn-lt" charset="0"/>
                        <a:cs typeface="+mn-lt" charset="0"/>
                      </a:endParaRPr>
                    </a:p>
                  </a:txBody>
                  <a:tcPr marL="45720" marR="45720" marT="45720" marB="45720" anchor="t">
                    <a:lnL w="6350" cap="flat" cmpd="sng" algn="ctr">
                      <a:solidFill>
                        <a:srgbClr val="D9E0E8"/>
                      </a:solidFill>
                      <a:prstDash val="solid"/>
                      <a:round/>
                      <a:headEnd type="none" w="med" len="med"/>
                      <a:tailEnd type="none" w="med" len="med"/>
                    </a:lnL>
                    <a:lnR w="6350" cap="flat" cmpd="sng" algn="ctr">
                      <a:solidFill>
                        <a:srgbClr val="D9E0E8"/>
                      </a:solidFill>
                      <a:prstDash val="solid"/>
                      <a:round/>
                      <a:headEnd type="none" w="med" len="med"/>
                      <a:tailEnd type="none" w="med" len="med"/>
                    </a:lnR>
                    <a:lnT w="6350" cap="flat" cmpd="sng" algn="ctr">
                      <a:solidFill>
                        <a:srgbClr val="D9E0E8"/>
                      </a:solidFill>
                      <a:prstDash val="solid"/>
                      <a:round/>
                      <a:headEnd type="none" w="med" len="med"/>
                      <a:tailEnd type="none" w="med" len="med"/>
                    </a:lnT>
                    <a:lnB w="6350" cap="flat" cmpd="sng" algn="ctr">
                      <a:solidFill>
                        <a:srgbClr val="D9E0E8"/>
                      </a:solidFill>
                      <a:prstDash val="solid"/>
                      <a:round/>
                      <a:headEnd type="none" w="med" len="med"/>
                      <a:tailEnd type="none" w="med" len="med"/>
                    </a:lnB>
                    <a:solidFill>
                      <a:schemeClr val="bg2"/>
                    </a:solidFill>
                  </a:tcPr>
                </a:tc>
                <a:tc>
                  <a:txBody>
                    <a:bodyPr/>
                    <a:lstStyle/>
                    <a:p>
                      <a:pPr indent="0" marL="0">
                        <a:buNone/>
                      </a:pPr>
                      <a:r>
                        <a:rPr lang="en-US" sz="900" dirty="0">
                          <a:solidFill>
                            <a:schemeClr val="tx1"/>
                          </a:solidFill>
                          <a:latin typeface="+mn-lt" pitchFamily="34" charset="0"/>
                          <a:ea typeface="+mn-lt" pitchFamily="34" charset="-122"/>
                          <a:cs typeface="+mn-lt" pitchFamily="34" charset="-120"/>
                        </a:rPr>
                        <a:t>−1.81 / −1.02</a:t>
                      </a:r>
                      <a:endParaRPr lang="en-US" sz="900" dirty="0">
                        <a:latin typeface="+mn-lt" charset="0"/>
                        <a:ea typeface="+mn-lt" charset="0"/>
                        <a:cs typeface="+mn-lt" charset="0"/>
                      </a:endParaRPr>
                    </a:p>
                  </a:txBody>
                  <a:tcPr marL="45720" marR="45720" marT="45720" marB="45720" anchor="t">
                    <a:lnL w="6350" cap="flat" cmpd="sng" algn="ctr">
                      <a:solidFill>
                        <a:srgbClr val="D9E0E8"/>
                      </a:solidFill>
                      <a:prstDash val="solid"/>
                      <a:round/>
                      <a:headEnd type="none" w="med" len="med"/>
                      <a:tailEnd type="none" w="med" len="med"/>
                    </a:lnL>
                    <a:lnR w="6350" cap="flat" cmpd="sng" algn="ctr">
                      <a:solidFill>
                        <a:srgbClr val="D9E0E8"/>
                      </a:solidFill>
                      <a:prstDash val="solid"/>
                      <a:round/>
                      <a:headEnd type="none" w="med" len="med"/>
                      <a:tailEnd type="none" w="med" len="med"/>
                    </a:lnR>
                    <a:lnT w="6350" cap="flat" cmpd="sng" algn="ctr">
                      <a:solidFill>
                        <a:srgbClr val="D9E0E8"/>
                      </a:solidFill>
                      <a:prstDash val="solid"/>
                      <a:round/>
                      <a:headEnd type="none" w="med" len="med"/>
                      <a:tailEnd type="none" w="med" len="med"/>
                    </a:lnT>
                    <a:lnB w="6350" cap="flat" cmpd="sng" algn="ctr">
                      <a:solidFill>
                        <a:srgbClr val="D9E0E8"/>
                      </a:solidFill>
                      <a:prstDash val="solid"/>
                      <a:round/>
                      <a:headEnd type="none" w="med" len="med"/>
                      <a:tailEnd type="none" w="med" len="med"/>
                    </a:lnB>
                    <a:solidFill>
                      <a:schemeClr val="bg2"/>
                    </a:solidFill>
                  </a:tcPr>
                </a:tc>
              </a:tr>
              <a:tr h="0">
                <a:tc>
                  <a:txBody>
                    <a:bodyPr/>
                    <a:lstStyle/>
                    <a:p>
                      <a:pPr indent="0" marL="0">
                        <a:buNone/>
                      </a:pPr>
                      <a:r>
                        <a:rPr lang="en-US" sz="900" dirty="0">
                          <a:solidFill>
                            <a:schemeClr val="tx1"/>
                          </a:solidFill>
                          <a:latin typeface="+mn-lt" pitchFamily="34" charset="0"/>
                          <a:ea typeface="+mn-lt" pitchFamily="34" charset="-122"/>
                          <a:cs typeface="+mn-lt" pitchFamily="34" charset="-120"/>
                        </a:rPr>
                        <a:t>ANS (Harvold)</a:t>
                      </a:r>
                      <a:endParaRPr lang="en-US" sz="900" dirty="0">
                        <a:latin typeface="+mn-lt" charset="0"/>
                        <a:ea typeface="+mn-lt" charset="0"/>
                        <a:cs typeface="+mn-lt" charset="0"/>
                      </a:endParaRPr>
                    </a:p>
                  </a:txBody>
                  <a:tcPr marL="45720" marR="45720" marT="45720" marB="45720" anchor="t">
                    <a:lnL w="6350" cap="flat" cmpd="sng" algn="ctr">
                      <a:solidFill>
                        <a:srgbClr val="D9E0E8"/>
                      </a:solidFill>
                      <a:prstDash val="solid"/>
                      <a:round/>
                      <a:headEnd type="none" w="med" len="med"/>
                      <a:tailEnd type="none" w="med" len="med"/>
                    </a:lnL>
                    <a:lnR w="6350" cap="flat" cmpd="sng" algn="ctr">
                      <a:solidFill>
                        <a:srgbClr val="D9E0E8"/>
                      </a:solidFill>
                      <a:prstDash val="solid"/>
                      <a:round/>
                      <a:headEnd type="none" w="med" len="med"/>
                      <a:tailEnd type="none" w="med" len="med"/>
                    </a:lnR>
                    <a:lnT w="6350" cap="flat" cmpd="sng" algn="ctr">
                      <a:solidFill>
                        <a:srgbClr val="D9E0E8"/>
                      </a:solidFill>
                      <a:prstDash val="solid"/>
                      <a:round/>
                      <a:headEnd type="none" w="med" len="med"/>
                      <a:tailEnd type="none" w="med" len="med"/>
                    </a:lnT>
                    <a:lnB w="6350" cap="flat" cmpd="sng" algn="ctr">
                      <a:solidFill>
                        <a:srgbClr val="D9E0E8"/>
                      </a:solidFill>
                      <a:prstDash val="solid"/>
                      <a:round/>
                      <a:headEnd type="none" w="med" len="med"/>
                      <a:tailEnd type="none" w="med" len="med"/>
                    </a:lnB>
                    <a:solidFill>
                      <a:schemeClr val="bg1"/>
                    </a:solidFill>
                  </a:tcPr>
                </a:tc>
                <a:tc>
                  <a:txBody>
                    <a:bodyPr/>
                    <a:lstStyle/>
                    <a:p>
                      <a:pPr indent="0" marL="0">
                        <a:buNone/>
                      </a:pPr>
                      <a:r>
                        <a:rPr lang="en-US" sz="900" dirty="0">
                          <a:solidFill>
                            <a:schemeClr val="tx1"/>
                          </a:solidFill>
                          <a:latin typeface="+mn-lt" pitchFamily="34" charset="0"/>
                          <a:ea typeface="+mn-lt" pitchFamily="34" charset="-122"/>
                          <a:cs typeface="+mn-lt" pitchFamily="34" charset="-120"/>
                        </a:rPr>
                        <a:t>+0.41 / +0.37</a:t>
                      </a:r>
                      <a:endParaRPr lang="en-US" sz="900" dirty="0">
                        <a:latin typeface="+mn-lt" charset="0"/>
                        <a:ea typeface="+mn-lt" charset="0"/>
                        <a:cs typeface="+mn-lt" charset="0"/>
                      </a:endParaRPr>
                    </a:p>
                  </a:txBody>
                  <a:tcPr marL="45720" marR="45720" marT="45720" marB="45720" anchor="t">
                    <a:lnL w="6350" cap="flat" cmpd="sng" algn="ctr">
                      <a:solidFill>
                        <a:srgbClr val="D9E0E8"/>
                      </a:solidFill>
                      <a:prstDash val="solid"/>
                      <a:round/>
                      <a:headEnd type="none" w="med" len="med"/>
                      <a:tailEnd type="none" w="med" len="med"/>
                    </a:lnL>
                    <a:lnR w="6350" cap="flat" cmpd="sng" algn="ctr">
                      <a:solidFill>
                        <a:srgbClr val="D9E0E8"/>
                      </a:solidFill>
                      <a:prstDash val="solid"/>
                      <a:round/>
                      <a:headEnd type="none" w="med" len="med"/>
                      <a:tailEnd type="none" w="med" len="med"/>
                    </a:lnR>
                    <a:lnT w="6350" cap="flat" cmpd="sng" algn="ctr">
                      <a:solidFill>
                        <a:srgbClr val="D9E0E8"/>
                      </a:solidFill>
                      <a:prstDash val="solid"/>
                      <a:round/>
                      <a:headEnd type="none" w="med" len="med"/>
                      <a:tailEnd type="none" w="med" len="med"/>
                    </a:lnT>
                    <a:lnB w="6350" cap="flat" cmpd="sng" algn="ctr">
                      <a:solidFill>
                        <a:srgbClr val="D9E0E8"/>
                      </a:solidFill>
                      <a:prstDash val="solid"/>
                      <a:round/>
                      <a:headEnd type="none" w="med" len="med"/>
                      <a:tailEnd type="none" w="med" len="med"/>
                    </a:lnB>
                    <a:solidFill>
                      <a:schemeClr val="bg1"/>
                    </a:solidFill>
                  </a:tcPr>
                </a:tc>
                <a:tc>
                  <a:txBody>
                    <a:bodyPr/>
                    <a:lstStyle/>
                    <a:p>
                      <a:pPr indent="0" marL="0">
                        <a:buNone/>
                      </a:pPr>
                      <a:r>
                        <a:rPr lang="en-US" sz="900" dirty="0">
                          <a:solidFill>
                            <a:schemeClr val="tx1"/>
                          </a:solidFill>
                          <a:latin typeface="+mn-lt" pitchFamily="34" charset="0"/>
                          <a:ea typeface="+mn-lt" pitchFamily="34" charset="-122"/>
                          <a:cs typeface="+mn-lt" pitchFamily="34" charset="-120"/>
                        </a:rPr>
                        <a:t>−0.91 / −1.56</a:t>
                      </a:r>
                      <a:endParaRPr lang="en-US" sz="900" dirty="0">
                        <a:latin typeface="+mn-lt" charset="0"/>
                        <a:ea typeface="+mn-lt" charset="0"/>
                        <a:cs typeface="+mn-lt" charset="0"/>
                      </a:endParaRPr>
                    </a:p>
                  </a:txBody>
                  <a:tcPr marL="45720" marR="45720" marT="45720" marB="45720" anchor="t">
                    <a:lnL w="6350" cap="flat" cmpd="sng" algn="ctr">
                      <a:solidFill>
                        <a:srgbClr val="D9E0E8"/>
                      </a:solidFill>
                      <a:prstDash val="solid"/>
                      <a:round/>
                      <a:headEnd type="none" w="med" len="med"/>
                      <a:tailEnd type="none" w="med" len="med"/>
                    </a:lnL>
                    <a:lnR w="6350" cap="flat" cmpd="sng" algn="ctr">
                      <a:solidFill>
                        <a:srgbClr val="D9E0E8"/>
                      </a:solidFill>
                      <a:prstDash val="solid"/>
                      <a:round/>
                      <a:headEnd type="none" w="med" len="med"/>
                      <a:tailEnd type="none" w="med" len="med"/>
                    </a:lnR>
                    <a:lnT w="6350" cap="flat" cmpd="sng" algn="ctr">
                      <a:solidFill>
                        <a:srgbClr val="D9E0E8"/>
                      </a:solidFill>
                      <a:prstDash val="solid"/>
                      <a:round/>
                      <a:headEnd type="none" w="med" len="med"/>
                      <a:tailEnd type="none" w="med" len="med"/>
                    </a:lnT>
                    <a:lnB w="6350" cap="flat" cmpd="sng" algn="ctr">
                      <a:solidFill>
                        <a:srgbClr val="D9E0E8"/>
                      </a:solidFill>
                      <a:prstDash val="solid"/>
                      <a:round/>
                      <a:headEnd type="none" w="med" len="med"/>
                      <a:tailEnd type="none" w="med" len="med"/>
                    </a:lnB>
                    <a:solidFill>
                      <a:schemeClr val="bg1"/>
                    </a:solidFill>
                  </a:tcPr>
                </a:tc>
                <a:tc>
                  <a:txBody>
                    <a:bodyPr/>
                    <a:lstStyle/>
                    <a:p>
                      <a:pPr indent="0" marL="0">
                        <a:buNone/>
                      </a:pPr>
                      <a:r>
                        <a:rPr lang="en-US" sz="900" dirty="0">
                          <a:solidFill>
                            <a:schemeClr val="tx1"/>
                          </a:solidFill>
                          <a:latin typeface="+mn-lt" pitchFamily="34" charset="0"/>
                          <a:ea typeface="+mn-lt" pitchFamily="34" charset="-122"/>
                          <a:cs typeface="+mn-lt" pitchFamily="34" charset="-120"/>
                        </a:rPr>
                        <a:t>−0.34 / −1.62</a:t>
                      </a:r>
                      <a:endParaRPr lang="en-US" sz="900" dirty="0">
                        <a:latin typeface="+mn-lt" charset="0"/>
                        <a:ea typeface="+mn-lt" charset="0"/>
                        <a:cs typeface="+mn-lt" charset="0"/>
                      </a:endParaRPr>
                    </a:p>
                  </a:txBody>
                  <a:tcPr marL="45720" marR="45720" marT="45720" marB="45720" anchor="t">
                    <a:lnL w="6350" cap="flat" cmpd="sng" algn="ctr">
                      <a:solidFill>
                        <a:srgbClr val="D9E0E8"/>
                      </a:solidFill>
                      <a:prstDash val="solid"/>
                      <a:round/>
                      <a:headEnd type="none" w="med" len="med"/>
                      <a:tailEnd type="none" w="med" len="med"/>
                    </a:lnL>
                    <a:lnR w="6350" cap="flat" cmpd="sng" algn="ctr">
                      <a:solidFill>
                        <a:srgbClr val="D9E0E8"/>
                      </a:solidFill>
                      <a:prstDash val="solid"/>
                      <a:round/>
                      <a:headEnd type="none" w="med" len="med"/>
                      <a:tailEnd type="none" w="med" len="med"/>
                    </a:lnR>
                    <a:lnT w="6350" cap="flat" cmpd="sng" algn="ctr">
                      <a:solidFill>
                        <a:srgbClr val="D9E0E8"/>
                      </a:solidFill>
                      <a:prstDash val="solid"/>
                      <a:round/>
                      <a:headEnd type="none" w="med" len="med"/>
                      <a:tailEnd type="none" w="med" len="med"/>
                    </a:lnT>
                    <a:lnB w="6350" cap="flat" cmpd="sng" algn="ctr">
                      <a:solidFill>
                        <a:srgbClr val="D9E0E8"/>
                      </a:solidFill>
                      <a:prstDash val="solid"/>
                      <a:round/>
                      <a:headEnd type="none" w="med" len="med"/>
                      <a:tailEnd type="none" w="med" len="med"/>
                    </a:lnB>
                    <a:solidFill>
                      <a:schemeClr val="bg1"/>
                    </a:solidFill>
                  </a:tcPr>
                </a:tc>
              </a:tr>
              <a:tr h="0">
                <a:tc>
                  <a:txBody>
                    <a:bodyPr/>
                    <a:lstStyle/>
                    <a:p>
                      <a:pPr indent="0" marL="0">
                        <a:buNone/>
                      </a:pPr>
                      <a:r>
                        <a:rPr lang="en-US" sz="900" dirty="0">
                          <a:solidFill>
                            <a:schemeClr val="tx1"/>
                          </a:solidFill>
                          <a:latin typeface="+mn-lt" pitchFamily="34" charset="0"/>
                          <a:ea typeface="+mn-lt" pitchFamily="34" charset="-122"/>
                          <a:cs typeface="+mn-lt" pitchFamily="34" charset="-120"/>
                        </a:rPr>
                        <a:t>ANS</a:t>
                      </a:r>
                      <a:endParaRPr lang="en-US" sz="900" dirty="0">
                        <a:latin typeface="+mn-lt" charset="0"/>
                        <a:ea typeface="+mn-lt" charset="0"/>
                        <a:cs typeface="+mn-lt" charset="0"/>
                      </a:endParaRPr>
                    </a:p>
                  </a:txBody>
                  <a:tcPr marL="45720" marR="45720" marT="45720" marB="45720" anchor="t">
                    <a:lnL w="6350" cap="flat" cmpd="sng" algn="ctr">
                      <a:solidFill>
                        <a:srgbClr val="D9E0E8"/>
                      </a:solidFill>
                      <a:prstDash val="solid"/>
                      <a:round/>
                      <a:headEnd type="none" w="med" len="med"/>
                      <a:tailEnd type="none" w="med" len="med"/>
                    </a:lnL>
                    <a:lnR w="6350" cap="flat" cmpd="sng" algn="ctr">
                      <a:solidFill>
                        <a:srgbClr val="D9E0E8"/>
                      </a:solidFill>
                      <a:prstDash val="solid"/>
                      <a:round/>
                      <a:headEnd type="none" w="med" len="med"/>
                      <a:tailEnd type="none" w="med" len="med"/>
                    </a:lnR>
                    <a:lnT w="6350" cap="flat" cmpd="sng" algn="ctr">
                      <a:solidFill>
                        <a:srgbClr val="D9E0E8"/>
                      </a:solidFill>
                      <a:prstDash val="solid"/>
                      <a:round/>
                      <a:headEnd type="none" w="med" len="med"/>
                      <a:tailEnd type="none" w="med" len="med"/>
                    </a:lnT>
                    <a:lnB w="6350" cap="flat" cmpd="sng" algn="ctr">
                      <a:solidFill>
                        <a:srgbClr val="D9E0E8"/>
                      </a:solidFill>
                      <a:prstDash val="solid"/>
                      <a:round/>
                      <a:headEnd type="none" w="med" len="med"/>
                      <a:tailEnd type="none" w="med" len="med"/>
                    </a:lnB>
                    <a:solidFill>
                      <a:schemeClr val="bg2"/>
                    </a:solidFill>
                  </a:tcPr>
                </a:tc>
                <a:tc>
                  <a:txBody>
                    <a:bodyPr/>
                    <a:lstStyle/>
                    <a:p>
                      <a:pPr indent="0" marL="0">
                        <a:buNone/>
                      </a:pPr>
                      <a:r>
                        <a:rPr lang="en-US" sz="900" dirty="0">
                          <a:solidFill>
                            <a:schemeClr val="tx1"/>
                          </a:solidFill>
                          <a:latin typeface="+mn-lt" pitchFamily="34" charset="0"/>
                          <a:ea typeface="+mn-lt" pitchFamily="34" charset="-122"/>
                          <a:cs typeface="+mn-lt" pitchFamily="34" charset="-120"/>
                        </a:rPr>
                        <a:t>+0.62 / +0.28</a:t>
                      </a:r>
                      <a:endParaRPr lang="en-US" sz="900" dirty="0">
                        <a:latin typeface="+mn-lt" charset="0"/>
                        <a:ea typeface="+mn-lt" charset="0"/>
                        <a:cs typeface="+mn-lt" charset="0"/>
                      </a:endParaRPr>
                    </a:p>
                  </a:txBody>
                  <a:tcPr marL="45720" marR="45720" marT="45720" marB="45720" anchor="t">
                    <a:lnL w="6350" cap="flat" cmpd="sng" algn="ctr">
                      <a:solidFill>
                        <a:srgbClr val="D9E0E8"/>
                      </a:solidFill>
                      <a:prstDash val="solid"/>
                      <a:round/>
                      <a:headEnd type="none" w="med" len="med"/>
                      <a:tailEnd type="none" w="med" len="med"/>
                    </a:lnL>
                    <a:lnR w="6350" cap="flat" cmpd="sng" algn="ctr">
                      <a:solidFill>
                        <a:srgbClr val="D9E0E8"/>
                      </a:solidFill>
                      <a:prstDash val="solid"/>
                      <a:round/>
                      <a:headEnd type="none" w="med" len="med"/>
                      <a:tailEnd type="none" w="med" len="med"/>
                    </a:lnR>
                    <a:lnT w="6350" cap="flat" cmpd="sng" algn="ctr">
                      <a:solidFill>
                        <a:srgbClr val="D9E0E8"/>
                      </a:solidFill>
                      <a:prstDash val="solid"/>
                      <a:round/>
                      <a:headEnd type="none" w="med" len="med"/>
                      <a:tailEnd type="none" w="med" len="med"/>
                    </a:lnT>
                    <a:lnB w="6350" cap="flat" cmpd="sng" algn="ctr">
                      <a:solidFill>
                        <a:srgbClr val="D9E0E8"/>
                      </a:solidFill>
                      <a:prstDash val="solid"/>
                      <a:round/>
                      <a:headEnd type="none" w="med" len="med"/>
                      <a:tailEnd type="none" w="med" len="med"/>
                    </a:lnB>
                    <a:solidFill>
                      <a:schemeClr val="bg2"/>
                    </a:solidFill>
                  </a:tcPr>
                </a:tc>
                <a:tc>
                  <a:txBody>
                    <a:bodyPr/>
                    <a:lstStyle/>
                    <a:p>
                      <a:pPr indent="0" marL="0">
                        <a:buNone/>
                      </a:pPr>
                      <a:r>
                        <a:rPr lang="en-US" sz="900" dirty="0">
                          <a:solidFill>
                            <a:schemeClr val="tx1"/>
                          </a:solidFill>
                          <a:latin typeface="+mn-lt" pitchFamily="34" charset="0"/>
                          <a:ea typeface="+mn-lt" pitchFamily="34" charset="-122"/>
                          <a:cs typeface="+mn-lt" pitchFamily="34" charset="-120"/>
                        </a:rPr>
                        <a:t>−0.63 / −1.62</a:t>
                      </a:r>
                      <a:endParaRPr lang="en-US" sz="900" dirty="0">
                        <a:latin typeface="+mn-lt" charset="0"/>
                        <a:ea typeface="+mn-lt" charset="0"/>
                        <a:cs typeface="+mn-lt" charset="0"/>
                      </a:endParaRPr>
                    </a:p>
                  </a:txBody>
                  <a:tcPr marL="45720" marR="45720" marT="45720" marB="45720" anchor="t">
                    <a:lnL w="6350" cap="flat" cmpd="sng" algn="ctr">
                      <a:solidFill>
                        <a:srgbClr val="D9E0E8"/>
                      </a:solidFill>
                      <a:prstDash val="solid"/>
                      <a:round/>
                      <a:headEnd type="none" w="med" len="med"/>
                      <a:tailEnd type="none" w="med" len="med"/>
                    </a:lnL>
                    <a:lnR w="6350" cap="flat" cmpd="sng" algn="ctr">
                      <a:solidFill>
                        <a:srgbClr val="D9E0E8"/>
                      </a:solidFill>
                      <a:prstDash val="solid"/>
                      <a:round/>
                      <a:headEnd type="none" w="med" len="med"/>
                      <a:tailEnd type="none" w="med" len="med"/>
                    </a:lnR>
                    <a:lnT w="6350" cap="flat" cmpd="sng" algn="ctr">
                      <a:solidFill>
                        <a:srgbClr val="D9E0E8"/>
                      </a:solidFill>
                      <a:prstDash val="solid"/>
                      <a:round/>
                      <a:headEnd type="none" w="med" len="med"/>
                      <a:tailEnd type="none" w="med" len="med"/>
                    </a:lnT>
                    <a:lnB w="6350" cap="flat" cmpd="sng" algn="ctr">
                      <a:solidFill>
                        <a:srgbClr val="D9E0E8"/>
                      </a:solidFill>
                      <a:prstDash val="solid"/>
                      <a:round/>
                      <a:headEnd type="none" w="med" len="med"/>
                      <a:tailEnd type="none" w="med" len="med"/>
                    </a:lnB>
                    <a:solidFill>
                      <a:schemeClr val="bg2"/>
                    </a:solidFill>
                  </a:tcPr>
                </a:tc>
                <a:tc>
                  <a:txBody>
                    <a:bodyPr/>
                    <a:lstStyle/>
                    <a:p>
                      <a:pPr indent="0" marL="0">
                        <a:buNone/>
                      </a:pPr>
                      <a:r>
                        <a:rPr lang="en-US" sz="900" dirty="0">
                          <a:solidFill>
                            <a:schemeClr val="tx1"/>
                          </a:solidFill>
                          <a:latin typeface="+mn-lt" pitchFamily="34" charset="0"/>
                          <a:ea typeface="+mn-lt" pitchFamily="34" charset="-122"/>
                          <a:cs typeface="+mn-lt" pitchFamily="34" charset="-120"/>
                        </a:rPr>
                        <a:t>−0.12 / −1.72</a:t>
                      </a:r>
                      <a:endParaRPr lang="en-US" sz="900" dirty="0">
                        <a:latin typeface="+mn-lt" charset="0"/>
                        <a:ea typeface="+mn-lt" charset="0"/>
                        <a:cs typeface="+mn-lt" charset="0"/>
                      </a:endParaRPr>
                    </a:p>
                  </a:txBody>
                  <a:tcPr marL="45720" marR="45720" marT="45720" marB="45720" anchor="t">
                    <a:lnL w="6350" cap="flat" cmpd="sng" algn="ctr">
                      <a:solidFill>
                        <a:srgbClr val="D9E0E8"/>
                      </a:solidFill>
                      <a:prstDash val="solid"/>
                      <a:round/>
                      <a:headEnd type="none" w="med" len="med"/>
                      <a:tailEnd type="none" w="med" len="med"/>
                    </a:lnL>
                    <a:lnR w="6350" cap="flat" cmpd="sng" algn="ctr">
                      <a:solidFill>
                        <a:srgbClr val="D9E0E8"/>
                      </a:solidFill>
                      <a:prstDash val="solid"/>
                      <a:round/>
                      <a:headEnd type="none" w="med" len="med"/>
                      <a:tailEnd type="none" w="med" len="med"/>
                    </a:lnR>
                    <a:lnT w="6350" cap="flat" cmpd="sng" algn="ctr">
                      <a:solidFill>
                        <a:srgbClr val="D9E0E8"/>
                      </a:solidFill>
                      <a:prstDash val="solid"/>
                      <a:round/>
                      <a:headEnd type="none" w="med" len="med"/>
                      <a:tailEnd type="none" w="med" len="med"/>
                    </a:lnT>
                    <a:lnB w="6350" cap="flat" cmpd="sng" algn="ctr">
                      <a:solidFill>
                        <a:srgbClr val="D9E0E8"/>
                      </a:solidFill>
                      <a:prstDash val="solid"/>
                      <a:round/>
                      <a:headEnd type="none" w="med" len="med"/>
                      <a:tailEnd type="none" w="med" len="med"/>
                    </a:lnB>
                    <a:solidFill>
                      <a:schemeClr val="bg2"/>
                    </a:solidFill>
                  </a:tcPr>
                </a:tc>
              </a:tr>
              <a:tr h="0">
                <a:tc>
                  <a:txBody>
                    <a:bodyPr/>
                    <a:lstStyle/>
                    <a:p>
                      <a:pPr indent="0" marL="0">
                        <a:buNone/>
                      </a:pPr>
                      <a:r>
                        <a:rPr lang="en-US" sz="900" dirty="0">
                          <a:solidFill>
                            <a:schemeClr val="tx1"/>
                          </a:solidFill>
                          <a:latin typeface="+mn-lt" pitchFamily="34" charset="0"/>
                          <a:ea typeface="+mn-lt" pitchFamily="34" charset="-122"/>
                          <a:cs typeface="+mn-lt" pitchFamily="34" charset="-120"/>
                        </a:rPr>
                        <a:t>A point</a:t>
                      </a:r>
                      <a:endParaRPr lang="en-US" sz="900" dirty="0">
                        <a:latin typeface="+mn-lt" charset="0"/>
                        <a:ea typeface="+mn-lt" charset="0"/>
                        <a:cs typeface="+mn-lt" charset="0"/>
                      </a:endParaRPr>
                    </a:p>
                  </a:txBody>
                  <a:tcPr marL="45720" marR="45720" marT="45720" marB="45720" anchor="t">
                    <a:lnL w="6350" cap="flat" cmpd="sng" algn="ctr">
                      <a:solidFill>
                        <a:srgbClr val="D9E0E8"/>
                      </a:solidFill>
                      <a:prstDash val="solid"/>
                      <a:round/>
                      <a:headEnd type="none" w="med" len="med"/>
                      <a:tailEnd type="none" w="med" len="med"/>
                    </a:lnL>
                    <a:lnR w="6350" cap="flat" cmpd="sng" algn="ctr">
                      <a:solidFill>
                        <a:srgbClr val="D9E0E8"/>
                      </a:solidFill>
                      <a:prstDash val="solid"/>
                      <a:round/>
                      <a:headEnd type="none" w="med" len="med"/>
                      <a:tailEnd type="none" w="med" len="med"/>
                    </a:lnR>
                    <a:lnT w="6350" cap="flat" cmpd="sng" algn="ctr">
                      <a:solidFill>
                        <a:srgbClr val="D9E0E8"/>
                      </a:solidFill>
                      <a:prstDash val="solid"/>
                      <a:round/>
                      <a:headEnd type="none" w="med" len="med"/>
                      <a:tailEnd type="none" w="med" len="med"/>
                    </a:lnT>
                    <a:lnB w="6350" cap="flat" cmpd="sng" algn="ctr">
                      <a:solidFill>
                        <a:srgbClr val="D9E0E8"/>
                      </a:solidFill>
                      <a:prstDash val="solid"/>
                      <a:round/>
                      <a:headEnd type="none" w="med" len="med"/>
                      <a:tailEnd type="none" w="med" len="med"/>
                    </a:lnB>
                    <a:solidFill>
                      <a:schemeClr val="bg1"/>
                    </a:solidFill>
                  </a:tcPr>
                </a:tc>
                <a:tc>
                  <a:txBody>
                    <a:bodyPr/>
                    <a:lstStyle/>
                    <a:p>
                      <a:pPr indent="0" marL="0">
                        <a:buNone/>
                      </a:pPr>
                      <a:r>
                        <a:rPr lang="en-US" sz="900" dirty="0">
                          <a:solidFill>
                            <a:schemeClr val="tx1"/>
                          </a:solidFill>
                          <a:latin typeface="+mn-lt" pitchFamily="34" charset="0"/>
                          <a:ea typeface="+mn-lt" pitchFamily="34" charset="-122"/>
                          <a:cs typeface="+mn-lt" pitchFamily="34" charset="-120"/>
                        </a:rPr>
                        <a:t>+0.14 / −0.47</a:t>
                      </a:r>
                      <a:endParaRPr lang="en-US" sz="900" dirty="0">
                        <a:latin typeface="+mn-lt" charset="0"/>
                        <a:ea typeface="+mn-lt" charset="0"/>
                        <a:cs typeface="+mn-lt" charset="0"/>
                      </a:endParaRPr>
                    </a:p>
                  </a:txBody>
                  <a:tcPr marL="45720" marR="45720" marT="45720" marB="45720" anchor="t">
                    <a:lnL w="6350" cap="flat" cmpd="sng" algn="ctr">
                      <a:solidFill>
                        <a:srgbClr val="D9E0E8"/>
                      </a:solidFill>
                      <a:prstDash val="solid"/>
                      <a:round/>
                      <a:headEnd type="none" w="med" len="med"/>
                      <a:tailEnd type="none" w="med" len="med"/>
                    </a:lnL>
                    <a:lnR w="6350" cap="flat" cmpd="sng" algn="ctr">
                      <a:solidFill>
                        <a:srgbClr val="D9E0E8"/>
                      </a:solidFill>
                      <a:prstDash val="solid"/>
                      <a:round/>
                      <a:headEnd type="none" w="med" len="med"/>
                      <a:tailEnd type="none" w="med" len="med"/>
                    </a:lnR>
                    <a:lnT w="6350" cap="flat" cmpd="sng" algn="ctr">
                      <a:solidFill>
                        <a:srgbClr val="D9E0E8"/>
                      </a:solidFill>
                      <a:prstDash val="solid"/>
                      <a:round/>
                      <a:headEnd type="none" w="med" len="med"/>
                      <a:tailEnd type="none" w="med" len="med"/>
                    </a:lnT>
                    <a:lnB w="6350" cap="flat" cmpd="sng" algn="ctr">
                      <a:solidFill>
                        <a:srgbClr val="D9E0E8"/>
                      </a:solidFill>
                      <a:prstDash val="solid"/>
                      <a:round/>
                      <a:headEnd type="none" w="med" len="med"/>
                      <a:tailEnd type="none" w="med" len="med"/>
                    </a:lnB>
                    <a:solidFill>
                      <a:schemeClr val="bg1"/>
                    </a:solidFill>
                  </a:tcPr>
                </a:tc>
                <a:tc>
                  <a:txBody>
                    <a:bodyPr/>
                    <a:lstStyle/>
                    <a:p>
                      <a:pPr indent="0" marL="0">
                        <a:buNone/>
                      </a:pPr>
                      <a:r>
                        <a:rPr lang="en-US" sz="900" dirty="0">
                          <a:solidFill>
                            <a:schemeClr val="tx1"/>
                          </a:solidFill>
                          <a:latin typeface="+mn-lt" pitchFamily="34" charset="0"/>
                          <a:ea typeface="+mn-lt" pitchFamily="34" charset="-122"/>
                          <a:cs typeface="+mn-lt" pitchFamily="34" charset="-120"/>
                        </a:rPr>
                        <a:t>−0.78 / −2.33</a:t>
                      </a:r>
                      <a:endParaRPr lang="en-US" sz="900" dirty="0">
                        <a:latin typeface="+mn-lt" charset="0"/>
                        <a:ea typeface="+mn-lt" charset="0"/>
                        <a:cs typeface="+mn-lt" charset="0"/>
                      </a:endParaRPr>
                    </a:p>
                  </a:txBody>
                  <a:tcPr marL="45720" marR="45720" marT="45720" marB="45720" anchor="t">
                    <a:lnL w="6350" cap="flat" cmpd="sng" algn="ctr">
                      <a:solidFill>
                        <a:srgbClr val="D9E0E8"/>
                      </a:solidFill>
                      <a:prstDash val="solid"/>
                      <a:round/>
                      <a:headEnd type="none" w="med" len="med"/>
                      <a:tailEnd type="none" w="med" len="med"/>
                    </a:lnL>
                    <a:lnR w="6350" cap="flat" cmpd="sng" algn="ctr">
                      <a:solidFill>
                        <a:srgbClr val="D9E0E8"/>
                      </a:solidFill>
                      <a:prstDash val="solid"/>
                      <a:round/>
                      <a:headEnd type="none" w="med" len="med"/>
                      <a:tailEnd type="none" w="med" len="med"/>
                    </a:lnR>
                    <a:lnT w="6350" cap="flat" cmpd="sng" algn="ctr">
                      <a:solidFill>
                        <a:srgbClr val="D9E0E8"/>
                      </a:solidFill>
                      <a:prstDash val="solid"/>
                      <a:round/>
                      <a:headEnd type="none" w="med" len="med"/>
                      <a:tailEnd type="none" w="med" len="med"/>
                    </a:lnT>
                    <a:lnB w="6350" cap="flat" cmpd="sng" algn="ctr">
                      <a:solidFill>
                        <a:srgbClr val="D9E0E8"/>
                      </a:solidFill>
                      <a:prstDash val="solid"/>
                      <a:round/>
                      <a:headEnd type="none" w="med" len="med"/>
                      <a:tailEnd type="none" w="med" len="med"/>
                    </a:lnB>
                    <a:solidFill>
                      <a:schemeClr val="bg1"/>
                    </a:solidFill>
                  </a:tcPr>
                </a:tc>
                <a:tc>
                  <a:txBody>
                    <a:bodyPr/>
                    <a:lstStyle/>
                    <a:p>
                      <a:pPr indent="0" marL="0">
                        <a:buNone/>
                      </a:pPr>
                      <a:r>
                        <a:rPr lang="en-US" sz="900" dirty="0">
                          <a:solidFill>
                            <a:schemeClr val="tx1"/>
                          </a:solidFill>
                          <a:latin typeface="+mn-lt" pitchFamily="34" charset="0"/>
                          <a:ea typeface="+mn-lt" pitchFamily="34" charset="-122"/>
                          <a:cs typeface="+mn-lt" pitchFamily="34" charset="-120"/>
                        </a:rPr>
                        <a:t>−0.65 / −2.43</a:t>
                      </a:r>
                      <a:endParaRPr lang="en-US" sz="900" dirty="0">
                        <a:latin typeface="+mn-lt" charset="0"/>
                        <a:ea typeface="+mn-lt" charset="0"/>
                        <a:cs typeface="+mn-lt" charset="0"/>
                      </a:endParaRPr>
                    </a:p>
                  </a:txBody>
                  <a:tcPr marL="45720" marR="45720" marT="45720" marB="45720" anchor="t">
                    <a:lnL w="6350" cap="flat" cmpd="sng" algn="ctr">
                      <a:solidFill>
                        <a:srgbClr val="D9E0E8"/>
                      </a:solidFill>
                      <a:prstDash val="solid"/>
                      <a:round/>
                      <a:headEnd type="none" w="med" len="med"/>
                      <a:tailEnd type="none" w="med" len="med"/>
                    </a:lnL>
                    <a:lnR w="6350" cap="flat" cmpd="sng" algn="ctr">
                      <a:solidFill>
                        <a:srgbClr val="D9E0E8"/>
                      </a:solidFill>
                      <a:prstDash val="solid"/>
                      <a:round/>
                      <a:headEnd type="none" w="med" len="med"/>
                      <a:tailEnd type="none" w="med" len="med"/>
                    </a:lnR>
                    <a:lnT w="6350" cap="flat" cmpd="sng" algn="ctr">
                      <a:solidFill>
                        <a:srgbClr val="D9E0E8"/>
                      </a:solidFill>
                      <a:prstDash val="solid"/>
                      <a:round/>
                      <a:headEnd type="none" w="med" len="med"/>
                      <a:tailEnd type="none" w="med" len="med"/>
                    </a:lnT>
                    <a:lnB w="6350" cap="flat" cmpd="sng" algn="ctr">
                      <a:solidFill>
                        <a:srgbClr val="D9E0E8"/>
                      </a:solidFill>
                      <a:prstDash val="solid"/>
                      <a:round/>
                      <a:headEnd type="none" w="med" len="med"/>
                      <a:tailEnd type="none" w="med" len="med"/>
                    </a:lnB>
                    <a:solidFill>
                      <a:schemeClr val="bg1"/>
                    </a:solidFill>
                  </a:tcPr>
                </a:tc>
              </a:tr>
            </a:tbl>
          </a:graphicData>
        </a:graphic>
      </p:graphicFrame>
      <p:sp>
        <p:nvSpPr>
          <p:cNvPr id="25" name="Slide Number Placeholder 0"/>
          <p:cNvSpPr>
            <a:spLocks noGrp="1"/>
          </p:cNvSpPr>
          <p:nvPr>
            <p:ph type="sldNum" sz="quarter" idx="4294967295"/>
          </p:nvPr>
        </p:nvSpPr>
        <p:spPr>
          <a:xfrm>
            <a:off x="8321040" y="4754880"/>
            <a:ext cx="36576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l"/>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731520"/>
          </a:xfrm>
          <a:prstGeom prst="rect">
            <a:avLst/>
          </a:prstGeom>
          <a:noFill/>
          <a:ln/>
        </p:spPr>
        <p:txBody>
          <a:bodyPr wrap="square" lIns="0" tIns="0" rIns="0" bIns="0" rtlCol="0" anchor="ctr"/>
          <a:lstStyle/>
          <a:p>
            <a:pPr algn="l" indent="0" marL="0">
              <a:buNone/>
            </a:pPr>
            <a:r>
              <a:rPr lang="en-US" sz="2800" b="1" dirty="0">
                <a:solidFill>
                  <a:schemeClr val="tx2"/>
                </a:solidFill>
              </a:rPr>
              <a:t>Backup: the key tables (continued)</a:t>
            </a:r>
            <a:endParaRPr lang="en-US" sz="2800" dirty="0"/>
          </a:p>
        </p:txBody>
      </p:sp>
      <p:graphicFrame>
        <p:nvGraphicFramePr>
          <p:cNvPr id="22" name="table"/>
          <p:cNvGraphicFramePr>
            <a:graphicFrameLocks noGrp="1"/>
          </p:cNvGraphicFramePr>
          <p:nvPr>
            <p:extLst>
              <p:ext uri="{D42A27DB-BD31-4B8C-83A1-F6EECF244321}">
                <p14:modId xmlns:p14="http://schemas.microsoft.com/office/powerpoint/2010/main" val="1579011935"/>
              </p:ext>
            </p:extLst>
          </p:nvPr>
        </p:nvGraphicFramePr>
        <p:xfrm>
          <a:off x="457200" y="1188720"/>
          <a:ext cx="8229600" cy="914400"/>
        </p:xfrm>
        <a:graphic>
          <a:graphicData uri="http://schemas.openxmlformats.org/drawingml/2006/table">
            <a:tbl>
              <a:tblPr/>
              <a:tblGrid>
                <a:gridCol w="2139696"/>
                <a:gridCol w="1217981"/>
                <a:gridCol w="1217981"/>
                <a:gridCol w="1217981"/>
                <a:gridCol w="1217981"/>
                <a:gridCol w="1217981"/>
              </a:tblGrid>
              <a:tr h="0">
                <a:tc>
                  <a:txBody>
                    <a:bodyPr/>
                    <a:lstStyle/>
                    <a:p>
                      <a:pPr indent="0" marL="0">
                        <a:buNone/>
                      </a:pPr>
                      <a:r>
                        <a:rPr lang="en-US" sz="1200" b="1" dirty="0">
                          <a:solidFill>
                            <a:schemeClr val="bg1"/>
                          </a:solidFill>
                          <a:latin typeface="+mn-lt" pitchFamily="34" charset="0"/>
                          <a:ea typeface="+mn-lt" pitchFamily="34" charset="-122"/>
                          <a:cs typeface="+mn-lt" pitchFamily="34" charset="-120"/>
                        </a:rPr>
                        <a:t>Structure</a:t>
                      </a:r>
                      <a:endParaRPr lang="en-US" sz="1200" dirty="0">
                        <a:latin typeface="+mn-lt" charset="0"/>
                        <a:ea typeface="+mn-lt" charset="0"/>
                        <a:cs typeface="+mn-lt" charset="0"/>
                      </a:endParaRPr>
                    </a:p>
                  </a:txBody>
                  <a:tcPr marL="45720" marR="45720" marT="45720" marB="45720" anchor="t">
                    <a:lnL w="6350" cap="flat" cmpd="sng" algn="ctr">
                      <a:solidFill>
                        <a:srgbClr val="D9E0E8"/>
                      </a:solidFill>
                      <a:prstDash val="solid"/>
                      <a:round/>
                      <a:headEnd type="none" w="med" len="med"/>
                      <a:tailEnd type="none" w="med" len="med"/>
                    </a:lnL>
                    <a:lnR w="6350" cap="flat" cmpd="sng" algn="ctr">
                      <a:solidFill>
                        <a:srgbClr val="D9E0E8"/>
                      </a:solidFill>
                      <a:prstDash val="solid"/>
                      <a:round/>
                      <a:headEnd type="none" w="med" len="med"/>
                      <a:tailEnd type="none" w="med" len="med"/>
                    </a:lnR>
                    <a:lnT w="6350" cap="flat" cmpd="sng" algn="ctr">
                      <a:solidFill>
                        <a:srgbClr val="D9E0E8"/>
                      </a:solidFill>
                      <a:prstDash val="solid"/>
                      <a:round/>
                      <a:headEnd type="none" w="med" len="med"/>
                      <a:tailEnd type="none" w="med" len="med"/>
                    </a:lnT>
                    <a:lnB w="6350" cap="flat" cmpd="sng" algn="ctr">
                      <a:solidFill>
                        <a:srgbClr val="D9E0E8"/>
                      </a:solidFill>
                      <a:prstDash val="solid"/>
                      <a:round/>
                      <a:headEnd type="none" w="med" len="med"/>
                      <a:tailEnd type="none" w="med" len="med"/>
                    </a:lnB>
                    <a:solidFill>
                      <a:schemeClr val="tx2"/>
                    </a:solidFill>
                  </a:tcPr>
                </a:tc>
                <a:tc>
                  <a:txBody>
                    <a:bodyPr/>
                    <a:lstStyle/>
                    <a:p>
                      <a:pPr indent="0" marL="0">
                        <a:buNone/>
                      </a:pPr>
                      <a:r>
                        <a:rPr lang="en-US" sz="1200" b="1" dirty="0">
                          <a:solidFill>
                            <a:schemeClr val="bg1"/>
                          </a:solidFill>
                          <a:latin typeface="+mn-lt" pitchFamily="34" charset="0"/>
                          <a:ea typeface="+mn-lt" pitchFamily="34" charset="-122"/>
                          <a:cs typeface="+mn-lt" pitchFamily="34" charset="-120"/>
                        </a:rPr>
                        <a:t>n</a:t>
                      </a:r>
                      <a:endParaRPr lang="en-US" sz="1200" dirty="0">
                        <a:latin typeface="+mn-lt" charset="0"/>
                        <a:ea typeface="+mn-lt" charset="0"/>
                        <a:cs typeface="+mn-lt" charset="0"/>
                      </a:endParaRPr>
                    </a:p>
                  </a:txBody>
                  <a:tcPr marL="45720" marR="45720" marT="45720" marB="45720" anchor="t">
                    <a:lnL w="6350" cap="flat" cmpd="sng" algn="ctr">
                      <a:solidFill>
                        <a:srgbClr val="D9E0E8"/>
                      </a:solidFill>
                      <a:prstDash val="solid"/>
                      <a:round/>
                      <a:headEnd type="none" w="med" len="med"/>
                      <a:tailEnd type="none" w="med" len="med"/>
                    </a:lnL>
                    <a:lnR w="6350" cap="flat" cmpd="sng" algn="ctr">
                      <a:solidFill>
                        <a:srgbClr val="D9E0E8"/>
                      </a:solidFill>
                      <a:prstDash val="solid"/>
                      <a:round/>
                      <a:headEnd type="none" w="med" len="med"/>
                      <a:tailEnd type="none" w="med" len="med"/>
                    </a:lnR>
                    <a:lnT w="6350" cap="flat" cmpd="sng" algn="ctr">
                      <a:solidFill>
                        <a:srgbClr val="D9E0E8"/>
                      </a:solidFill>
                      <a:prstDash val="solid"/>
                      <a:round/>
                      <a:headEnd type="none" w="med" len="med"/>
                      <a:tailEnd type="none" w="med" len="med"/>
                    </a:lnT>
                    <a:lnB w="6350" cap="flat" cmpd="sng" algn="ctr">
                      <a:solidFill>
                        <a:srgbClr val="D9E0E8"/>
                      </a:solidFill>
                      <a:prstDash val="solid"/>
                      <a:round/>
                      <a:headEnd type="none" w="med" len="med"/>
                      <a:tailEnd type="none" w="med" len="med"/>
                    </a:lnB>
                    <a:solidFill>
                      <a:schemeClr val="tx2"/>
                    </a:solidFill>
                  </a:tcPr>
                </a:tc>
                <a:tc>
                  <a:txBody>
                    <a:bodyPr/>
                    <a:lstStyle/>
                    <a:p>
                      <a:pPr indent="0" marL="0">
                        <a:buNone/>
                      </a:pPr>
                      <a:r>
                        <a:rPr lang="en-US" sz="1200" b="1" dirty="0">
                          <a:solidFill>
                            <a:schemeClr val="bg1"/>
                          </a:solidFill>
                          <a:latin typeface="+mn-lt" pitchFamily="34" charset="0"/>
                          <a:ea typeface="+mn-lt" pitchFamily="34" charset="-122"/>
                          <a:cs typeface="+mn-lt" pitchFamily="34" charset="-120"/>
                        </a:rPr>
                        <a:t>Mean</a:t>
                      </a:r>
                      <a:endParaRPr lang="en-US" sz="1200" dirty="0">
                        <a:latin typeface="+mn-lt" charset="0"/>
                        <a:ea typeface="+mn-lt" charset="0"/>
                        <a:cs typeface="+mn-lt" charset="0"/>
                      </a:endParaRPr>
                    </a:p>
                  </a:txBody>
                  <a:tcPr marL="45720" marR="45720" marT="45720" marB="45720" anchor="t">
                    <a:lnL w="6350" cap="flat" cmpd="sng" algn="ctr">
                      <a:solidFill>
                        <a:srgbClr val="D9E0E8"/>
                      </a:solidFill>
                      <a:prstDash val="solid"/>
                      <a:round/>
                      <a:headEnd type="none" w="med" len="med"/>
                      <a:tailEnd type="none" w="med" len="med"/>
                    </a:lnL>
                    <a:lnR w="6350" cap="flat" cmpd="sng" algn="ctr">
                      <a:solidFill>
                        <a:srgbClr val="D9E0E8"/>
                      </a:solidFill>
                      <a:prstDash val="solid"/>
                      <a:round/>
                      <a:headEnd type="none" w="med" len="med"/>
                      <a:tailEnd type="none" w="med" len="med"/>
                    </a:lnR>
                    <a:lnT w="6350" cap="flat" cmpd="sng" algn="ctr">
                      <a:solidFill>
                        <a:srgbClr val="D9E0E8"/>
                      </a:solidFill>
                      <a:prstDash val="solid"/>
                      <a:round/>
                      <a:headEnd type="none" w="med" len="med"/>
                      <a:tailEnd type="none" w="med" len="med"/>
                    </a:lnT>
                    <a:lnB w="6350" cap="flat" cmpd="sng" algn="ctr">
                      <a:solidFill>
                        <a:srgbClr val="D9E0E8"/>
                      </a:solidFill>
                      <a:prstDash val="solid"/>
                      <a:round/>
                      <a:headEnd type="none" w="med" len="med"/>
                      <a:tailEnd type="none" w="med" len="med"/>
                    </a:lnB>
                    <a:solidFill>
                      <a:schemeClr val="tx2"/>
                    </a:solidFill>
                  </a:tcPr>
                </a:tc>
                <a:tc>
                  <a:txBody>
                    <a:bodyPr/>
                    <a:lstStyle/>
                    <a:p>
                      <a:pPr indent="0" marL="0">
                        <a:buNone/>
                      </a:pPr>
                      <a:r>
                        <a:rPr lang="en-US" sz="1200" b="1" dirty="0">
                          <a:solidFill>
                            <a:schemeClr val="bg1"/>
                          </a:solidFill>
                          <a:latin typeface="+mn-lt" pitchFamily="34" charset="0"/>
                          <a:ea typeface="+mn-lt" pitchFamily="34" charset="-122"/>
                          <a:cs typeface="+mn-lt" pitchFamily="34" charset="-120"/>
                        </a:rPr>
                        <a:t>SD</a:t>
                      </a:r>
                      <a:endParaRPr lang="en-US" sz="1200" dirty="0">
                        <a:latin typeface="+mn-lt" charset="0"/>
                        <a:ea typeface="+mn-lt" charset="0"/>
                        <a:cs typeface="+mn-lt" charset="0"/>
                      </a:endParaRPr>
                    </a:p>
                  </a:txBody>
                  <a:tcPr marL="45720" marR="45720" marT="45720" marB="45720" anchor="t">
                    <a:lnL w="6350" cap="flat" cmpd="sng" algn="ctr">
                      <a:solidFill>
                        <a:srgbClr val="D9E0E8"/>
                      </a:solidFill>
                      <a:prstDash val="solid"/>
                      <a:round/>
                      <a:headEnd type="none" w="med" len="med"/>
                      <a:tailEnd type="none" w="med" len="med"/>
                    </a:lnL>
                    <a:lnR w="6350" cap="flat" cmpd="sng" algn="ctr">
                      <a:solidFill>
                        <a:srgbClr val="D9E0E8"/>
                      </a:solidFill>
                      <a:prstDash val="solid"/>
                      <a:round/>
                      <a:headEnd type="none" w="med" len="med"/>
                      <a:tailEnd type="none" w="med" len="med"/>
                    </a:lnR>
                    <a:lnT w="6350" cap="flat" cmpd="sng" algn="ctr">
                      <a:solidFill>
                        <a:srgbClr val="D9E0E8"/>
                      </a:solidFill>
                      <a:prstDash val="solid"/>
                      <a:round/>
                      <a:headEnd type="none" w="med" len="med"/>
                      <a:tailEnd type="none" w="med" len="med"/>
                    </a:lnT>
                    <a:lnB w="6350" cap="flat" cmpd="sng" algn="ctr">
                      <a:solidFill>
                        <a:srgbClr val="D9E0E8"/>
                      </a:solidFill>
                      <a:prstDash val="solid"/>
                      <a:round/>
                      <a:headEnd type="none" w="med" len="med"/>
                      <a:tailEnd type="none" w="med" len="med"/>
                    </a:lnB>
                    <a:solidFill>
                      <a:schemeClr val="tx2"/>
                    </a:solidFill>
                  </a:tcPr>
                </a:tc>
                <a:tc>
                  <a:txBody>
                    <a:bodyPr/>
                    <a:lstStyle/>
                    <a:p>
                      <a:pPr indent="0" marL="0">
                        <a:buNone/>
                      </a:pPr>
                      <a:r>
                        <a:rPr lang="en-US" sz="1200" b="1" dirty="0">
                          <a:solidFill>
                            <a:schemeClr val="bg1"/>
                          </a:solidFill>
                          <a:latin typeface="+mn-lt" pitchFamily="34" charset="0"/>
                          <a:ea typeface="+mn-lt" pitchFamily="34" charset="-122"/>
                          <a:cs typeface="+mn-lt" pitchFamily="34" charset="-120"/>
                        </a:rPr>
                        <a:t>Min</a:t>
                      </a:r>
                      <a:endParaRPr lang="en-US" sz="1200" dirty="0">
                        <a:latin typeface="+mn-lt" charset="0"/>
                        <a:ea typeface="+mn-lt" charset="0"/>
                        <a:cs typeface="+mn-lt" charset="0"/>
                      </a:endParaRPr>
                    </a:p>
                  </a:txBody>
                  <a:tcPr marL="45720" marR="45720" marT="45720" marB="45720" anchor="t">
                    <a:lnL w="6350" cap="flat" cmpd="sng" algn="ctr">
                      <a:solidFill>
                        <a:srgbClr val="D9E0E8"/>
                      </a:solidFill>
                      <a:prstDash val="solid"/>
                      <a:round/>
                      <a:headEnd type="none" w="med" len="med"/>
                      <a:tailEnd type="none" w="med" len="med"/>
                    </a:lnL>
                    <a:lnR w="6350" cap="flat" cmpd="sng" algn="ctr">
                      <a:solidFill>
                        <a:srgbClr val="D9E0E8"/>
                      </a:solidFill>
                      <a:prstDash val="solid"/>
                      <a:round/>
                      <a:headEnd type="none" w="med" len="med"/>
                      <a:tailEnd type="none" w="med" len="med"/>
                    </a:lnR>
                    <a:lnT w="6350" cap="flat" cmpd="sng" algn="ctr">
                      <a:solidFill>
                        <a:srgbClr val="D9E0E8"/>
                      </a:solidFill>
                      <a:prstDash val="solid"/>
                      <a:round/>
                      <a:headEnd type="none" w="med" len="med"/>
                      <a:tailEnd type="none" w="med" len="med"/>
                    </a:lnT>
                    <a:lnB w="6350" cap="flat" cmpd="sng" algn="ctr">
                      <a:solidFill>
                        <a:srgbClr val="D9E0E8"/>
                      </a:solidFill>
                      <a:prstDash val="solid"/>
                      <a:round/>
                      <a:headEnd type="none" w="med" len="med"/>
                      <a:tailEnd type="none" w="med" len="med"/>
                    </a:lnB>
                    <a:solidFill>
                      <a:schemeClr val="tx2"/>
                    </a:solidFill>
                  </a:tcPr>
                </a:tc>
                <a:tc>
                  <a:txBody>
                    <a:bodyPr/>
                    <a:lstStyle/>
                    <a:p>
                      <a:pPr indent="0" marL="0">
                        <a:buNone/>
                      </a:pPr>
                      <a:r>
                        <a:rPr lang="en-US" sz="1200" b="1" dirty="0">
                          <a:solidFill>
                            <a:schemeClr val="bg1"/>
                          </a:solidFill>
                          <a:latin typeface="+mn-lt" pitchFamily="34" charset="0"/>
                          <a:ea typeface="+mn-lt" pitchFamily="34" charset="-122"/>
                          <a:cs typeface="+mn-lt" pitchFamily="34" charset="-120"/>
                        </a:rPr>
                        <a:t>Max</a:t>
                      </a:r>
                      <a:endParaRPr lang="en-US" sz="1200" dirty="0">
                        <a:latin typeface="+mn-lt" charset="0"/>
                        <a:ea typeface="+mn-lt" charset="0"/>
                        <a:cs typeface="+mn-lt" charset="0"/>
                      </a:endParaRPr>
                    </a:p>
                  </a:txBody>
                  <a:tcPr marL="45720" marR="45720" marT="45720" marB="45720" anchor="t">
                    <a:lnL w="6350" cap="flat" cmpd="sng" algn="ctr">
                      <a:solidFill>
                        <a:srgbClr val="D9E0E8"/>
                      </a:solidFill>
                      <a:prstDash val="solid"/>
                      <a:round/>
                      <a:headEnd type="none" w="med" len="med"/>
                      <a:tailEnd type="none" w="med" len="med"/>
                    </a:lnL>
                    <a:lnR w="6350" cap="flat" cmpd="sng" algn="ctr">
                      <a:solidFill>
                        <a:srgbClr val="D9E0E8"/>
                      </a:solidFill>
                      <a:prstDash val="solid"/>
                      <a:round/>
                      <a:headEnd type="none" w="med" len="med"/>
                      <a:tailEnd type="none" w="med" len="med"/>
                    </a:lnR>
                    <a:lnT w="6350" cap="flat" cmpd="sng" algn="ctr">
                      <a:solidFill>
                        <a:srgbClr val="D9E0E8"/>
                      </a:solidFill>
                      <a:prstDash val="solid"/>
                      <a:round/>
                      <a:headEnd type="none" w="med" len="med"/>
                      <a:tailEnd type="none" w="med" len="med"/>
                    </a:lnT>
                    <a:lnB w="6350" cap="flat" cmpd="sng" algn="ctr">
                      <a:solidFill>
                        <a:srgbClr val="D9E0E8"/>
                      </a:solidFill>
                      <a:prstDash val="solid"/>
                      <a:round/>
                      <a:headEnd type="none" w="med" len="med"/>
                      <a:tailEnd type="none" w="med" len="med"/>
                    </a:lnB>
                    <a:solidFill>
                      <a:schemeClr val="tx2"/>
                    </a:solidFill>
                  </a:tcPr>
                </a:tc>
              </a:tr>
              <a:tr h="0">
                <a:tc>
                  <a:txBody>
                    <a:bodyPr/>
                    <a:lstStyle/>
                    <a:p>
                      <a:pPr indent="0" marL="0">
                        <a:buNone/>
                      </a:pPr>
                      <a:r>
                        <a:rPr lang="en-US" sz="1200" dirty="0">
                          <a:solidFill>
                            <a:schemeClr val="tx1"/>
                          </a:solidFill>
                          <a:latin typeface="+mn-lt" pitchFamily="34" charset="0"/>
                          <a:ea typeface="+mn-lt" pitchFamily="34" charset="-122"/>
                          <a:cs typeface="+mn-lt" pitchFamily="34" charset="-120"/>
                        </a:rPr>
                        <a:t>U6 cusp</a:t>
                      </a:r>
                      <a:endParaRPr lang="en-US" sz="1200" dirty="0">
                        <a:latin typeface="+mn-lt" charset="0"/>
                        <a:ea typeface="+mn-lt" charset="0"/>
                        <a:cs typeface="+mn-lt" charset="0"/>
                      </a:endParaRPr>
                    </a:p>
                  </a:txBody>
                  <a:tcPr marL="45720" marR="45720" marT="45720" marB="45720" anchor="t">
                    <a:lnL w="6350" cap="flat" cmpd="sng" algn="ctr">
                      <a:solidFill>
                        <a:srgbClr val="D9E0E8"/>
                      </a:solidFill>
                      <a:prstDash val="solid"/>
                      <a:round/>
                      <a:headEnd type="none" w="med" len="med"/>
                      <a:tailEnd type="none" w="med" len="med"/>
                    </a:lnL>
                    <a:lnR w="6350" cap="flat" cmpd="sng" algn="ctr">
                      <a:solidFill>
                        <a:srgbClr val="D9E0E8"/>
                      </a:solidFill>
                      <a:prstDash val="solid"/>
                      <a:round/>
                      <a:headEnd type="none" w="med" len="med"/>
                      <a:tailEnd type="none" w="med" len="med"/>
                    </a:lnR>
                    <a:lnT w="6350" cap="flat" cmpd="sng" algn="ctr">
                      <a:solidFill>
                        <a:srgbClr val="D9E0E8"/>
                      </a:solidFill>
                      <a:prstDash val="solid"/>
                      <a:round/>
                      <a:headEnd type="none" w="med" len="med"/>
                      <a:tailEnd type="none" w="med" len="med"/>
                    </a:lnT>
                    <a:lnB w="6350" cap="flat" cmpd="sng" algn="ctr">
                      <a:solidFill>
                        <a:srgbClr val="D9E0E8"/>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latin typeface="+mn-lt" pitchFamily="34" charset="0"/>
                          <a:ea typeface="+mn-lt" pitchFamily="34" charset="-122"/>
                          <a:cs typeface="+mn-lt" pitchFamily="34" charset="-120"/>
                        </a:rPr>
                        <a:t>+3.02 / −3.40</a:t>
                      </a:r>
                      <a:endParaRPr lang="en-US" sz="1200" dirty="0">
                        <a:latin typeface="+mn-lt" charset="0"/>
                        <a:ea typeface="+mn-lt" charset="0"/>
                        <a:cs typeface="+mn-lt" charset="0"/>
                      </a:endParaRPr>
                    </a:p>
                  </a:txBody>
                  <a:tcPr marL="45720" marR="45720" marT="45720" marB="45720" anchor="t">
                    <a:lnL w="6350" cap="flat" cmpd="sng" algn="ctr">
                      <a:solidFill>
                        <a:srgbClr val="D9E0E8"/>
                      </a:solidFill>
                      <a:prstDash val="solid"/>
                      <a:round/>
                      <a:headEnd type="none" w="med" len="med"/>
                      <a:tailEnd type="none" w="med" len="med"/>
                    </a:lnL>
                    <a:lnR w="6350" cap="flat" cmpd="sng" algn="ctr">
                      <a:solidFill>
                        <a:srgbClr val="D9E0E8"/>
                      </a:solidFill>
                      <a:prstDash val="solid"/>
                      <a:round/>
                      <a:headEnd type="none" w="med" len="med"/>
                      <a:tailEnd type="none" w="med" len="med"/>
                    </a:lnR>
                    <a:lnT w="6350" cap="flat" cmpd="sng" algn="ctr">
                      <a:solidFill>
                        <a:srgbClr val="D9E0E8"/>
                      </a:solidFill>
                      <a:prstDash val="solid"/>
                      <a:round/>
                      <a:headEnd type="none" w="med" len="med"/>
                      <a:tailEnd type="none" w="med" len="med"/>
                    </a:lnT>
                    <a:lnB w="6350" cap="flat" cmpd="sng" algn="ctr">
                      <a:solidFill>
                        <a:srgbClr val="D9E0E8"/>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latin typeface="+mn-lt" pitchFamily="34" charset="0"/>
                          <a:ea typeface="+mn-lt" pitchFamily="34" charset="-122"/>
                          <a:cs typeface="+mn-lt" pitchFamily="34" charset="-120"/>
                        </a:rPr>
                        <a:t>+1.31 / −4.75</a:t>
                      </a:r>
                      <a:endParaRPr lang="en-US" sz="1200" dirty="0">
                        <a:latin typeface="+mn-lt" charset="0"/>
                        <a:ea typeface="+mn-lt" charset="0"/>
                        <a:cs typeface="+mn-lt" charset="0"/>
                      </a:endParaRPr>
                    </a:p>
                  </a:txBody>
                  <a:tcPr marL="45720" marR="45720" marT="45720" marB="45720" anchor="t">
                    <a:lnL w="6350" cap="flat" cmpd="sng" algn="ctr">
                      <a:solidFill>
                        <a:srgbClr val="D9E0E8"/>
                      </a:solidFill>
                      <a:prstDash val="solid"/>
                      <a:round/>
                      <a:headEnd type="none" w="med" len="med"/>
                      <a:tailEnd type="none" w="med" len="med"/>
                    </a:lnL>
                    <a:lnR w="6350" cap="flat" cmpd="sng" algn="ctr">
                      <a:solidFill>
                        <a:srgbClr val="D9E0E8"/>
                      </a:solidFill>
                      <a:prstDash val="solid"/>
                      <a:round/>
                      <a:headEnd type="none" w="med" len="med"/>
                      <a:tailEnd type="none" w="med" len="med"/>
                    </a:lnR>
                    <a:lnT w="6350" cap="flat" cmpd="sng" algn="ctr">
                      <a:solidFill>
                        <a:srgbClr val="D9E0E8"/>
                      </a:solidFill>
                      <a:prstDash val="solid"/>
                      <a:round/>
                      <a:headEnd type="none" w="med" len="med"/>
                      <a:tailEnd type="none" w="med" len="med"/>
                    </a:lnT>
                    <a:lnB w="6350" cap="flat" cmpd="sng" algn="ctr">
                      <a:solidFill>
                        <a:srgbClr val="D9E0E8"/>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latin typeface="+mn-lt" pitchFamily="34" charset="0"/>
                          <a:ea typeface="+mn-lt" pitchFamily="34" charset="-122"/>
                          <a:cs typeface="+mn-lt" pitchFamily="34" charset="-120"/>
                        </a:rPr>
                        <a:t>+2.06 / −4.99</a:t>
                      </a:r>
                      <a:endParaRPr lang="en-US" sz="1200" dirty="0">
                        <a:latin typeface="+mn-lt" charset="0"/>
                        <a:ea typeface="+mn-lt" charset="0"/>
                        <a:cs typeface="+mn-lt" charset="0"/>
                      </a:endParaRPr>
                    </a:p>
                  </a:txBody>
                  <a:tcPr marL="45720" marR="45720" marT="45720" marB="45720" anchor="t">
                    <a:lnL w="6350" cap="flat" cmpd="sng" algn="ctr">
                      <a:solidFill>
                        <a:srgbClr val="D9E0E8"/>
                      </a:solidFill>
                      <a:prstDash val="solid"/>
                      <a:round/>
                      <a:headEnd type="none" w="med" len="med"/>
                      <a:tailEnd type="none" w="med" len="med"/>
                    </a:lnL>
                    <a:lnR w="6350" cap="flat" cmpd="sng" algn="ctr">
                      <a:solidFill>
                        <a:srgbClr val="D9E0E8"/>
                      </a:solidFill>
                      <a:prstDash val="solid"/>
                      <a:round/>
                      <a:headEnd type="none" w="med" len="med"/>
                      <a:tailEnd type="none" w="med" len="med"/>
                    </a:lnR>
                    <a:lnT w="6350" cap="flat" cmpd="sng" algn="ctr">
                      <a:solidFill>
                        <a:srgbClr val="D9E0E8"/>
                      </a:solidFill>
                      <a:prstDash val="solid"/>
                      <a:round/>
                      <a:headEnd type="none" w="med" len="med"/>
                      <a:tailEnd type="none" w="med" len="med"/>
                    </a:lnT>
                    <a:lnB w="6350" cap="flat" cmpd="sng" algn="ctr">
                      <a:solidFill>
                        <a:srgbClr val="D9E0E8"/>
                      </a:solidFill>
                      <a:prstDash val="solid"/>
                      <a:round/>
                      <a:headEnd type="none" w="med" len="med"/>
                      <a:tailEnd type="none" w="med" len="med"/>
                    </a:lnB>
                    <a:solidFill>
                      <a:schemeClr val="bg1"/>
                    </a:solidFill>
                  </a:tcPr>
                </a:tc>
              </a:tr>
              <a:tr h="0">
                <a:tc>
                  <a:txBody>
                    <a:bodyPr/>
                    <a:lstStyle/>
                    <a:p>
                      <a:pPr indent="0" marL="0">
                        <a:buNone/>
                      </a:pPr>
                      <a:r>
                        <a:rPr lang="en-US" sz="1200" dirty="0">
                          <a:solidFill>
                            <a:schemeClr val="tx1"/>
                          </a:solidFill>
                          <a:latin typeface="+mn-lt" pitchFamily="34" charset="0"/>
                          <a:ea typeface="+mn-lt" pitchFamily="34" charset="-122"/>
                          <a:cs typeface="+mn-lt" pitchFamily="34" charset="-120"/>
                        </a:rPr>
                        <a:t>U6 apex</a:t>
                      </a:r>
                      <a:endParaRPr lang="en-US" sz="1200" dirty="0">
                        <a:latin typeface="+mn-lt" charset="0"/>
                        <a:ea typeface="+mn-lt" charset="0"/>
                        <a:cs typeface="+mn-lt" charset="0"/>
                      </a:endParaRPr>
                    </a:p>
                  </a:txBody>
                  <a:tcPr marL="45720" marR="45720" marT="45720" marB="45720" anchor="t">
                    <a:lnL w="6350" cap="flat" cmpd="sng" algn="ctr">
                      <a:solidFill>
                        <a:srgbClr val="D9E0E8"/>
                      </a:solidFill>
                      <a:prstDash val="solid"/>
                      <a:round/>
                      <a:headEnd type="none" w="med" len="med"/>
                      <a:tailEnd type="none" w="med" len="med"/>
                    </a:lnL>
                    <a:lnR w="6350" cap="flat" cmpd="sng" algn="ctr">
                      <a:solidFill>
                        <a:srgbClr val="D9E0E8"/>
                      </a:solidFill>
                      <a:prstDash val="solid"/>
                      <a:round/>
                      <a:headEnd type="none" w="med" len="med"/>
                      <a:tailEnd type="none" w="med" len="med"/>
                    </a:lnR>
                    <a:lnT w="6350" cap="flat" cmpd="sng" algn="ctr">
                      <a:solidFill>
                        <a:srgbClr val="D9E0E8"/>
                      </a:solidFill>
                      <a:prstDash val="solid"/>
                      <a:round/>
                      <a:headEnd type="none" w="med" len="med"/>
                      <a:tailEnd type="none" w="med" len="med"/>
                    </a:lnT>
                    <a:lnB w="6350" cap="flat" cmpd="sng" algn="ctr">
                      <a:solidFill>
                        <a:srgbClr val="D9E0E8"/>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latin typeface="+mn-lt" pitchFamily="34" charset="0"/>
                          <a:ea typeface="+mn-lt" pitchFamily="34" charset="-122"/>
                          <a:cs typeface="+mn-lt" pitchFamily="34" charset="-120"/>
                        </a:rPr>
                        <a:t>+0.92 / −2.33</a:t>
                      </a:r>
                      <a:endParaRPr lang="en-US" sz="1200" dirty="0">
                        <a:latin typeface="+mn-lt" charset="0"/>
                        <a:ea typeface="+mn-lt" charset="0"/>
                        <a:cs typeface="+mn-lt" charset="0"/>
                      </a:endParaRPr>
                    </a:p>
                  </a:txBody>
                  <a:tcPr marL="45720" marR="45720" marT="45720" marB="45720" anchor="t">
                    <a:lnL w="6350" cap="flat" cmpd="sng" algn="ctr">
                      <a:solidFill>
                        <a:srgbClr val="D9E0E8"/>
                      </a:solidFill>
                      <a:prstDash val="solid"/>
                      <a:round/>
                      <a:headEnd type="none" w="med" len="med"/>
                      <a:tailEnd type="none" w="med" len="med"/>
                    </a:lnL>
                    <a:lnR w="6350" cap="flat" cmpd="sng" algn="ctr">
                      <a:solidFill>
                        <a:srgbClr val="D9E0E8"/>
                      </a:solidFill>
                      <a:prstDash val="solid"/>
                      <a:round/>
                      <a:headEnd type="none" w="med" len="med"/>
                      <a:tailEnd type="none" w="med" len="med"/>
                    </a:lnR>
                    <a:lnT w="6350" cap="flat" cmpd="sng" algn="ctr">
                      <a:solidFill>
                        <a:srgbClr val="D9E0E8"/>
                      </a:solidFill>
                      <a:prstDash val="solid"/>
                      <a:round/>
                      <a:headEnd type="none" w="med" len="med"/>
                      <a:tailEnd type="none" w="med" len="med"/>
                    </a:lnT>
                    <a:lnB w="6350" cap="flat" cmpd="sng" algn="ctr">
                      <a:solidFill>
                        <a:srgbClr val="D9E0E8"/>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latin typeface="+mn-lt" pitchFamily="34" charset="0"/>
                          <a:ea typeface="+mn-lt" pitchFamily="34" charset="-122"/>
                          <a:cs typeface="+mn-lt" pitchFamily="34" charset="-120"/>
                        </a:rPr>
                        <a:t>−0.42 / −3.80</a:t>
                      </a:r>
                      <a:endParaRPr lang="en-US" sz="1200" dirty="0">
                        <a:latin typeface="+mn-lt" charset="0"/>
                        <a:ea typeface="+mn-lt" charset="0"/>
                        <a:cs typeface="+mn-lt" charset="0"/>
                      </a:endParaRPr>
                    </a:p>
                  </a:txBody>
                  <a:tcPr marL="45720" marR="45720" marT="45720" marB="45720" anchor="t">
                    <a:lnL w="6350" cap="flat" cmpd="sng" algn="ctr">
                      <a:solidFill>
                        <a:srgbClr val="D9E0E8"/>
                      </a:solidFill>
                      <a:prstDash val="solid"/>
                      <a:round/>
                      <a:headEnd type="none" w="med" len="med"/>
                      <a:tailEnd type="none" w="med" len="med"/>
                    </a:lnL>
                    <a:lnR w="6350" cap="flat" cmpd="sng" algn="ctr">
                      <a:solidFill>
                        <a:srgbClr val="D9E0E8"/>
                      </a:solidFill>
                      <a:prstDash val="solid"/>
                      <a:round/>
                      <a:headEnd type="none" w="med" len="med"/>
                      <a:tailEnd type="none" w="med" len="med"/>
                    </a:lnR>
                    <a:lnT w="6350" cap="flat" cmpd="sng" algn="ctr">
                      <a:solidFill>
                        <a:srgbClr val="D9E0E8"/>
                      </a:solidFill>
                      <a:prstDash val="solid"/>
                      <a:round/>
                      <a:headEnd type="none" w="med" len="med"/>
                      <a:tailEnd type="none" w="med" len="med"/>
                    </a:lnT>
                    <a:lnB w="6350" cap="flat" cmpd="sng" algn="ctr">
                      <a:solidFill>
                        <a:srgbClr val="D9E0E8"/>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latin typeface="+mn-lt" pitchFamily="34" charset="0"/>
                          <a:ea typeface="+mn-lt" pitchFamily="34" charset="-122"/>
                          <a:cs typeface="+mn-lt" pitchFamily="34" charset="-120"/>
                        </a:rPr>
                        <a:t>+0.22 / −4.02</a:t>
                      </a:r>
                      <a:endParaRPr lang="en-US" sz="1200" dirty="0">
                        <a:latin typeface="+mn-lt" charset="0"/>
                        <a:ea typeface="+mn-lt" charset="0"/>
                        <a:cs typeface="+mn-lt" charset="0"/>
                      </a:endParaRPr>
                    </a:p>
                  </a:txBody>
                  <a:tcPr marL="45720" marR="45720" marT="45720" marB="45720" anchor="t">
                    <a:lnL w="6350" cap="flat" cmpd="sng" algn="ctr">
                      <a:solidFill>
                        <a:srgbClr val="D9E0E8"/>
                      </a:solidFill>
                      <a:prstDash val="solid"/>
                      <a:round/>
                      <a:headEnd type="none" w="med" len="med"/>
                      <a:tailEnd type="none" w="med" len="med"/>
                    </a:lnL>
                    <a:lnR w="6350" cap="flat" cmpd="sng" algn="ctr">
                      <a:solidFill>
                        <a:srgbClr val="D9E0E8"/>
                      </a:solidFill>
                      <a:prstDash val="solid"/>
                      <a:round/>
                      <a:headEnd type="none" w="med" len="med"/>
                      <a:tailEnd type="none" w="med" len="med"/>
                    </a:lnR>
                    <a:lnT w="6350" cap="flat" cmpd="sng" algn="ctr">
                      <a:solidFill>
                        <a:srgbClr val="D9E0E8"/>
                      </a:solidFill>
                      <a:prstDash val="solid"/>
                      <a:round/>
                      <a:headEnd type="none" w="med" len="med"/>
                      <a:tailEnd type="none" w="med" len="med"/>
                    </a:lnT>
                    <a:lnB w="6350" cap="flat" cmpd="sng" algn="ctr">
                      <a:solidFill>
                        <a:srgbClr val="D9E0E8"/>
                      </a:solidFill>
                      <a:prstDash val="solid"/>
                      <a:round/>
                      <a:headEnd type="none" w="med" len="med"/>
                      <a:tailEnd type="none" w="med" len="med"/>
                    </a:lnB>
                    <a:solidFill>
                      <a:schemeClr val="bg2"/>
                    </a:solidFill>
                  </a:tcPr>
                </a:tc>
              </a:tr>
              <a:tr h="0">
                <a:tc>
                  <a:txBody>
                    <a:bodyPr/>
                    <a:lstStyle/>
                    <a:p>
                      <a:pPr indent="0" marL="0">
                        <a:buNone/>
                      </a:pPr>
                      <a:r>
                        <a:rPr lang="en-US" sz="1200" dirty="0">
                          <a:solidFill>
                            <a:schemeClr val="tx1"/>
                          </a:solidFill>
                          <a:latin typeface="+mn-lt" pitchFamily="34" charset="0"/>
                          <a:ea typeface="+mn-lt" pitchFamily="34" charset="-122"/>
                          <a:cs typeface="+mn-lt" pitchFamily="34" charset="-120"/>
                        </a:rPr>
                        <a:t>UI edge</a:t>
                      </a:r>
                      <a:endParaRPr lang="en-US" sz="1200" dirty="0">
                        <a:latin typeface="+mn-lt" charset="0"/>
                        <a:ea typeface="+mn-lt" charset="0"/>
                        <a:cs typeface="+mn-lt" charset="0"/>
                      </a:endParaRPr>
                    </a:p>
                  </a:txBody>
                  <a:tcPr marL="45720" marR="45720" marT="45720" marB="45720" anchor="t">
                    <a:lnL w="6350" cap="flat" cmpd="sng" algn="ctr">
                      <a:solidFill>
                        <a:srgbClr val="D9E0E8"/>
                      </a:solidFill>
                      <a:prstDash val="solid"/>
                      <a:round/>
                      <a:headEnd type="none" w="med" len="med"/>
                      <a:tailEnd type="none" w="med" len="med"/>
                    </a:lnL>
                    <a:lnR w="6350" cap="flat" cmpd="sng" algn="ctr">
                      <a:solidFill>
                        <a:srgbClr val="D9E0E8"/>
                      </a:solidFill>
                      <a:prstDash val="solid"/>
                      <a:round/>
                      <a:headEnd type="none" w="med" len="med"/>
                      <a:tailEnd type="none" w="med" len="med"/>
                    </a:lnR>
                    <a:lnT w="6350" cap="flat" cmpd="sng" algn="ctr">
                      <a:solidFill>
                        <a:srgbClr val="D9E0E8"/>
                      </a:solidFill>
                      <a:prstDash val="solid"/>
                      <a:round/>
                      <a:headEnd type="none" w="med" len="med"/>
                      <a:tailEnd type="none" w="med" len="med"/>
                    </a:lnT>
                    <a:lnB w="6350" cap="flat" cmpd="sng" algn="ctr">
                      <a:solidFill>
                        <a:srgbClr val="D9E0E8"/>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latin typeface="+mn-lt" pitchFamily="34" charset="0"/>
                          <a:ea typeface="+mn-lt" pitchFamily="34" charset="-122"/>
                          <a:cs typeface="+mn-lt" pitchFamily="34" charset="-120"/>
                        </a:rPr>
                        <a:t>+1.22 / −1.40</a:t>
                      </a:r>
                      <a:endParaRPr lang="en-US" sz="1200" dirty="0">
                        <a:latin typeface="+mn-lt" charset="0"/>
                        <a:ea typeface="+mn-lt" charset="0"/>
                        <a:cs typeface="+mn-lt" charset="0"/>
                      </a:endParaRPr>
                    </a:p>
                  </a:txBody>
                  <a:tcPr marL="45720" marR="45720" marT="45720" marB="45720" anchor="t">
                    <a:lnL w="6350" cap="flat" cmpd="sng" algn="ctr">
                      <a:solidFill>
                        <a:srgbClr val="D9E0E8"/>
                      </a:solidFill>
                      <a:prstDash val="solid"/>
                      <a:round/>
                      <a:headEnd type="none" w="med" len="med"/>
                      <a:tailEnd type="none" w="med" len="med"/>
                    </a:lnL>
                    <a:lnR w="6350" cap="flat" cmpd="sng" algn="ctr">
                      <a:solidFill>
                        <a:srgbClr val="D9E0E8"/>
                      </a:solidFill>
                      <a:prstDash val="solid"/>
                      <a:round/>
                      <a:headEnd type="none" w="med" len="med"/>
                      <a:tailEnd type="none" w="med" len="med"/>
                    </a:lnR>
                    <a:lnT w="6350" cap="flat" cmpd="sng" algn="ctr">
                      <a:solidFill>
                        <a:srgbClr val="D9E0E8"/>
                      </a:solidFill>
                      <a:prstDash val="solid"/>
                      <a:round/>
                      <a:headEnd type="none" w="med" len="med"/>
                      <a:tailEnd type="none" w="med" len="med"/>
                    </a:lnT>
                    <a:lnB w="6350" cap="flat" cmpd="sng" algn="ctr">
                      <a:solidFill>
                        <a:srgbClr val="D9E0E8"/>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latin typeface="+mn-lt" pitchFamily="34" charset="0"/>
                          <a:ea typeface="+mn-lt" pitchFamily="34" charset="-122"/>
                          <a:cs typeface="+mn-lt" pitchFamily="34" charset="-120"/>
                        </a:rPr>
                        <a:t>−0.46 / −3.39</a:t>
                      </a:r>
                      <a:endParaRPr lang="en-US" sz="1200" dirty="0">
                        <a:latin typeface="+mn-lt" charset="0"/>
                        <a:ea typeface="+mn-lt" charset="0"/>
                        <a:cs typeface="+mn-lt" charset="0"/>
                      </a:endParaRPr>
                    </a:p>
                  </a:txBody>
                  <a:tcPr marL="45720" marR="45720" marT="45720" marB="45720" anchor="t">
                    <a:lnL w="6350" cap="flat" cmpd="sng" algn="ctr">
                      <a:solidFill>
                        <a:srgbClr val="D9E0E8"/>
                      </a:solidFill>
                      <a:prstDash val="solid"/>
                      <a:round/>
                      <a:headEnd type="none" w="med" len="med"/>
                      <a:tailEnd type="none" w="med" len="med"/>
                    </a:lnL>
                    <a:lnR w="6350" cap="flat" cmpd="sng" algn="ctr">
                      <a:solidFill>
                        <a:srgbClr val="D9E0E8"/>
                      </a:solidFill>
                      <a:prstDash val="solid"/>
                      <a:round/>
                      <a:headEnd type="none" w="med" len="med"/>
                      <a:tailEnd type="none" w="med" len="med"/>
                    </a:lnR>
                    <a:lnT w="6350" cap="flat" cmpd="sng" algn="ctr">
                      <a:solidFill>
                        <a:srgbClr val="D9E0E8"/>
                      </a:solidFill>
                      <a:prstDash val="solid"/>
                      <a:round/>
                      <a:headEnd type="none" w="med" len="med"/>
                      <a:tailEnd type="none" w="med" len="med"/>
                    </a:lnT>
                    <a:lnB w="6350" cap="flat" cmpd="sng" algn="ctr">
                      <a:solidFill>
                        <a:srgbClr val="D9E0E8"/>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latin typeface="+mn-lt" pitchFamily="34" charset="0"/>
                          <a:ea typeface="+mn-lt" pitchFamily="34" charset="-122"/>
                          <a:cs typeface="+mn-lt" pitchFamily="34" charset="-120"/>
                        </a:rPr>
                        <a:t>+0.15 / −3.39</a:t>
                      </a:r>
                      <a:endParaRPr lang="en-US" sz="1200" dirty="0">
                        <a:latin typeface="+mn-lt" charset="0"/>
                        <a:ea typeface="+mn-lt" charset="0"/>
                        <a:cs typeface="+mn-lt" charset="0"/>
                      </a:endParaRPr>
                    </a:p>
                  </a:txBody>
                  <a:tcPr marL="45720" marR="45720" marT="45720" marB="45720" anchor="t">
                    <a:lnL w="6350" cap="flat" cmpd="sng" algn="ctr">
                      <a:solidFill>
                        <a:srgbClr val="D9E0E8"/>
                      </a:solidFill>
                      <a:prstDash val="solid"/>
                      <a:round/>
                      <a:headEnd type="none" w="med" len="med"/>
                      <a:tailEnd type="none" w="med" len="med"/>
                    </a:lnL>
                    <a:lnR w="6350" cap="flat" cmpd="sng" algn="ctr">
                      <a:solidFill>
                        <a:srgbClr val="D9E0E8"/>
                      </a:solidFill>
                      <a:prstDash val="solid"/>
                      <a:round/>
                      <a:headEnd type="none" w="med" len="med"/>
                      <a:tailEnd type="none" w="med" len="med"/>
                    </a:lnR>
                    <a:lnT w="6350" cap="flat" cmpd="sng" algn="ctr">
                      <a:solidFill>
                        <a:srgbClr val="D9E0E8"/>
                      </a:solidFill>
                      <a:prstDash val="solid"/>
                      <a:round/>
                      <a:headEnd type="none" w="med" len="med"/>
                      <a:tailEnd type="none" w="med" len="med"/>
                    </a:lnT>
                    <a:lnB w="6350" cap="flat" cmpd="sng" algn="ctr">
                      <a:solidFill>
                        <a:srgbClr val="D9E0E8"/>
                      </a:solidFill>
                      <a:prstDash val="solid"/>
                      <a:round/>
                      <a:headEnd type="none" w="med" len="med"/>
                      <a:tailEnd type="none" w="med" len="med"/>
                    </a:lnB>
                    <a:solidFill>
                      <a:schemeClr val="bg1"/>
                    </a:solidFill>
                  </a:tcPr>
                </a:tc>
              </a:tr>
              <a:tr h="0">
                <a:tc>
                  <a:txBody>
                    <a:bodyPr/>
                    <a:lstStyle/>
                    <a:p>
                      <a:pPr indent="0" marL="0">
                        <a:buNone/>
                      </a:pPr>
                      <a:r>
                        <a:rPr lang="en-US" sz="1200" dirty="0">
                          <a:solidFill>
                            <a:schemeClr val="tx1"/>
                          </a:solidFill>
                          <a:latin typeface="+mn-lt" pitchFamily="34" charset="0"/>
                          <a:ea typeface="+mn-lt" pitchFamily="34" charset="-122"/>
                          <a:cs typeface="+mn-lt" pitchFamily="34" charset="-120"/>
                        </a:rPr>
                        <a:t>UI apex</a:t>
                      </a:r>
                      <a:endParaRPr lang="en-US" sz="1200" dirty="0">
                        <a:latin typeface="+mn-lt" charset="0"/>
                        <a:ea typeface="+mn-lt" charset="0"/>
                        <a:cs typeface="+mn-lt" charset="0"/>
                      </a:endParaRPr>
                    </a:p>
                  </a:txBody>
                  <a:tcPr marL="45720" marR="45720" marT="45720" marB="45720" anchor="t">
                    <a:lnL w="6350" cap="flat" cmpd="sng" algn="ctr">
                      <a:solidFill>
                        <a:srgbClr val="D9E0E8"/>
                      </a:solidFill>
                      <a:prstDash val="solid"/>
                      <a:round/>
                      <a:headEnd type="none" w="med" len="med"/>
                      <a:tailEnd type="none" w="med" len="med"/>
                    </a:lnL>
                    <a:lnR w="6350" cap="flat" cmpd="sng" algn="ctr">
                      <a:solidFill>
                        <a:srgbClr val="D9E0E8"/>
                      </a:solidFill>
                      <a:prstDash val="solid"/>
                      <a:round/>
                      <a:headEnd type="none" w="med" len="med"/>
                      <a:tailEnd type="none" w="med" len="med"/>
                    </a:lnR>
                    <a:lnT w="6350" cap="flat" cmpd="sng" algn="ctr">
                      <a:solidFill>
                        <a:srgbClr val="D9E0E8"/>
                      </a:solidFill>
                      <a:prstDash val="solid"/>
                      <a:round/>
                      <a:headEnd type="none" w="med" len="med"/>
                      <a:tailEnd type="none" w="med" len="med"/>
                    </a:lnT>
                    <a:lnB w="6350" cap="flat" cmpd="sng" algn="ctr">
                      <a:solidFill>
                        <a:srgbClr val="D9E0E8"/>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latin typeface="+mn-lt" pitchFamily="34" charset="0"/>
                          <a:ea typeface="+mn-lt" pitchFamily="34" charset="-122"/>
                          <a:cs typeface="+mn-lt" pitchFamily="34" charset="-120"/>
                        </a:rPr>
                        <a:t>−0.08 / −2.60</a:t>
                      </a:r>
                      <a:endParaRPr lang="en-US" sz="1200" dirty="0">
                        <a:latin typeface="+mn-lt" charset="0"/>
                        <a:ea typeface="+mn-lt" charset="0"/>
                        <a:cs typeface="+mn-lt" charset="0"/>
                      </a:endParaRPr>
                    </a:p>
                  </a:txBody>
                  <a:tcPr marL="45720" marR="45720" marT="45720" marB="45720" anchor="t">
                    <a:lnL w="6350" cap="flat" cmpd="sng" algn="ctr">
                      <a:solidFill>
                        <a:srgbClr val="D9E0E8"/>
                      </a:solidFill>
                      <a:prstDash val="solid"/>
                      <a:round/>
                      <a:headEnd type="none" w="med" len="med"/>
                      <a:tailEnd type="none" w="med" len="med"/>
                    </a:lnL>
                    <a:lnR w="6350" cap="flat" cmpd="sng" algn="ctr">
                      <a:solidFill>
                        <a:srgbClr val="D9E0E8"/>
                      </a:solidFill>
                      <a:prstDash val="solid"/>
                      <a:round/>
                      <a:headEnd type="none" w="med" len="med"/>
                      <a:tailEnd type="none" w="med" len="med"/>
                    </a:lnR>
                    <a:lnT w="6350" cap="flat" cmpd="sng" algn="ctr">
                      <a:solidFill>
                        <a:srgbClr val="D9E0E8"/>
                      </a:solidFill>
                      <a:prstDash val="solid"/>
                      <a:round/>
                      <a:headEnd type="none" w="med" len="med"/>
                      <a:tailEnd type="none" w="med" len="med"/>
                    </a:lnT>
                    <a:lnB w="6350" cap="flat" cmpd="sng" algn="ctr">
                      <a:solidFill>
                        <a:srgbClr val="D9E0E8"/>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latin typeface="+mn-lt" pitchFamily="34" charset="0"/>
                          <a:ea typeface="+mn-lt" pitchFamily="34" charset="-122"/>
                          <a:cs typeface="+mn-lt" pitchFamily="34" charset="-120"/>
                        </a:rPr>
                        <a:t>−1.17 / −4.36</a:t>
                      </a:r>
                      <a:endParaRPr lang="en-US" sz="1200" dirty="0">
                        <a:latin typeface="+mn-lt" charset="0"/>
                        <a:ea typeface="+mn-lt" charset="0"/>
                        <a:cs typeface="+mn-lt" charset="0"/>
                      </a:endParaRPr>
                    </a:p>
                  </a:txBody>
                  <a:tcPr marL="45720" marR="45720" marT="45720" marB="45720" anchor="t">
                    <a:lnL w="6350" cap="flat" cmpd="sng" algn="ctr">
                      <a:solidFill>
                        <a:srgbClr val="D9E0E8"/>
                      </a:solidFill>
                      <a:prstDash val="solid"/>
                      <a:round/>
                      <a:headEnd type="none" w="med" len="med"/>
                      <a:tailEnd type="none" w="med" len="med"/>
                    </a:lnL>
                    <a:lnR w="6350" cap="flat" cmpd="sng" algn="ctr">
                      <a:solidFill>
                        <a:srgbClr val="D9E0E8"/>
                      </a:solidFill>
                      <a:prstDash val="solid"/>
                      <a:round/>
                      <a:headEnd type="none" w="med" len="med"/>
                      <a:tailEnd type="none" w="med" len="med"/>
                    </a:lnR>
                    <a:lnT w="6350" cap="flat" cmpd="sng" algn="ctr">
                      <a:solidFill>
                        <a:srgbClr val="D9E0E8"/>
                      </a:solidFill>
                      <a:prstDash val="solid"/>
                      <a:round/>
                      <a:headEnd type="none" w="med" len="med"/>
                      <a:tailEnd type="none" w="med" len="med"/>
                    </a:lnT>
                    <a:lnB w="6350" cap="flat" cmpd="sng" algn="ctr">
                      <a:solidFill>
                        <a:srgbClr val="D9E0E8"/>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latin typeface="+mn-lt" pitchFamily="34" charset="0"/>
                          <a:ea typeface="+mn-lt" pitchFamily="34" charset="-122"/>
                          <a:cs typeface="+mn-lt" pitchFamily="34" charset="-120"/>
                        </a:rPr>
                        <a:t>−0.86 / −4.48</a:t>
                      </a:r>
                      <a:endParaRPr lang="en-US" sz="1200" dirty="0">
                        <a:latin typeface="+mn-lt" charset="0"/>
                        <a:ea typeface="+mn-lt" charset="0"/>
                        <a:cs typeface="+mn-lt" charset="0"/>
                      </a:endParaRPr>
                    </a:p>
                  </a:txBody>
                  <a:tcPr marL="45720" marR="45720" marT="45720" marB="45720" anchor="t">
                    <a:lnL w="6350" cap="flat" cmpd="sng" algn="ctr">
                      <a:solidFill>
                        <a:srgbClr val="D9E0E8"/>
                      </a:solidFill>
                      <a:prstDash val="solid"/>
                      <a:round/>
                      <a:headEnd type="none" w="med" len="med"/>
                      <a:tailEnd type="none" w="med" len="med"/>
                    </a:lnL>
                    <a:lnR w="6350" cap="flat" cmpd="sng" algn="ctr">
                      <a:solidFill>
                        <a:srgbClr val="D9E0E8"/>
                      </a:solidFill>
                      <a:prstDash val="solid"/>
                      <a:round/>
                      <a:headEnd type="none" w="med" len="med"/>
                      <a:tailEnd type="none" w="med" len="med"/>
                    </a:lnR>
                    <a:lnT w="6350" cap="flat" cmpd="sng" algn="ctr">
                      <a:solidFill>
                        <a:srgbClr val="D9E0E8"/>
                      </a:solidFill>
                      <a:prstDash val="solid"/>
                      <a:round/>
                      <a:headEnd type="none" w="med" len="med"/>
                      <a:tailEnd type="none" w="med" len="med"/>
                    </a:lnT>
                    <a:lnB w="6350" cap="flat" cmpd="sng" algn="ctr">
                      <a:solidFill>
                        <a:srgbClr val="D9E0E8"/>
                      </a:solidFill>
                      <a:prstDash val="solid"/>
                      <a:round/>
                      <a:headEnd type="none" w="med" len="med"/>
                      <a:tailEnd type="none" w="med" len="med"/>
                    </a:lnB>
                    <a:solidFill>
                      <a:schemeClr val="bg2"/>
                    </a:solidFill>
                  </a:tcPr>
                </a:tc>
              </a:tr>
            </a:tbl>
          </a:graphicData>
        </a:graphic>
      </p:graphicFrame>
      <p:sp>
        <p:nvSpPr>
          <p:cNvPr id="4" name="table-note"/>
          <p:cNvSpPr txBox="1"/>
          <p:nvPr/>
        </p:nvSpPr>
        <p:spPr>
          <a:xfrm>
            <a:off x="457200" y="3246120"/>
            <a:ext cx="8229600" cy="548640"/>
          </a:xfrm>
          <a:prstGeom prst="rect">
            <a:avLst/>
          </a:prstGeom>
          <a:noFill/>
          <a:ln/>
        </p:spPr>
        <p:txBody>
          <a:bodyPr wrap="square" lIns="0" tIns="0" rIns="0" bIns="0" rtlCol="0" anchor="t"/>
          <a:lstStyle/>
          <a:p>
            <a:pPr marL="177800" indent="-177800">
              <a:spcAft>
                <a:spcPts val="600"/>
              </a:spcAft>
              <a:buSzPct val="100000"/>
              <a:buChar char="•"/>
            </a:pPr>
            <a:r>
              <a:rPr lang="en-US" sz="1100" dirty="0">
                <a:solidFill>
                  <a:srgbClr val="000000"/>
                </a:solidFill>
              </a:rPr>
              <a:t>Doppel Table II, maximum deviation after implant superimposition, mm:</a:t>
            </a:r>
            <a:endParaRPr lang="en-US" sz="1100" dirty="0"/>
          </a:p>
          <a:p>
            <a:pPr marL="177800" indent="-177800">
              <a:spcAft>
                <a:spcPts val="600"/>
              </a:spcAft>
              <a:buSzPct val="100000"/>
              <a:buChar char="•"/>
            </a:pPr>
            <a:r>
              <a:rPr lang="en-US" sz="1100" dirty="0">
                <a:solidFill>
                  <a:srgbClr val="000000"/>
                </a:solidFill>
              </a:rPr>
              <a:t>Doppel Table III: palatal plane T1–T2 +0.92° ± 2.10° (printed Minimum 8°, Maximum −5°, swapped); SN line −0.56° ± 2.19° (printed 9°, −6°). Positive = downward and backward (Results text).</a:t>
            </a:r>
            <a:endParaRPr lang="en-US" sz="1100" dirty="0"/>
          </a:p>
        </p:txBody>
      </p:sp>
      <p:sp>
        <p:nvSpPr>
          <p:cNvPr id="25" name="Slide Number Placeholder 0"/>
          <p:cNvSpPr>
            <a:spLocks noGrp="1"/>
          </p:cNvSpPr>
          <p:nvPr>
            <p:ph type="sldNum" sz="quarter" idx="4294967295"/>
          </p:nvPr>
        </p:nvSpPr>
        <p:spPr>
          <a:xfrm>
            <a:off x="8321040" y="4754880"/>
            <a:ext cx="36576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l"/>
            <a:fld id="{F7021451-1387-4CA6-816F-3879F97B5CBC}" type="slidenum">
              <a:rPr b="0" lang="en-US"/>
              <a:t>21</a:t>
            </a:fld>
            <a:endParaRPr lang="en-US"/>
          </a:p>
        </p:txBody>
      </p:sp>
    </p:spTree>
  </p:cSld>
  <p:clrMapOvr>
    <a:masterClrMapping/>
  </p:clrMapOvr>
</p:sld>
</file>

<file path=ppt/theme/theme1.xml><?xml version="1.0" encoding="utf-8"?>
<a:theme xmlns:a="http://schemas.openxmlformats.org/drawingml/2006/main" name="Ortho Study Hub">
  <a:themeElements>
    <a:clrScheme name="Ortho Study Hub">
      <a:dk1>
        <a:srgbClr val="111827"/>
      </a:dk1>
      <a:lt1>
        <a:srgbClr val="FFFFFF"/>
      </a:lt1>
      <a:dk2>
        <a:srgbClr val="14324F"/>
      </a:dk2>
      <a:lt2>
        <a:srgbClr val="EEF3F7"/>
      </a:lt2>
      <a:accent1>
        <a:srgbClr val="0F8F7A"/>
      </a:accent1>
      <a:accent2>
        <a:srgbClr val="B7791F"/>
      </a:accent2>
      <a:accent3>
        <a:srgbClr val="6D4FD1"/>
      </a:accent3>
      <a:accent4>
        <a:srgbClr val="D23F3F"/>
      </a:accent4>
      <a:accent5>
        <a:srgbClr val="1F7FC2"/>
      </a:accent5>
      <a:accent6>
        <a:srgbClr val="6B7A8A"/>
      </a:accent6>
      <a:hlink>
        <a:srgbClr val="1F7FC2"/>
      </a:hlink>
      <a:folHlink>
        <a:srgbClr val="6D4FD1"/>
      </a:folHlink>
    </a:clrScheme>
    <a:fontScheme name="Ortho Study Hub">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21</Slides>
  <Notes>21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21</vt:i4>
      </vt:variant>
    </vt:vector>
  </HeadingPairs>
  <TitlesOfParts>
    <vt:vector size="2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Topic 1 · Superimposition methods</dc:title>
  <dc:subject>PptxGenJS Presentation</dc:subject>
  <dc:creator>Ortho Study Hub</dc:creator>
  <cp:lastModifiedBy>Ortho Study Hub</cp:lastModifiedBy>
  <cp:revision>1</cp:revision>
  <dcterms:created xsi:type="dcterms:W3CDTF">2026-10-21T19:59:10Z</dcterms:created>
  <dcterms:modified xsi:type="dcterms:W3CDTF">2026-10-21T19:59:10Z</dcterms:modified>
</cp:coreProperties>
</file>